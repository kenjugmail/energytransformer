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25 seconds</a:t>
            </a:r>
          </a:p>
          <a:p/>
          <a:p>
            <a:r>
              <a:t>CUE: One question: can refinement improve useful memory?</a:t>
            </a:r>
          </a:p>
          <a:p/>
          <a:p>
            <a:r>
              <a:t>My project is REWT, the Recurrent Energy Wave Transformer. I am studying whether learned energy refinement can improve answers retrieved from compact memory. I have implemented several versions, so I will separate the original energy-based proposal, a small streaming comparison, and the latest conversion of a pretrained model. The results include both useful progress and clear failures.</a:t>
            </a:r>
          </a:p>
          <a:p/>
          <a:p>
            <a:r>
              <a:t>TRANSITION: First, here is a memory problem we can check directly.</a:t>
            </a:r>
          </a:p>
          <a:p/>
          <a:p>
            <a:r>
              <a:t>KEEP PRECISE: Do not describe the entire 1.784B model as energy minimization.</a:t>
            </a:r>
          </a:p>
          <a:p/>
          <a:p>
            <a:r>
              <a:t>Evidence: README.md; course_project/PROPOSAL.md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45 seconds</a:t>
            </a:r>
          </a:p>
          <a:p/>
          <a:p>
            <a:r>
              <a:t>CUE: K is the useful fact; X entries are irrelevant activity.</a:t>
            </a:r>
          </a:p>
          <a:p/>
          <a:p>
            <a:r>
              <a:t>Imagine an assistant reading a continuing stream. It sees K equals eight, then many unrelated X entries, and eventually gets asked for K. A compact memory should retain the useful fact without storing every earlier token. In the saved 64-distractor example, both hybrids answer eight; the full and window Transformers answer two and nine. That is only one recorded example. At 128 distractors the energy hybrid also fails. The aggregate comparison comes later. This is a diagnostic for learned memory, not a task that requires an LLM: a dictionary would solve this grammar exactly.</a:t>
            </a:r>
          </a:p>
          <a:p/>
          <a:p>
            <a:r>
              <a:t>TRANSITION: The research question is whether an energy score can improve the model’s internal candidate.</a:t>
            </a:r>
          </a:p>
          <a:p/>
          <a:p>
            <a:r>
              <a:t>KEEP PRECISE: The displayed stream is abbreviated. The recorded examples are previously tested cases, not fresh benchmark evidence.</a:t>
            </a:r>
          </a:p>
          <a:p/>
          <a:p>
            <a:r>
              <a:t>Evidence: course_project/presentation_20261028/streaming_showcase/demo/transcript.txt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45 seconds</a:t>
            </a:r>
          </a:p>
          <a:p/>
          <a:p>
            <a:r>
              <a:t>CUE: A learned landscape, not physical energy or truth.</a:t>
            </a:r>
          </a:p>
          <a:p/>
          <a:p>
            <a:r>
              <a:t>Energy here is a scalar score. Picture the model’s candidate state as a point on this landscape. The gradient gives a direction that lowers the score, and a controlled step size keeps the update stable. The landscape itself is learned during training. That is why a lower valley can still correspond to a wrong answer. The drawing is illustrative and one-dimensional; the actual state has many coordinates. The cosine waves add learned nonlinear preferences around an anchored proposal. This is not sound, a quantum effect, or a claim that the system finds a global minimum.</a:t>
            </a:r>
          </a:p>
          <a:p/>
          <a:p>
            <a:r>
              <a:t>TRANSITION: There are two architectural versions to keep distinct.</a:t>
            </a:r>
          </a:p>
          <a:p/>
          <a:p>
            <a:r>
              <a:t>KEEP PRECISE: Lower internal energy does not establish correctness, reasoning, or a global optimum.</a:t>
            </a:r>
          </a:p>
          <a:p/>
          <a:p>
            <a:r>
              <a:t>Evidence: rewt/streaming.py: LatentEnergy; energy_landscape.png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50 seconds</a:t>
            </a:r>
          </a:p>
          <a:p/>
          <a:p>
            <a:r>
              <a:t>CUE: Original: coupled workspace. Current scale-up: backbone plus head.</a:t>
            </a:r>
          </a:p>
          <a:p/>
          <a:p>
            <a:r>
              <a:t>The original proposal puts recurrent, attention, feedforward and output states into one joint workspace. A scalar energy couples those blocks, with a stabilizing quadratic and learned cosine terms. That implementation remains in the repository. The newer streaming models take a more practical route: conventional memory, attention and feedforward computation propose a hidden state, then a final energy head refines it. The large converted model follows that second design. I am not claiming that its full forward pass is joint energy minimization. It gives me a scalable backbone on which to test whether the refinement earns its cost.</a:t>
            </a:r>
          </a:p>
          <a:p/>
          <a:p>
            <a:r>
              <a:t>TRANSITION: In either version, training the weights and refining a state are different operations.</a:t>
            </a:r>
          </a:p>
          <a:p/>
          <a:p>
            <a:r>
              <a:t>KEEP PRECISE: Do not transfer the original joint-state descent claim to the whole streaming backbone.</a:t>
            </a:r>
          </a:p>
          <a:p/>
          <a:p>
            <a:r>
              <a:t>Evidence: rewt/model.py; rewt/streaming.py; rewt/lfm_conversion.py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45 seconds</a:t>
            </a:r>
          </a:p>
          <a:p/>
          <a:p>
            <a:r>
              <a:t>CUE: Training changes weights. Inference changes the candidate state.</a:t>
            </a:r>
          </a:p>
          <a:p/>
          <a:p>
            <a:r>
              <a:t>During training, examples change the parameters that define the proposals and energy landscape. The small models use supervised next-token losses. The conversion also uses distillation: it matches the pretrained donor’s token distribution while adapting the new operators. Gradients can pass through the refinement steps during training. At inference, the learned weights stay fixed. Only the candidate hidden state is updated using the gradient of energy with respect to that state. The streaming models normally use two refinement rounds. The loop is therefore additional inference computation, not learning new model weights from the user’s prompt.</a:t>
            </a:r>
          </a:p>
          <a:p/>
          <a:p>
            <a:r>
              <a:t>TRANSITION: That distinction also tells us what to measure.</a:t>
            </a:r>
          </a:p>
          <a:p/>
          <a:p>
            <a:r>
              <a:t>KEEP PRECISE: Recovered model weights changed during offline training; fixed-weight inference is a separate claim.</a:t>
            </a:r>
          </a:p>
          <a:p/>
          <a:p>
            <a:r>
              <a:t>Evidence: rewt/lfm_distill.py; scripts/recover_lfm3_capabilities.py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40 seconds</a:t>
            </a:r>
          </a:p>
          <a:p/>
          <a:p>
            <a:r>
              <a:t>CUE: Three columns: score, answer, cost.</a:t>
            </a:r>
          </a:p>
          <a:p/>
          <a:p>
            <a:r>
              <a:t>I separate three questions. First, is the numerical implementation correct? That includes gradients, causal behavior and cached decoding. Second, is the answer actually right, including recall and requested formatting? Third, what are the memory and runtime costs? The small streaming comparison has three training seeds and held-out task identities. The larger recovery attempt is one exploratory training trajectory, and I used its small capability suite to recommend the final version. Those are different levels of evidence. A passing numerical test or lower language loss does not certify general capabilities.</a:t>
            </a:r>
          </a:p>
          <a:p/>
          <a:p>
            <a:r>
              <a:t>TRANSITION: The strongest small-model result is compact recall.</a:t>
            </a:r>
          </a:p>
          <a:p/>
          <a:p>
            <a:r>
              <a:t>KEEP PRECISE: Do not say all studies use three seeds or that the recovery recommendation is an untouched test result.</a:t>
            </a:r>
          </a:p>
          <a:p/>
          <a:p>
            <a:r>
              <a:t>Evidence: reports/rewt_streaming_20261026/FINDINGS.md; reports/lfm3_capability_recovery_20261028/FINDINGS.md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65 seconds</a:t>
            </a:r>
          </a:p>
          <a:p/>
          <a:p>
            <a:r>
              <a:t>CUE: 86.1% without energy; 77.3% with energy. Credit memory.</a:t>
            </a:r>
          </a:p>
          <a:p/>
          <a:p>
            <a:r>
              <a:t>These are small models, around 112 thousand parameters, trained from scratch with matched parameter counts. Across 72 long-recall prompts and three seeds, the full Transformer reaches 14.4 percent and the window Transformer 21.3 percent. The hybrid without refinement reaches 86.1 percent; the energy hybrid reaches 77.3 percent. The hybrid combines gated delta memory with local attention. This supports that compact memory recipe on this synthetic task, but it does not show a recall benefit from energy. Both Transformer controls have a weak third seed, and I used one common tuning recipe, so these are not best-tuned baseline comparisons. The longest recall input is 520 bytes. The later 8K figure is a separate runtime experiment.</a:t>
            </a:r>
          </a:p>
          <a:p/>
          <a:p>
            <a:r>
              <a:t>TRANSITION: I also reduced the cost of the existing decoder without changing its weights.</a:t>
            </a:r>
          </a:p>
          <a:p/>
          <a:p>
            <a:r>
              <a:t>KEEP PRECISE: These scores are not from the 1.784B converted model. Accuracy is not measured at 8K.</a:t>
            </a:r>
          </a:p>
          <a:p/>
          <a:p>
            <a:r>
              <a:t>Evidence: reports/rewt_streaming_20261026/FINDINGS.md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45 seconds</a:t>
            </a:r>
          </a:p>
          <a:p/>
          <a:p>
            <a:r>
              <a:t>CUE: Warmed generation only; same outputs and refinement rounds.</a:t>
            </a:r>
          </a:p>
          <a:p/>
          <a:p>
            <a:r>
              <a:t>For the same small energy-model checkpoint, generating 32 tokens after an 8K prefix takes 8.18 milliseconds instead of 15.43 on CPU, and 1.97 instead of 24.51 on the shared GB10. The changes are fixed-shape decoding, ring caches, compilation and CUDA graph replay. They also remove per-token host transfers. All model controls receive the same execution options. The compact hybrid carries about 225 times less state than full attention in this setup. That excludes parameters and temporary workspace. These are warmed decode measurements, not startup, training or 1.7B-model speed claims. The window Transformer remains faster on CPU.</a:t>
            </a:r>
          </a:p>
          <a:p/>
          <a:p>
            <a:r>
              <a:t>TRANSITION: The next challenge was transferring pretrained capabilities into this architecture.</a:t>
            </a:r>
          </a:p>
          <a:p/>
          <a:p>
            <a:r>
              <a:t>KEEP PRECISE: The 12.44× GPU gain is not a 12× arithmetic-kernel speedup. Prefill and compilation are excluded.</a:t>
            </a:r>
          </a:p>
          <a:p/>
          <a:p>
            <a:r>
              <a:t>Evidence: reports/rewt_decode_speed_20261027/FINDINGS.md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65 seconds</a:t>
            </a:r>
          </a:p>
          <a:p/>
          <a:p>
            <a:r>
              <a:t>CUE: Reuse useful weights; replace operators; recover behavior.</a:t>
            </a:r>
          </a:p>
          <a:p/>
          <a:p>
            <a:r>
              <a:t>I converted a pinned LFM3-1.7B checkpoint into a standalone 1.784-billion-parameter streaming REWT. I inherited its tokenizer, embeddings, feedforward blocks and compatible attention weights. I replaced the thirteen convolution operators with delta memory, bounded all eleven attention layers to 256-token windows, and added a final two-round energy head. These are substantial changes to information flow, so copying weights does not preserve the donor’s behavior. Recovery matches the donor’s full token distribution, includes next-token and hidden-state losses, and adapts selected feedforward blocks. The resulting model runs from its own PyTorch weights and code; it does not call the donor at inference.</a:t>
            </a:r>
          </a:p>
          <a:p/>
          <a:p>
            <a:r>
              <a:t>TRANSITION: The measured recovery is useful but still very incomplete.</a:t>
            </a:r>
          </a:p>
          <a:p/>
          <a:p>
            <a:r>
              <a:t>KEEP PRECISE: Bounded attention does not mean all older information is erased: delta memory can carry a compressed state, but retention is imperfect.</a:t>
            </a:r>
          </a:p>
          <a:p/>
          <a:p>
            <a:r>
              <a:t>Evidence: reports/lfm3_conversion_20261028/DESIGN.md; reports/lfm3_capability_recovery_20261028/FINDINGS.md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75 seconds</a:t>
            </a:r>
          </a:p>
          <a:p/>
          <a:p>
            <a:r>
              <a:t>CUE: 43 → 59 versus donor 94; exact 9 → 13 versus 25.</a:t>
            </a:r>
          </a:p>
          <a:p/>
          <a:p>
            <a:r>
              <a:t>On the same 128 science questions, the converted starting model scores 43, the recommended recovered checkpoint scores 59, and the donor scores 94. This is a custom answer-label-ranking protocol, not a published ARC benchmark score. Exact-response probes improve from nine out of fifty to thirteen, versus twenty-five for the donor under the same 64-token greedy protocol. The recommended checkpoint includes 1.29 million additional real-token exposures. A third pass unfroze all feedforward blocks and lowered validation loss further, but its capability scores fell to 58 and nine. I therefore kept stage two. That recommendation is post hoc on this small suite; it needs a fresh confirmation set. Continuation loss improves too, but that alone is not capability recovery.</a:t>
            </a:r>
          </a:p>
          <a:p/>
          <a:p>
            <a:r>
              <a:t>TRANSITION: The remaining failures are the most important guide for the next experiment.</a:t>
            </a:r>
          </a:p>
          <a:p/>
          <a:p>
            <a:r>
              <a:t>KEEP PRECISE: Total work was 1.66M exposures across three passes; stage 2 contains only 1.29M. Token exposures are not unique tokens.</a:t>
            </a:r>
          </a:p>
          <a:p/>
          <a:p>
            <a:r>
              <a:t>Evidence: reports/lfm3_capability_recovery_20261028/FINDINGS.md; selection.json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50 seconds</a:t>
            </a:r>
          </a:p>
          <a:p/>
          <a:p>
            <a:r>
              <a:t>CUE: Long recall and tool formatting still fail.</a:t>
            </a:r>
          </a:p>
          <a:p/>
          <a:p>
            <a:r>
              <a:t>The converted model still fails all eight longer code-recall probes at 561 and 1,265 prompt tokens, while the donor retrieves those codes. It also fails all four tool-call JSON probes. Most of the exact-response gain is short recall formatting: it now returns the bare requested code. Some separate examples still contain malformed JSON or extra arithmetic text. So the result is partial recovery, not an equivalent replacement for LFM3. The 279-test REWT suite and streaming checks establish implementation behavior; they do not establish intelligence. The compact synthetic-memory result and the large-model capability failures are both part of the evidence.</a:t>
            </a:r>
          </a:p>
          <a:p/>
          <a:p>
            <a:r>
              <a:t>TRANSITION: My proposed next step targets those failures and tests the energy hypothesis directly.</a:t>
            </a:r>
          </a:p>
          <a:p/>
          <a:p>
            <a:r>
              <a:t>KEEP PRECISE: Strict-output failures combine content and formatting. A mathematically correct answer with extra prose can fail an exact-output probe.</a:t>
            </a:r>
          </a:p>
          <a:p/>
          <a:p>
            <a:r>
              <a:t>Evidence: reports/lfm3_capability_recovery_20261028/recall_content_diagnostic.json; before.json; after.json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50 seconds</a:t>
            </a:r>
          </a:p>
          <a:p/>
          <a:p>
            <a:r>
              <a:t>CUE: Correction training, realistic memory, fresh equal-cost controls.</a:t>
            </a:r>
          </a:p>
          <a:p/>
          <a:p>
            <a:r>
              <a:t>The next experiment is to teach refinement to repair deliberately corrupted candidates, rather than assuming lower energy will improve an answer. In parallel, the converted model needs varied long-context recall and structured-output recovery. I would compare zero, one, two and four rounds against both a no-energy model and an equally costly feedforward correction head. Settings should be chosen on validation, then frozen before fresh tests. The contribution so far is an implemented and audited research system with compact-memory gains, faster inference, and a documented partial conversion. The open question remains whether energy refinement improves useful retrieval enough to justify its extra computation.</a:t>
            </a:r>
          </a:p>
          <a:p/>
          <a:p>
            <a:r>
              <a:t>TRANSITION: Thank you. I have the equations, controls and full results available for questions.</a:t>
            </a:r>
          </a:p>
          <a:p/>
          <a:p>
            <a:r>
              <a:t>KEEP PRECISE: The correction experiment is proposed, not completed. Do not claim a demonstrated general energy advantage.</a:t>
            </a:r>
          </a:p>
          <a:p/>
          <a:p>
            <a:r>
              <a:t>Evidence: reports/rewt_streaming_20261026/FINDINGS.md; reports/lfm3_capability_recovery_20261028/FINDINGS.md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0 seconds</a:t>
            </a:r>
          </a:p>
          <a:p/>
          <a:p>
            <a:r>
              <a:t>CUE: Quadratic anchor + bounded cosine terms; fixed coefficients within the loop.</a:t>
            </a:r>
          </a:p>
          <a:p/>
          <a:p>
            <a:r>
              <a:t>Let delta be the displacement from the proposed hidden state. The energy is one half delta-transpose P delta plus a sum of cosine terms. P is positive diagonal. The gradient is P delta minus the sum of amplitude times sine times the frequency vector. A bound on curvature is the largest diagonal precision plus the sum of absolute amplitude times squared frequency norm. The implementation uses step size 0.95 divided by this bound. This supports descent for the fixed smooth energy in exact arithmetic; numerical tests check implementation behavior. It does not guarantee a global optimum or correct answer. The converted energy head computes its updates in FP32.</a:t>
            </a:r>
          </a:p>
          <a:p/>
          <a:p>
            <a:r>
              <a:t>TRANSITION: The practical question is whether these state changes improve quality enough to pay for them.</a:t>
            </a:r>
          </a:p>
          <a:p/>
          <a:p>
            <a:r>
              <a:t>KEEP PRECISE: Earlier joint-energy solvers use other acceptance mechanisms. This equation and step rule describe the streaming/conversion head.</a:t>
            </a:r>
          </a:p>
          <a:p/>
          <a:p>
            <a:r>
              <a:t>Evidence: rewt/streaming.py: LatentEnergy; rewt/lfm_conversion.py: ConversionEnergy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0 seconds</a:t>
            </a:r>
          </a:p>
          <a:p/>
          <a:p>
            <a:r>
              <a:t>CUE: Equal CPU story loss favors the Transformer; energy task ablation ties.</a:t>
            </a:r>
          </a:p>
          <a:p/>
          <a:p>
            <a:r>
              <a:t>The hybrid is not better on every metric. At equal training CPU time, story loss is 1.4641 bits per byte for the full Transformer, 1.4828 for the no-energy hybrid and 1.4926 for the energy hybrid. Lower is better. Disabling refinement in the frozen energy model leaves complete task accuracy at 36.63 percent. A separately trained no-energy model tests the effect on learning, while a frozen intervention tests the inference contribution; they answer different questions. In the large converted checkpoint, energy-off continuation NLL is 2.229599 versus 2.229755 with energy, which also fails to establish a meaningful energy benefit.</a:t>
            </a:r>
          </a:p>
          <a:p/>
          <a:p>
            <a:r>
              <a:t>TRANSITION: These controls motivate correction training and equal-cost comparisons.</a:t>
            </a:r>
          </a:p>
          <a:p/>
          <a:p>
            <a:r>
              <a:t>KEEP PRECISE: The small-model family scores are dominated by recall; do not label them general reasoning accuracy.</a:t>
            </a:r>
          </a:p>
          <a:p/>
          <a:p>
            <a:r>
              <a:t>Evidence: reports/rewt_streaming_20261026/FINDINGS.md; reports/lfm3_capability_recovery_20261028/continuation_and_cache.json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0 seconds</a:t>
            </a:r>
          </a:p>
          <a:p/>
          <a:p>
            <a:r>
              <a:t>CUE: Credit the backbone and donor; own the implementation and controlled analysis.</a:t>
            </a:r>
          </a:p>
          <a:p/>
          <a:p>
            <a:r>
              <a:t>Energy Transformer motivates energy-based state refinement. Gated Delta Networks is prior work on combining delta memory with local attention. LFM3 supplies the pretrained weights used in conversion. The project does not claim to invent those ingredients. Its contribution is the energy extension, conversion and recovery implementation, optimized execution, and reproducible positive and negative experiments. The repository contains plans, source snapshots, result tables and raw responses. Donor weights retain their source license; large checkpoints and downloaded datasets are not included in the Git repository.</a:t>
            </a:r>
          </a:p>
          <a:p/>
          <a:p>
            <a:r>
              <a:t>TRANSITION: Point to the relevant report when answering a detailed numerical question.</a:t>
            </a:r>
          </a:p>
          <a:p/>
          <a:p>
            <a:r>
              <a:t>KEEP PRECISE: The current hybrid is not a reproduction of a published Energy Transformer or a proof of a new state of the art.</a:t>
            </a:r>
          </a:p>
          <a:p/>
          <a:p>
            <a:r>
              <a:t>Evidence: RIGHTS.md; reports/lfm3_conversion_20261028/DESIGN.md; reports/lfm3_capability_recovery_20261028/FINDINGS.md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oceedings.iclr.cc/paper_files/paper/2025/hash/4904fad153f6434a7bcf04465d4be2cc-Abstract-Conference.html" TargetMode="External"/><Relationship Id="rId3" Type="http://schemas.openxmlformats.org/officeDocument/2006/relationships/hyperlink" Target="https://arxiv.org/abs/2302.07253" TargetMode="External"/><Relationship Id="rId4" Type="http://schemas.openxmlformats.org/officeDocument/2006/relationships/hyperlink" Target="https://huggingface.co/LiquidAI/LFM3-1.7B/blob/40ebe0aa6662c9d40389c2f5d565b6a2c6aebacd/README.md" TargetMode="External"/><Relationship Id="rId5" Type="http://schemas.openxmlformats.org/officeDocument/2006/relationships/notesSlide" Target="../notesSlides/notesSlide15.xml"/><Relationship Id="rId6" Type="http://schemas.openxmlformats.org/officeDocument/2006/relationships/hyperlink" Target="https://github.com/kenjugmail/EnergyTransformer/tree/main/reports"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Rectangle 1"/>
          <p:cNvSpPr/>
          <p:nvPr/>
        </p:nvSpPr>
        <p:spPr>
          <a:xfrm>
            <a:off x="502920" y="402336"/>
            <a:ext cx="347472" cy="64008"/>
          </a:xfrm>
          <a:prstGeom prst="rect">
            <a:avLst/>
          </a:prstGeom>
          <a:solidFill>
            <a:srgbClr val="087E80"/>
          </a:solidFill>
          <a:ln>
            <a:solidFill>
              <a:srgbClr val="087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50976" y="310896"/>
            <a:ext cx="10058400" cy="274320"/>
          </a:xfrm>
          <a:prstGeom prst="rect">
            <a:avLst/>
          </a:prstGeom>
          <a:noFill/>
        </p:spPr>
        <p:txBody>
          <a:bodyPr wrap="square" lIns="9144" rIns="9144" tIns="0" bIns="0">
            <a:spAutoFit/>
          </a:bodyPr>
          <a:lstStyle/>
          <a:p>
            <a:pPr algn="l">
              <a:spcAft>
                <a:spcPts val="500"/>
              </a:spcAft>
              <a:defRPr sz="1100" b="1">
                <a:solidFill>
                  <a:srgbClr val="087E80"/>
                </a:solidFill>
                <a:latin typeface="Arial"/>
              </a:defRPr>
            </a:pPr>
            <a:r>
              <a:t>CSCI 635 · RESEARCH PROGRESS · OCTOBER 28, 2026</a:t>
            </a:r>
          </a:p>
        </p:txBody>
      </p:sp>
      <p:sp>
        <p:nvSpPr>
          <p:cNvPr id="4" name="TextBox 3"/>
          <p:cNvSpPr txBox="1"/>
          <p:nvPr/>
        </p:nvSpPr>
        <p:spPr>
          <a:xfrm>
            <a:off x="502920" y="841248"/>
            <a:ext cx="11155680" cy="841248"/>
          </a:xfrm>
          <a:prstGeom prst="rect">
            <a:avLst/>
          </a:prstGeom>
          <a:noFill/>
        </p:spPr>
        <p:txBody>
          <a:bodyPr wrap="square" lIns="9144" rIns="9144" tIns="0" bIns="0">
            <a:spAutoFit/>
          </a:bodyPr>
          <a:lstStyle/>
          <a:p>
            <a:pPr algn="l">
              <a:spcAft>
                <a:spcPts val="500"/>
              </a:spcAft>
              <a:defRPr sz="3200" b="1">
                <a:solidFill>
                  <a:srgbClr val="172C45"/>
                </a:solidFill>
                <a:latin typeface="Arial"/>
              </a:defRPr>
            </a:pPr>
          </a:p>
        </p:txBody>
      </p:sp>
      <p:sp>
        <p:nvSpPr>
          <p:cNvPr id="5" name="TextBox 4"/>
          <p:cNvSpPr txBox="1"/>
          <p:nvPr/>
        </p:nvSpPr>
        <p:spPr>
          <a:xfrm>
            <a:off x="11091672" y="6428232"/>
            <a:ext cx="548640" cy="274320"/>
          </a:xfrm>
          <a:prstGeom prst="rect">
            <a:avLst/>
          </a:prstGeom>
          <a:noFill/>
        </p:spPr>
        <p:txBody>
          <a:bodyPr wrap="square" lIns="9144" rIns="9144" tIns="0" bIns="0">
            <a:spAutoFit/>
          </a:bodyPr>
          <a:lstStyle/>
          <a:p>
            <a:pPr algn="r">
              <a:spcAft>
                <a:spcPts val="500"/>
              </a:spcAft>
              <a:defRPr sz="1100" b="0">
                <a:solidFill>
                  <a:srgbClr val="647282"/>
                </a:solidFill>
                <a:latin typeface="Arial"/>
              </a:defRPr>
            </a:pPr>
            <a:r>
              <a:t>01</a:t>
            </a:r>
          </a:p>
        </p:txBody>
      </p:sp>
      <p:sp>
        <p:nvSpPr>
          <p:cNvPr id="6" name="TextBox 5"/>
          <p:cNvSpPr txBox="1"/>
          <p:nvPr/>
        </p:nvSpPr>
        <p:spPr>
          <a:xfrm>
            <a:off x="566928" y="1143000"/>
            <a:ext cx="7315200" cy="1005840"/>
          </a:xfrm>
          <a:prstGeom prst="rect">
            <a:avLst/>
          </a:prstGeom>
          <a:noFill/>
        </p:spPr>
        <p:txBody>
          <a:bodyPr wrap="square" lIns="9144" rIns="9144" tIns="0" bIns="0">
            <a:spAutoFit/>
          </a:bodyPr>
          <a:lstStyle/>
          <a:p>
            <a:pPr algn="l">
              <a:spcAft>
                <a:spcPts val="500"/>
              </a:spcAft>
              <a:defRPr sz="6800" b="1">
                <a:solidFill>
                  <a:srgbClr val="172C45"/>
                </a:solidFill>
                <a:latin typeface="Arial"/>
              </a:defRPr>
            </a:pPr>
            <a:r>
              <a:t>REWT</a:t>
            </a:r>
          </a:p>
        </p:txBody>
      </p:sp>
      <p:sp>
        <p:nvSpPr>
          <p:cNvPr id="7" name="TextBox 6"/>
          <p:cNvSpPr txBox="1"/>
          <p:nvPr/>
        </p:nvSpPr>
        <p:spPr>
          <a:xfrm>
            <a:off x="594360" y="2331720"/>
            <a:ext cx="9875520" cy="1371600"/>
          </a:xfrm>
          <a:prstGeom prst="rect">
            <a:avLst/>
          </a:prstGeom>
          <a:noFill/>
        </p:spPr>
        <p:txBody>
          <a:bodyPr wrap="square" lIns="9144" rIns="9144" tIns="0" bIns="0">
            <a:spAutoFit/>
          </a:bodyPr>
          <a:lstStyle/>
          <a:p>
            <a:pPr algn="l">
              <a:spcAft>
                <a:spcPts val="500"/>
              </a:spcAft>
              <a:defRPr sz="3200" b="0">
                <a:solidFill>
                  <a:srgbClr val="172C45"/>
                </a:solidFill>
                <a:latin typeface="Arial"/>
              </a:defRPr>
            </a:pPr>
            <a:r>
              <a:t>Compact memory and</a:t>
            </a:r>
          </a:p>
          <a:p>
            <a:pPr algn="l">
              <a:spcAft>
                <a:spcPts val="500"/>
              </a:spcAft>
              <a:defRPr sz="3200" b="0">
                <a:solidFill>
                  <a:srgbClr val="172C45"/>
                </a:solidFill>
                <a:latin typeface="Arial"/>
              </a:defRPr>
            </a:pPr>
            <a:r>
              <a:t>learned state refinement</a:t>
            </a:r>
          </a:p>
        </p:txBody>
      </p:sp>
      <p:sp>
        <p:nvSpPr>
          <p:cNvPr id="8" name="TextBox 7"/>
          <p:cNvSpPr txBox="1"/>
          <p:nvPr/>
        </p:nvSpPr>
        <p:spPr>
          <a:xfrm>
            <a:off x="612648" y="4160520"/>
            <a:ext cx="10789920" cy="594360"/>
          </a:xfrm>
          <a:prstGeom prst="rect">
            <a:avLst/>
          </a:prstGeom>
          <a:noFill/>
        </p:spPr>
        <p:txBody>
          <a:bodyPr wrap="square" lIns="9144" rIns="9144" tIns="0" bIns="0">
            <a:spAutoFit/>
          </a:bodyPr>
          <a:lstStyle/>
          <a:p>
            <a:pPr algn="l">
              <a:spcAft>
                <a:spcPts val="500"/>
              </a:spcAft>
              <a:defRPr sz="2500" b="1">
                <a:solidFill>
                  <a:srgbClr val="087E80"/>
                </a:solidFill>
                <a:latin typeface="Arial"/>
              </a:defRPr>
            </a:pPr>
            <a:r>
              <a:t>Can energy refinement make compact memory more useful?</a:t>
            </a:r>
          </a:p>
        </p:txBody>
      </p:sp>
      <p:sp>
        <p:nvSpPr>
          <p:cNvPr id="9" name="TextBox 8"/>
          <p:cNvSpPr txBox="1"/>
          <p:nvPr/>
        </p:nvSpPr>
        <p:spPr>
          <a:xfrm>
            <a:off x="621792" y="5715000"/>
            <a:ext cx="10058400" cy="411480"/>
          </a:xfrm>
          <a:prstGeom prst="rect">
            <a:avLst/>
          </a:prstGeom>
          <a:noFill/>
        </p:spPr>
        <p:txBody>
          <a:bodyPr wrap="square" lIns="9144" rIns="9144" tIns="0" bIns="0">
            <a:spAutoFit/>
          </a:bodyPr>
          <a:lstStyle/>
          <a:p>
            <a:pPr algn="l">
              <a:spcAft>
                <a:spcPts val="500"/>
              </a:spcAft>
              <a:defRPr sz="1700" b="0">
                <a:solidFill>
                  <a:srgbClr val="647282"/>
                </a:solidFill>
                <a:latin typeface="Arial"/>
              </a:defRPr>
            </a:pPr>
            <a:r>
              <a:t>Kenju Tomita  ·  Rochester Institute of Technology</a:t>
            </a:r>
          </a:p>
        </p:txBody>
      </p:sp>
      <p:sp>
        <p:nvSpPr>
          <p:cNvPr id="10" name="Oval 9"/>
          <p:cNvSpPr/>
          <p:nvPr/>
        </p:nvSpPr>
        <p:spPr>
          <a:xfrm>
            <a:off x="10012680" y="1143000"/>
            <a:ext cx="1097280" cy="1097280"/>
          </a:xfrm>
          <a:prstGeom prst="ellipse">
            <a:avLst/>
          </a:prstGeom>
          <a:solidFill>
            <a:srgbClr val="08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12680" y="1362456"/>
            <a:ext cx="1097280" cy="768096"/>
          </a:xfrm>
          <a:prstGeom prst="rect">
            <a:avLst/>
          </a:prstGeom>
          <a:noFill/>
        </p:spPr>
        <p:txBody>
          <a:bodyPr wrap="square" lIns="9144" rIns="9144" tIns="0" bIns="0">
            <a:spAutoFit/>
          </a:bodyPr>
          <a:lstStyle/>
          <a:p>
            <a:pPr algn="ctr">
              <a:spcAft>
                <a:spcPts val="500"/>
              </a:spcAft>
              <a:defRPr sz="3000" b="1">
                <a:solidFill>
                  <a:srgbClr val="FFFFFF"/>
                </a:solidFill>
                <a:latin typeface="Arial"/>
              </a:defRPr>
            </a:pPr>
            <a:r>
              <a:t>?</a:t>
            </a:r>
          </a:p>
        </p:txBody>
      </p:sp>
      <p:sp>
        <p:nvSpPr>
          <p:cNvPr id="12" name="TextBox 11"/>
          <p:cNvSpPr txBox="1"/>
          <p:nvPr/>
        </p:nvSpPr>
        <p:spPr>
          <a:xfrm>
            <a:off x="502920" y="6473952"/>
            <a:ext cx="10561320" cy="219456"/>
          </a:xfrm>
          <a:prstGeom prst="rect">
            <a:avLst/>
          </a:prstGeom>
          <a:noFill/>
        </p:spPr>
        <p:txBody>
          <a:bodyPr wrap="square" lIns="9144" rIns="9144" tIns="0" bIns="0">
            <a:spAutoFit/>
          </a:bodyPr>
          <a:lstStyle/>
          <a:p>
            <a:pPr algn="l">
              <a:spcAft>
                <a:spcPts val="500"/>
              </a:spcAft>
              <a:defRPr sz="1000" b="0">
                <a:solidFill>
                  <a:srgbClr val="647282"/>
                </a:solidFill>
                <a:latin typeface="Arial"/>
              </a:defRPr>
            </a:pPr>
            <a:r>
              <a:t>Recurrent Energy Wave Transformer · Updated through October 28,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Rectangle 1"/>
          <p:cNvSpPr/>
          <p:nvPr/>
        </p:nvSpPr>
        <p:spPr>
          <a:xfrm>
            <a:off x="502920" y="402336"/>
            <a:ext cx="347472" cy="64008"/>
          </a:xfrm>
          <a:prstGeom prst="rect">
            <a:avLst/>
          </a:prstGeom>
          <a:solidFill>
            <a:srgbClr val="087E80"/>
          </a:solidFill>
          <a:ln>
            <a:solidFill>
              <a:srgbClr val="087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50976" y="310896"/>
            <a:ext cx="10058400" cy="274320"/>
          </a:xfrm>
          <a:prstGeom prst="rect">
            <a:avLst/>
          </a:prstGeom>
          <a:noFill/>
        </p:spPr>
        <p:txBody>
          <a:bodyPr wrap="square" lIns="9144" rIns="9144" tIns="0" bIns="0">
            <a:spAutoFit/>
          </a:bodyPr>
          <a:lstStyle/>
          <a:p>
            <a:pPr algn="l">
              <a:spcAft>
                <a:spcPts val="500"/>
              </a:spcAft>
              <a:defRPr sz="1100" b="1">
                <a:solidFill>
                  <a:srgbClr val="087E80"/>
                </a:solidFill>
                <a:latin typeface="Arial"/>
              </a:defRPr>
            </a:pPr>
            <a:r>
              <a:t>MOTIVATION</a:t>
            </a:r>
          </a:p>
        </p:txBody>
      </p:sp>
      <p:sp>
        <p:nvSpPr>
          <p:cNvPr id="4" name="TextBox 3"/>
          <p:cNvSpPr txBox="1"/>
          <p:nvPr/>
        </p:nvSpPr>
        <p:spPr>
          <a:xfrm>
            <a:off x="502920" y="841248"/>
            <a:ext cx="11155680" cy="841248"/>
          </a:xfrm>
          <a:prstGeom prst="rect">
            <a:avLst/>
          </a:prstGeom>
          <a:noFill/>
        </p:spPr>
        <p:txBody>
          <a:bodyPr wrap="square" lIns="9144" rIns="9144" tIns="0" bIns="0">
            <a:spAutoFit/>
          </a:bodyPr>
          <a:lstStyle/>
          <a:p>
            <a:pPr algn="l">
              <a:spcAft>
                <a:spcPts val="500"/>
              </a:spcAft>
              <a:defRPr sz="3200" b="1">
                <a:solidFill>
                  <a:srgbClr val="172C45"/>
                </a:solidFill>
                <a:latin typeface="Arial"/>
              </a:defRPr>
            </a:pPr>
            <a:r>
              <a:t>The goal: remember a fact through distractions</a:t>
            </a:r>
          </a:p>
        </p:txBody>
      </p:sp>
      <p:sp>
        <p:nvSpPr>
          <p:cNvPr id="5" name="TextBox 4"/>
          <p:cNvSpPr txBox="1"/>
          <p:nvPr/>
        </p:nvSpPr>
        <p:spPr>
          <a:xfrm>
            <a:off x="521207" y="1783080"/>
            <a:ext cx="11064240" cy="502920"/>
          </a:xfrm>
          <a:prstGeom prst="rect">
            <a:avLst/>
          </a:prstGeom>
          <a:noFill/>
        </p:spPr>
        <p:txBody>
          <a:bodyPr wrap="square" lIns="9144" rIns="9144" tIns="0" bIns="0">
            <a:spAutoFit/>
          </a:bodyPr>
          <a:lstStyle/>
          <a:p>
            <a:pPr algn="l">
              <a:spcAft>
                <a:spcPts val="500"/>
              </a:spcAft>
              <a:defRPr sz="1800" b="0">
                <a:solidFill>
                  <a:srgbClr val="647282"/>
                </a:solidFill>
                <a:latin typeface="Arial"/>
              </a:defRPr>
            </a:pPr>
            <a:r>
              <a:t>A narrow memory task makes success and failure easy to inspect.</a:t>
            </a:r>
          </a:p>
        </p:txBody>
      </p:sp>
      <p:sp>
        <p:nvSpPr>
          <p:cNvPr id="6" name="TextBox 5"/>
          <p:cNvSpPr txBox="1"/>
          <p:nvPr/>
        </p:nvSpPr>
        <p:spPr>
          <a:xfrm>
            <a:off x="11091672" y="6428232"/>
            <a:ext cx="548640" cy="274320"/>
          </a:xfrm>
          <a:prstGeom prst="rect">
            <a:avLst/>
          </a:prstGeom>
          <a:noFill/>
        </p:spPr>
        <p:txBody>
          <a:bodyPr wrap="square" lIns="9144" rIns="9144" tIns="0" bIns="0">
            <a:spAutoFit/>
          </a:bodyPr>
          <a:lstStyle/>
          <a:p>
            <a:pPr algn="r">
              <a:spcAft>
                <a:spcPts val="500"/>
              </a:spcAft>
              <a:defRPr sz="1100" b="0">
                <a:solidFill>
                  <a:srgbClr val="647282"/>
                </a:solidFill>
                <a:latin typeface="Arial"/>
              </a:defRPr>
            </a:pPr>
            <a:r>
              <a:t>02</a:t>
            </a:r>
          </a:p>
        </p:txBody>
      </p:sp>
      <p:sp>
        <p:nvSpPr>
          <p:cNvPr id="7" name="Rounded Rectangle 6"/>
          <p:cNvSpPr/>
          <p:nvPr/>
        </p:nvSpPr>
        <p:spPr>
          <a:xfrm>
            <a:off x="640080" y="2468880"/>
            <a:ext cx="10881360" cy="713232"/>
          </a:xfrm>
          <a:prstGeom prst="roundRect">
            <a:avLst>
              <a:gd name="adj" fmla="val 8000"/>
            </a:avLst>
          </a:prstGeom>
          <a:solidFill>
            <a:srgbClr val="172C45"/>
          </a:solidFill>
          <a:ln>
            <a:solidFill>
              <a:srgbClr val="172C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2660904"/>
            <a:ext cx="10332720" cy="384048"/>
          </a:xfrm>
          <a:prstGeom prst="rect">
            <a:avLst/>
          </a:prstGeom>
          <a:noFill/>
        </p:spPr>
        <p:txBody>
          <a:bodyPr wrap="square" lIns="9144" rIns="9144" tIns="0" bIns="0">
            <a:spAutoFit/>
          </a:bodyPr>
          <a:lstStyle/>
          <a:p>
            <a:pPr algn="l">
              <a:spcAft>
                <a:spcPts val="500"/>
              </a:spcAft>
              <a:defRPr sz="2400" b="0">
                <a:solidFill>
                  <a:srgbClr val="FFFFFF"/>
                </a:solidFill>
                <a:latin typeface="DejaVu Sans Mono"/>
              </a:defRPr>
            </a:pPr>
            <a:r>
              <a:t>K=8;   X=5; X=9; ... many distractors ...   K=?</a:t>
            </a:r>
          </a:p>
        </p:txBody>
      </p:sp>
      <p:sp>
        <p:nvSpPr>
          <p:cNvPr id="9" name="Oval 8"/>
          <p:cNvSpPr/>
          <p:nvPr/>
        </p:nvSpPr>
        <p:spPr>
          <a:xfrm>
            <a:off x="1325880" y="3794760"/>
            <a:ext cx="914400" cy="914400"/>
          </a:xfrm>
          <a:prstGeom prst="ellipse">
            <a:avLst/>
          </a:prstGeom>
          <a:solidFill>
            <a:srgbClr val="08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25880" y="3977640"/>
            <a:ext cx="914400" cy="640080"/>
          </a:xfrm>
          <a:prstGeom prst="rect">
            <a:avLst/>
          </a:prstGeom>
          <a:noFill/>
        </p:spPr>
        <p:txBody>
          <a:bodyPr wrap="square" lIns="9144" rIns="9144" tIns="0" bIns="0">
            <a:spAutoFit/>
          </a:bodyPr>
          <a:lstStyle/>
          <a:p>
            <a:pPr algn="ctr">
              <a:spcAft>
                <a:spcPts val="500"/>
              </a:spcAft>
              <a:defRPr sz="3000" b="1">
                <a:solidFill>
                  <a:srgbClr val="FFFFFF"/>
                </a:solidFill>
                <a:latin typeface="Arial"/>
              </a:defRPr>
            </a:pPr>
            <a:r>
              <a:rPr sz="2300"/>
              <a:t>K=8</a:t>
            </a:r>
          </a:p>
        </p:txBody>
      </p:sp>
      <p:sp>
        <p:nvSpPr>
          <p:cNvPr id="11" name="Right Arrow 10"/>
          <p:cNvSpPr/>
          <p:nvPr/>
        </p:nvSpPr>
        <p:spPr>
          <a:xfrm>
            <a:off x="2468880" y="4114800"/>
            <a:ext cx="1005840" cy="246888"/>
          </a:xfrm>
          <a:prstGeom prst="rightArrow">
            <a:avLst/>
          </a:prstGeom>
          <a:solidFill>
            <a:srgbClr val="08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77439" y="4599432"/>
            <a:ext cx="1188720" cy="320040"/>
          </a:xfrm>
          <a:prstGeom prst="rect">
            <a:avLst/>
          </a:prstGeom>
          <a:noFill/>
        </p:spPr>
        <p:txBody>
          <a:bodyPr wrap="square" lIns="9144" rIns="9144" tIns="0" bIns="0">
            <a:spAutoFit/>
          </a:bodyPr>
          <a:lstStyle/>
          <a:p>
            <a:pPr algn="ctr">
              <a:spcAft>
                <a:spcPts val="500"/>
              </a:spcAft>
              <a:defRPr sz="1500" b="0">
                <a:solidFill>
                  <a:srgbClr val="647282"/>
                </a:solidFill>
                <a:latin typeface="Arial"/>
              </a:defRPr>
            </a:pPr>
            <a:r>
              <a:t>write</a:t>
            </a:r>
          </a:p>
        </p:txBody>
      </p:sp>
      <p:sp>
        <p:nvSpPr>
          <p:cNvPr id="13" name="Oval 12"/>
          <p:cNvSpPr/>
          <p:nvPr/>
        </p:nvSpPr>
        <p:spPr>
          <a:xfrm>
            <a:off x="4069080" y="3794760"/>
            <a:ext cx="914400" cy="914400"/>
          </a:xfrm>
          <a:prstGeom prst="ellipse">
            <a:avLst/>
          </a:prstGeom>
          <a:solidFill>
            <a:srgbClr val="08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69080" y="3977640"/>
            <a:ext cx="914400" cy="640080"/>
          </a:xfrm>
          <a:prstGeom prst="rect">
            <a:avLst/>
          </a:prstGeom>
          <a:noFill/>
        </p:spPr>
        <p:txBody>
          <a:bodyPr wrap="square" lIns="9144" rIns="9144" tIns="0" bIns="0">
            <a:spAutoFit/>
          </a:bodyPr>
          <a:lstStyle/>
          <a:p>
            <a:pPr algn="ctr">
              <a:spcAft>
                <a:spcPts val="500"/>
              </a:spcAft>
              <a:defRPr sz="3000" b="1">
                <a:solidFill>
                  <a:srgbClr val="FFFFFF"/>
                </a:solidFill>
                <a:latin typeface="Arial"/>
              </a:defRPr>
            </a:pPr>
            <a:r>
              <a:t>…</a:t>
            </a:r>
          </a:p>
        </p:txBody>
      </p:sp>
      <p:sp>
        <p:nvSpPr>
          <p:cNvPr id="15" name="Right Arrow 14"/>
          <p:cNvSpPr/>
          <p:nvPr/>
        </p:nvSpPr>
        <p:spPr>
          <a:xfrm>
            <a:off x="5212080" y="4114800"/>
            <a:ext cx="1005840" cy="246888"/>
          </a:xfrm>
          <a:prstGeom prst="rightArrow">
            <a:avLst/>
          </a:prstGeom>
          <a:solidFill>
            <a:srgbClr val="08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20640" y="4599432"/>
            <a:ext cx="1188720" cy="320040"/>
          </a:xfrm>
          <a:prstGeom prst="rect">
            <a:avLst/>
          </a:prstGeom>
          <a:noFill/>
        </p:spPr>
        <p:txBody>
          <a:bodyPr wrap="square" lIns="9144" rIns="9144" tIns="0" bIns="0">
            <a:spAutoFit/>
          </a:bodyPr>
          <a:lstStyle/>
          <a:p>
            <a:pPr algn="ctr">
              <a:spcAft>
                <a:spcPts val="500"/>
              </a:spcAft>
              <a:defRPr sz="1500" b="0">
                <a:solidFill>
                  <a:srgbClr val="647282"/>
                </a:solidFill>
                <a:latin typeface="Arial"/>
              </a:defRPr>
            </a:pPr>
            <a:r>
              <a:t>retain</a:t>
            </a:r>
          </a:p>
        </p:txBody>
      </p:sp>
      <p:sp>
        <p:nvSpPr>
          <p:cNvPr id="17" name="Oval 16"/>
          <p:cNvSpPr/>
          <p:nvPr/>
        </p:nvSpPr>
        <p:spPr>
          <a:xfrm>
            <a:off x="6812280" y="3794760"/>
            <a:ext cx="914400" cy="914400"/>
          </a:xfrm>
          <a:prstGeom prst="ellipse">
            <a:avLst/>
          </a:prstGeom>
          <a:solidFill>
            <a:srgbClr val="08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12280" y="3977640"/>
            <a:ext cx="914400" cy="640080"/>
          </a:xfrm>
          <a:prstGeom prst="rect">
            <a:avLst/>
          </a:prstGeom>
          <a:noFill/>
        </p:spPr>
        <p:txBody>
          <a:bodyPr wrap="square" lIns="9144" rIns="9144" tIns="0" bIns="0">
            <a:spAutoFit/>
          </a:bodyPr>
          <a:lstStyle/>
          <a:p>
            <a:pPr algn="ctr">
              <a:spcAft>
                <a:spcPts val="500"/>
              </a:spcAft>
              <a:defRPr sz="3000" b="1">
                <a:solidFill>
                  <a:srgbClr val="FFFFFF"/>
                </a:solidFill>
                <a:latin typeface="Arial"/>
              </a:defRPr>
            </a:pPr>
            <a:r>
              <a:rPr sz="2300"/>
              <a:t>K=?</a:t>
            </a:r>
          </a:p>
        </p:txBody>
      </p:sp>
      <p:sp>
        <p:nvSpPr>
          <p:cNvPr id="19" name="Right Arrow 18"/>
          <p:cNvSpPr/>
          <p:nvPr/>
        </p:nvSpPr>
        <p:spPr>
          <a:xfrm>
            <a:off x="7955279" y="4114800"/>
            <a:ext cx="1005840" cy="246888"/>
          </a:xfrm>
          <a:prstGeom prst="rightArrow">
            <a:avLst/>
          </a:prstGeom>
          <a:solidFill>
            <a:srgbClr val="08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63840" y="4599432"/>
            <a:ext cx="1188720" cy="320040"/>
          </a:xfrm>
          <a:prstGeom prst="rect">
            <a:avLst/>
          </a:prstGeom>
          <a:noFill/>
        </p:spPr>
        <p:txBody>
          <a:bodyPr wrap="square" lIns="9144" rIns="9144" tIns="0" bIns="0">
            <a:spAutoFit/>
          </a:bodyPr>
          <a:lstStyle/>
          <a:p>
            <a:pPr algn="ctr">
              <a:spcAft>
                <a:spcPts val="500"/>
              </a:spcAft>
              <a:defRPr sz="1500" b="0">
                <a:solidFill>
                  <a:srgbClr val="647282"/>
                </a:solidFill>
                <a:latin typeface="Arial"/>
              </a:defRPr>
            </a:pPr>
            <a:r>
              <a:t>retrieve</a:t>
            </a:r>
          </a:p>
        </p:txBody>
      </p:sp>
      <p:sp>
        <p:nvSpPr>
          <p:cNvPr id="21" name="Oval 20"/>
          <p:cNvSpPr/>
          <p:nvPr/>
        </p:nvSpPr>
        <p:spPr>
          <a:xfrm>
            <a:off x="9555480" y="3794760"/>
            <a:ext cx="914400" cy="914400"/>
          </a:xfrm>
          <a:prstGeom prst="ellipse">
            <a:avLst/>
          </a:prstGeom>
          <a:solidFill>
            <a:srgbClr val="D86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55480" y="3977640"/>
            <a:ext cx="914400" cy="640080"/>
          </a:xfrm>
          <a:prstGeom prst="rect">
            <a:avLst/>
          </a:prstGeom>
          <a:noFill/>
        </p:spPr>
        <p:txBody>
          <a:bodyPr wrap="square" lIns="9144" rIns="9144" tIns="0" bIns="0">
            <a:spAutoFit/>
          </a:bodyPr>
          <a:lstStyle/>
          <a:p>
            <a:pPr algn="ctr">
              <a:spcAft>
                <a:spcPts val="500"/>
              </a:spcAft>
              <a:defRPr sz="3000" b="1">
                <a:solidFill>
                  <a:srgbClr val="FFFFFF"/>
                </a:solidFill>
                <a:latin typeface="Arial"/>
              </a:defRPr>
            </a:pPr>
            <a:r>
              <a:t>8</a:t>
            </a:r>
          </a:p>
        </p:txBody>
      </p:sp>
      <p:sp>
        <p:nvSpPr>
          <p:cNvPr id="23" name="TextBox 22"/>
          <p:cNvSpPr txBox="1"/>
          <p:nvPr/>
        </p:nvSpPr>
        <p:spPr>
          <a:xfrm>
            <a:off x="932688" y="5605272"/>
            <a:ext cx="10241280" cy="457200"/>
          </a:xfrm>
          <a:prstGeom prst="rect">
            <a:avLst/>
          </a:prstGeom>
          <a:noFill/>
        </p:spPr>
        <p:txBody>
          <a:bodyPr wrap="square" lIns="9144" rIns="9144" tIns="0" bIns="0">
            <a:spAutoFit/>
          </a:bodyPr>
          <a:lstStyle/>
          <a:p>
            <a:pPr algn="l">
              <a:spcAft>
                <a:spcPts val="500"/>
              </a:spcAft>
              <a:defRPr sz="2400" b="1">
                <a:solidFill>
                  <a:srgbClr val="172C45"/>
                </a:solidFill>
                <a:latin typeface="Arial"/>
              </a:defRPr>
            </a:pPr>
            <a:r>
              <a:t>A compact memory should retain K without keeping every token.</a:t>
            </a:r>
          </a:p>
        </p:txBody>
      </p:sp>
      <p:sp>
        <p:nvSpPr>
          <p:cNvPr id="24" name="TextBox 23"/>
          <p:cNvSpPr txBox="1"/>
          <p:nvPr/>
        </p:nvSpPr>
        <p:spPr>
          <a:xfrm>
            <a:off x="502920" y="6473952"/>
            <a:ext cx="10561320" cy="219456"/>
          </a:xfrm>
          <a:prstGeom prst="rect">
            <a:avLst/>
          </a:prstGeom>
          <a:noFill/>
        </p:spPr>
        <p:txBody>
          <a:bodyPr wrap="square" lIns="9144" rIns="9144" tIns="0" bIns="0">
            <a:spAutoFit/>
          </a:bodyPr>
          <a:lstStyle/>
          <a:p>
            <a:pPr algn="l">
              <a:spcAft>
                <a:spcPts val="500"/>
              </a:spcAft>
              <a:defRPr sz="1000" b="0">
                <a:solidFill>
                  <a:srgbClr val="647282"/>
                </a:solidFill>
                <a:latin typeface="Arial"/>
              </a:defRPr>
            </a:pPr>
            <a:r>
              <a:t>Illustrative prompt. Recorded 64-distractor example: both hybrids return 8; full/window controls return 2/9.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Rectangle 1"/>
          <p:cNvSpPr/>
          <p:nvPr/>
        </p:nvSpPr>
        <p:spPr>
          <a:xfrm>
            <a:off x="502920" y="402336"/>
            <a:ext cx="347472" cy="64008"/>
          </a:xfrm>
          <a:prstGeom prst="rect">
            <a:avLst/>
          </a:prstGeom>
          <a:solidFill>
            <a:srgbClr val="087E80"/>
          </a:solidFill>
          <a:ln>
            <a:solidFill>
              <a:srgbClr val="087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50976" y="310896"/>
            <a:ext cx="10058400" cy="274320"/>
          </a:xfrm>
          <a:prstGeom prst="rect">
            <a:avLst/>
          </a:prstGeom>
          <a:noFill/>
        </p:spPr>
        <p:txBody>
          <a:bodyPr wrap="square" lIns="9144" rIns="9144" tIns="0" bIns="0">
            <a:spAutoFit/>
          </a:bodyPr>
          <a:lstStyle/>
          <a:p>
            <a:pPr algn="l">
              <a:spcAft>
                <a:spcPts val="500"/>
              </a:spcAft>
              <a:defRPr sz="1100" b="1">
                <a:solidFill>
                  <a:srgbClr val="087E80"/>
                </a:solidFill>
                <a:latin typeface="Arial"/>
              </a:defRPr>
            </a:pPr>
            <a:r>
              <a:t>INTUITION</a:t>
            </a:r>
          </a:p>
        </p:txBody>
      </p:sp>
      <p:sp>
        <p:nvSpPr>
          <p:cNvPr id="4" name="TextBox 3"/>
          <p:cNvSpPr txBox="1"/>
          <p:nvPr/>
        </p:nvSpPr>
        <p:spPr>
          <a:xfrm>
            <a:off x="502920" y="841248"/>
            <a:ext cx="11155680" cy="841248"/>
          </a:xfrm>
          <a:prstGeom prst="rect">
            <a:avLst/>
          </a:prstGeom>
          <a:noFill/>
        </p:spPr>
        <p:txBody>
          <a:bodyPr wrap="square" lIns="9144" rIns="9144" tIns="0" bIns="0">
            <a:spAutoFit/>
          </a:bodyPr>
          <a:lstStyle/>
          <a:p>
            <a:pPr algn="l">
              <a:spcAft>
                <a:spcPts val="500"/>
              </a:spcAft>
              <a:defRPr sz="3200" b="1">
                <a:solidFill>
                  <a:srgbClr val="172C45"/>
                </a:solidFill>
                <a:latin typeface="Arial"/>
              </a:defRPr>
            </a:pPr>
            <a:r>
              <a:t>Energy is a learned compatibility score</a:t>
            </a:r>
          </a:p>
        </p:txBody>
      </p:sp>
      <p:sp>
        <p:nvSpPr>
          <p:cNvPr id="5" name="TextBox 4"/>
          <p:cNvSpPr txBox="1"/>
          <p:nvPr/>
        </p:nvSpPr>
        <p:spPr>
          <a:xfrm>
            <a:off x="521207" y="1783080"/>
            <a:ext cx="11064240" cy="502920"/>
          </a:xfrm>
          <a:prstGeom prst="rect">
            <a:avLst/>
          </a:prstGeom>
          <a:noFill/>
        </p:spPr>
        <p:txBody>
          <a:bodyPr wrap="square" lIns="9144" rIns="9144" tIns="0" bIns="0">
            <a:spAutoFit/>
          </a:bodyPr>
          <a:lstStyle/>
          <a:p>
            <a:pPr algn="l">
              <a:spcAft>
                <a:spcPts val="500"/>
              </a:spcAft>
              <a:defRPr sz="1800" b="0">
                <a:solidFill>
                  <a:srgbClr val="647282"/>
                </a:solidFill>
                <a:latin typeface="Arial"/>
              </a:defRPr>
            </a:pPr>
            <a:r>
              <a:t>Lower energy means the model prefers that state. It does not certify truth.</a:t>
            </a:r>
          </a:p>
        </p:txBody>
      </p:sp>
      <p:sp>
        <p:nvSpPr>
          <p:cNvPr id="6" name="TextBox 5"/>
          <p:cNvSpPr txBox="1"/>
          <p:nvPr/>
        </p:nvSpPr>
        <p:spPr>
          <a:xfrm>
            <a:off x="11091672" y="6428232"/>
            <a:ext cx="548640" cy="274320"/>
          </a:xfrm>
          <a:prstGeom prst="rect">
            <a:avLst/>
          </a:prstGeom>
          <a:noFill/>
        </p:spPr>
        <p:txBody>
          <a:bodyPr wrap="square" lIns="9144" rIns="9144" tIns="0" bIns="0">
            <a:spAutoFit/>
          </a:bodyPr>
          <a:lstStyle/>
          <a:p>
            <a:pPr algn="r">
              <a:spcAft>
                <a:spcPts val="500"/>
              </a:spcAft>
              <a:defRPr sz="1100" b="0">
                <a:solidFill>
                  <a:srgbClr val="647282"/>
                </a:solidFill>
                <a:latin typeface="Arial"/>
              </a:defRPr>
            </a:pPr>
            <a:r>
              <a:t>03</a:t>
            </a:r>
          </a:p>
        </p:txBody>
      </p:sp>
      <p:pic>
        <p:nvPicPr>
          <p:cNvPr id="7" name="Picture 6" descr="energy_landscape.png"/>
          <p:cNvPicPr>
            <a:picLocks noChangeAspect="1"/>
          </p:cNvPicPr>
          <p:nvPr/>
        </p:nvPicPr>
        <p:blipFill>
          <a:blip r:embed="rId2"/>
          <a:stretch>
            <a:fillRect/>
          </a:stretch>
        </p:blipFill>
        <p:spPr>
          <a:xfrm>
            <a:off x="658368" y="2487168"/>
            <a:ext cx="7863840" cy="3054096"/>
          </a:xfrm>
          <a:prstGeom prst="rect">
            <a:avLst/>
          </a:prstGeom>
        </p:spPr>
      </p:pic>
      <p:sp>
        <p:nvSpPr>
          <p:cNvPr id="8" name="TextBox 7"/>
          <p:cNvSpPr txBox="1"/>
          <p:nvPr/>
        </p:nvSpPr>
        <p:spPr>
          <a:xfrm>
            <a:off x="694944" y="2240280"/>
            <a:ext cx="914400" cy="320040"/>
          </a:xfrm>
          <a:prstGeom prst="rect">
            <a:avLst/>
          </a:prstGeom>
          <a:noFill/>
        </p:spPr>
        <p:txBody>
          <a:bodyPr wrap="square" lIns="9144" rIns="9144" tIns="0" bIns="0">
            <a:spAutoFit/>
          </a:bodyPr>
          <a:lstStyle/>
          <a:p>
            <a:pPr algn="l">
              <a:spcAft>
                <a:spcPts val="500"/>
              </a:spcAft>
              <a:defRPr sz="1700" b="0">
                <a:solidFill>
                  <a:srgbClr val="647282"/>
                </a:solidFill>
                <a:latin typeface="Arial"/>
              </a:defRPr>
            </a:pPr>
            <a:r>
              <a:t>energy</a:t>
            </a:r>
          </a:p>
        </p:txBody>
      </p:sp>
      <p:sp>
        <p:nvSpPr>
          <p:cNvPr id="9" name="TextBox 8"/>
          <p:cNvSpPr txBox="1"/>
          <p:nvPr/>
        </p:nvSpPr>
        <p:spPr>
          <a:xfrm>
            <a:off x="2011680" y="2240280"/>
            <a:ext cx="1371600" cy="292608"/>
          </a:xfrm>
          <a:prstGeom prst="rect">
            <a:avLst/>
          </a:prstGeom>
          <a:noFill/>
        </p:spPr>
        <p:txBody>
          <a:bodyPr wrap="square" lIns="9144" rIns="9144" tIns="0" bIns="0">
            <a:spAutoFit/>
          </a:bodyPr>
          <a:lstStyle/>
          <a:p>
            <a:pPr algn="l">
              <a:spcAft>
                <a:spcPts val="500"/>
              </a:spcAft>
              <a:defRPr sz="1500" b="0">
                <a:solidFill>
                  <a:srgbClr val="647282"/>
                </a:solidFill>
                <a:latin typeface="Arial"/>
              </a:defRPr>
            </a:pPr>
            <a:r>
              <a:t>Anchor</a:t>
            </a:r>
          </a:p>
        </p:txBody>
      </p:sp>
      <p:sp>
        <p:nvSpPr>
          <p:cNvPr id="10" name="TextBox 9"/>
          <p:cNvSpPr txBox="1"/>
          <p:nvPr/>
        </p:nvSpPr>
        <p:spPr>
          <a:xfrm>
            <a:off x="3474720" y="2240280"/>
            <a:ext cx="2286000" cy="292608"/>
          </a:xfrm>
          <a:prstGeom prst="rect">
            <a:avLst/>
          </a:prstGeom>
          <a:noFill/>
        </p:spPr>
        <p:txBody>
          <a:bodyPr wrap="square" lIns="9144" rIns="9144" tIns="0" bIns="0">
            <a:spAutoFit/>
          </a:bodyPr>
          <a:lstStyle/>
          <a:p>
            <a:pPr algn="l">
              <a:spcAft>
                <a:spcPts val="500"/>
              </a:spcAft>
              <a:defRPr sz="1500" b="1">
                <a:solidFill>
                  <a:srgbClr val="087E80"/>
                </a:solidFill>
                <a:latin typeface="Arial"/>
              </a:defRPr>
            </a:pPr>
            <a:r>
              <a:t>Anchor + waves</a:t>
            </a:r>
          </a:p>
        </p:txBody>
      </p:sp>
      <p:sp>
        <p:nvSpPr>
          <p:cNvPr id="11" name="TextBox 10"/>
          <p:cNvSpPr txBox="1"/>
          <p:nvPr/>
        </p:nvSpPr>
        <p:spPr>
          <a:xfrm>
            <a:off x="3429000" y="5504688"/>
            <a:ext cx="2743200" cy="347472"/>
          </a:xfrm>
          <a:prstGeom prst="rect">
            <a:avLst/>
          </a:prstGeom>
          <a:noFill/>
        </p:spPr>
        <p:txBody>
          <a:bodyPr wrap="square" lIns="9144" rIns="9144" tIns="0" bIns="0">
            <a:spAutoFit/>
          </a:bodyPr>
          <a:lstStyle/>
          <a:p>
            <a:pPr algn="l">
              <a:spcAft>
                <a:spcPts val="500"/>
              </a:spcAft>
              <a:defRPr sz="1700" b="0">
                <a:solidFill>
                  <a:srgbClr val="647282"/>
                </a:solidFill>
                <a:latin typeface="Arial"/>
              </a:defRPr>
            </a:pPr>
            <a:r>
              <a:t>candidate state</a:t>
            </a:r>
          </a:p>
        </p:txBody>
      </p:sp>
      <p:sp>
        <p:nvSpPr>
          <p:cNvPr id="12" name="Rounded Rectangle 11"/>
          <p:cNvSpPr/>
          <p:nvPr/>
        </p:nvSpPr>
        <p:spPr>
          <a:xfrm>
            <a:off x="8732520" y="2423160"/>
            <a:ext cx="2834640" cy="3291840"/>
          </a:xfrm>
          <a:prstGeom prst="roundRect">
            <a:avLst>
              <a:gd name="adj" fmla="val 8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42832" y="2624328"/>
            <a:ext cx="2414016" cy="365760"/>
          </a:xfrm>
          <a:prstGeom prst="rect">
            <a:avLst/>
          </a:prstGeom>
          <a:noFill/>
        </p:spPr>
        <p:txBody>
          <a:bodyPr wrap="square" lIns="9144" rIns="9144" tIns="0" bIns="0">
            <a:spAutoFit/>
          </a:bodyPr>
          <a:lstStyle/>
          <a:p>
            <a:pPr algn="l">
              <a:spcAft>
                <a:spcPts val="500"/>
              </a:spcAft>
              <a:defRPr sz="1300" b="1">
                <a:solidFill>
                  <a:srgbClr val="087E80"/>
                </a:solidFill>
                <a:latin typeface="Arial"/>
              </a:defRPr>
            </a:pPr>
            <a:r>
              <a:t>THE LOOP</a:t>
            </a:r>
          </a:p>
        </p:txBody>
      </p:sp>
      <p:sp>
        <p:nvSpPr>
          <p:cNvPr id="14" name="TextBox 13"/>
          <p:cNvSpPr txBox="1"/>
          <p:nvPr/>
        </p:nvSpPr>
        <p:spPr>
          <a:xfrm>
            <a:off x="8942832" y="3154680"/>
            <a:ext cx="2414016" cy="731520"/>
          </a:xfrm>
          <a:prstGeom prst="rect">
            <a:avLst/>
          </a:prstGeom>
          <a:noFill/>
        </p:spPr>
        <p:txBody>
          <a:bodyPr wrap="square" lIns="9144" rIns="9144" tIns="0" bIns="0">
            <a:spAutoFit/>
          </a:bodyPr>
          <a:lstStyle/>
          <a:p>
            <a:pPr algn="l">
              <a:spcAft>
                <a:spcPts val="500"/>
              </a:spcAft>
              <a:defRPr sz="2600" b="1">
                <a:solidFill>
                  <a:srgbClr val="172C45"/>
                </a:solidFill>
                <a:latin typeface="Arial"/>
              </a:defRPr>
            </a:pPr>
            <a:r>
              <a:t>Guess → revise</a:t>
            </a:r>
          </a:p>
        </p:txBody>
      </p:sp>
      <p:sp>
        <p:nvSpPr>
          <p:cNvPr id="15" name="TextBox 14"/>
          <p:cNvSpPr txBox="1"/>
          <p:nvPr/>
        </p:nvSpPr>
        <p:spPr>
          <a:xfrm>
            <a:off x="8942832" y="3995928"/>
            <a:ext cx="2414016" cy="1600200"/>
          </a:xfrm>
          <a:prstGeom prst="rect">
            <a:avLst/>
          </a:prstGeom>
          <a:noFill/>
        </p:spPr>
        <p:txBody>
          <a:bodyPr wrap="square" lIns="9144" rIns="9144" tIns="0" bIns="0">
            <a:spAutoFit/>
          </a:bodyPr>
          <a:lstStyle/>
          <a:p>
            <a:pPr algn="l">
              <a:spcAft>
                <a:spcPts val="500"/>
              </a:spcAft>
              <a:defRPr sz="1800" b="0">
                <a:solidFill>
                  <a:srgbClr val="647282"/>
                </a:solidFill>
                <a:latin typeface="Arial"/>
              </a:defRPr>
            </a:pPr>
            <a:r>
              <a:t>Follow the slope.</a:t>
            </a:r>
          </a:p>
          <a:p>
            <a:pPr algn="l">
              <a:spcAft>
                <a:spcPts val="500"/>
              </a:spcAft>
              <a:defRPr sz="1800" b="0">
                <a:solidFill>
                  <a:srgbClr val="647282"/>
                </a:solidFill>
                <a:latin typeface="Arial"/>
              </a:defRPr>
            </a:pPr>
            <a:r>
              <a:t>Control the step size.</a:t>
            </a:r>
          </a:p>
          <a:p>
            <a:pPr algn="l">
              <a:spcAft>
                <a:spcPts val="500"/>
              </a:spcAft>
              <a:defRPr sz="1800" b="0">
                <a:solidFill>
                  <a:srgbClr val="647282"/>
                </a:solidFill>
                <a:latin typeface="Arial"/>
              </a:defRPr>
            </a:pPr>
            <a:r>
              <a:t>Keep weights fixed.</a:t>
            </a:r>
          </a:p>
        </p:txBody>
      </p:sp>
      <p:sp>
        <p:nvSpPr>
          <p:cNvPr id="16" name="TextBox 15"/>
          <p:cNvSpPr txBox="1"/>
          <p:nvPr/>
        </p:nvSpPr>
        <p:spPr>
          <a:xfrm>
            <a:off x="941832" y="6007608"/>
            <a:ext cx="10698480" cy="365760"/>
          </a:xfrm>
          <a:prstGeom prst="rect">
            <a:avLst/>
          </a:prstGeom>
          <a:noFill/>
        </p:spPr>
        <p:txBody>
          <a:bodyPr wrap="square" lIns="9144" rIns="9144" tIns="0" bIns="0">
            <a:spAutoFit/>
          </a:bodyPr>
          <a:lstStyle/>
          <a:p>
            <a:pPr algn="l">
              <a:spcAft>
                <a:spcPts val="500"/>
              </a:spcAft>
              <a:defRPr sz="1900" b="1">
                <a:solidFill>
                  <a:srgbClr val="D86A32"/>
                </a:solidFill>
                <a:latin typeface="Arial"/>
              </a:defRPr>
            </a:pPr>
            <a:r>
              <a:t>A lower local valley can still correspond to a wrong answer.</a:t>
            </a:r>
          </a:p>
        </p:txBody>
      </p:sp>
      <p:sp>
        <p:nvSpPr>
          <p:cNvPr id="17" name="TextBox 16"/>
          <p:cNvSpPr txBox="1"/>
          <p:nvPr/>
        </p:nvSpPr>
        <p:spPr>
          <a:xfrm>
            <a:off x="502920" y="6473952"/>
            <a:ext cx="10561320" cy="219456"/>
          </a:xfrm>
          <a:prstGeom prst="rect">
            <a:avLst/>
          </a:prstGeom>
          <a:noFill/>
        </p:spPr>
        <p:txBody>
          <a:bodyPr wrap="square" lIns="9144" rIns="9144" tIns="0" bIns="0">
            <a:spAutoFit/>
          </a:bodyPr>
          <a:lstStyle/>
          <a:p>
            <a:pPr algn="l">
              <a:spcAft>
                <a:spcPts val="500"/>
              </a:spcAft>
              <a:defRPr sz="1000" b="0">
                <a:solidFill>
                  <a:srgbClr val="647282"/>
                </a:solidFill>
                <a:latin typeface="Arial"/>
              </a:defRPr>
            </a:pPr>
            <a:r>
              <a:t>Illustrative landscape; the model state is high-dimensional. Background: Hoover et al., 2023.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Rectangle 1"/>
          <p:cNvSpPr/>
          <p:nvPr/>
        </p:nvSpPr>
        <p:spPr>
          <a:xfrm>
            <a:off x="502920" y="402336"/>
            <a:ext cx="347472" cy="64008"/>
          </a:xfrm>
          <a:prstGeom prst="rect">
            <a:avLst/>
          </a:prstGeom>
          <a:solidFill>
            <a:srgbClr val="087E80"/>
          </a:solidFill>
          <a:ln>
            <a:solidFill>
              <a:srgbClr val="087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50976" y="310896"/>
            <a:ext cx="10058400" cy="274320"/>
          </a:xfrm>
          <a:prstGeom prst="rect">
            <a:avLst/>
          </a:prstGeom>
          <a:noFill/>
        </p:spPr>
        <p:txBody>
          <a:bodyPr wrap="square" lIns="9144" rIns="9144" tIns="0" bIns="0">
            <a:spAutoFit/>
          </a:bodyPr>
          <a:lstStyle/>
          <a:p>
            <a:pPr algn="l">
              <a:spcAft>
                <a:spcPts val="500"/>
              </a:spcAft>
              <a:defRPr sz="1100" b="1">
                <a:solidFill>
                  <a:srgbClr val="087E80"/>
                </a:solidFill>
                <a:latin typeface="Arial"/>
              </a:defRPr>
            </a:pPr>
            <a:r>
              <a:t>Original proposal · joint energy</a:t>
            </a:r>
          </a:p>
        </p:txBody>
      </p:sp>
      <p:sp>
        <p:nvSpPr>
          <p:cNvPr id="4" name="TextBox 3"/>
          <p:cNvSpPr txBox="1"/>
          <p:nvPr/>
        </p:nvSpPr>
        <p:spPr>
          <a:xfrm>
            <a:off x="502920" y="841248"/>
            <a:ext cx="11155680" cy="841248"/>
          </a:xfrm>
          <a:prstGeom prst="rect">
            <a:avLst/>
          </a:prstGeom>
          <a:noFill/>
        </p:spPr>
        <p:txBody>
          <a:bodyPr wrap="square" lIns="9144" rIns="9144" tIns="0" bIns="0">
            <a:spAutoFit/>
          </a:bodyPr>
          <a:lstStyle/>
          <a:p>
            <a:pPr algn="l">
              <a:spcAft>
                <a:spcPts val="500"/>
              </a:spcAft>
              <a:defRPr sz="3200" b="1">
                <a:solidFill>
                  <a:srgbClr val="172C45"/>
                </a:solidFill>
                <a:latin typeface="Arial"/>
              </a:defRPr>
            </a:pPr>
            <a:r>
              <a:t>The original model couples a joint workspace</a:t>
            </a:r>
          </a:p>
        </p:txBody>
      </p:sp>
      <p:sp>
        <p:nvSpPr>
          <p:cNvPr id="5" name="TextBox 4"/>
          <p:cNvSpPr txBox="1"/>
          <p:nvPr/>
        </p:nvSpPr>
        <p:spPr>
          <a:xfrm>
            <a:off x="521207" y="1783080"/>
            <a:ext cx="11064240" cy="502920"/>
          </a:xfrm>
          <a:prstGeom prst="rect">
            <a:avLst/>
          </a:prstGeom>
          <a:noFill/>
        </p:spPr>
        <p:txBody>
          <a:bodyPr wrap="square" lIns="9144" rIns="9144" tIns="0" bIns="0">
            <a:spAutoFit/>
          </a:bodyPr>
          <a:lstStyle/>
          <a:p>
            <a:pPr algn="l">
              <a:spcAft>
                <a:spcPts val="500"/>
              </a:spcAft>
              <a:defRPr sz="1800" b="0">
                <a:solidFill>
                  <a:srgbClr val="647282"/>
                </a:solidFill>
                <a:latin typeface="Arial"/>
              </a:defRPr>
            </a:pPr>
            <a:r>
              <a:t>One scalar energy scores recurrent, attention, feedforward and output states.</a:t>
            </a:r>
          </a:p>
        </p:txBody>
      </p:sp>
      <p:sp>
        <p:nvSpPr>
          <p:cNvPr id="6" name="TextBox 5"/>
          <p:cNvSpPr txBox="1"/>
          <p:nvPr/>
        </p:nvSpPr>
        <p:spPr>
          <a:xfrm>
            <a:off x="11091672" y="6428232"/>
            <a:ext cx="548640" cy="274320"/>
          </a:xfrm>
          <a:prstGeom prst="rect">
            <a:avLst/>
          </a:prstGeom>
          <a:noFill/>
        </p:spPr>
        <p:txBody>
          <a:bodyPr wrap="square" lIns="9144" rIns="9144" tIns="0" bIns="0">
            <a:spAutoFit/>
          </a:bodyPr>
          <a:lstStyle/>
          <a:p>
            <a:pPr algn="r">
              <a:spcAft>
                <a:spcPts val="500"/>
              </a:spcAft>
              <a:defRPr sz="1100" b="0">
                <a:solidFill>
                  <a:srgbClr val="647282"/>
                </a:solidFill>
                <a:latin typeface="Arial"/>
              </a:defRPr>
            </a:pPr>
            <a:r>
              <a:t>04</a:t>
            </a:r>
          </a:p>
        </p:txBody>
      </p:sp>
      <p:sp>
        <p:nvSpPr>
          <p:cNvPr id="7" name="Rounded Rectangle 6"/>
          <p:cNvSpPr/>
          <p:nvPr/>
        </p:nvSpPr>
        <p:spPr>
          <a:xfrm>
            <a:off x="612648" y="2560320"/>
            <a:ext cx="2606040" cy="1234440"/>
          </a:xfrm>
          <a:prstGeom prst="roundRect">
            <a:avLst>
              <a:gd name="adj" fmla="val 8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2376" y="2752344"/>
            <a:ext cx="2386584" cy="365760"/>
          </a:xfrm>
          <a:prstGeom prst="rect">
            <a:avLst/>
          </a:prstGeom>
          <a:noFill/>
        </p:spPr>
        <p:txBody>
          <a:bodyPr wrap="square" lIns="9144" rIns="9144" tIns="0" bIns="0">
            <a:spAutoFit/>
          </a:bodyPr>
          <a:lstStyle/>
          <a:p>
            <a:pPr algn="ctr">
              <a:spcAft>
                <a:spcPts val="500"/>
              </a:spcAft>
              <a:defRPr sz="2200" b="1">
                <a:solidFill>
                  <a:srgbClr val="172C45"/>
                </a:solidFill>
                <a:latin typeface="Arial"/>
              </a:defRPr>
            </a:pPr>
            <a:r>
              <a:t>Recurrent</a:t>
            </a:r>
          </a:p>
        </p:txBody>
      </p:sp>
      <p:sp>
        <p:nvSpPr>
          <p:cNvPr id="9" name="TextBox 8"/>
          <p:cNvSpPr txBox="1"/>
          <p:nvPr/>
        </p:nvSpPr>
        <p:spPr>
          <a:xfrm>
            <a:off x="722376" y="3264408"/>
            <a:ext cx="2386584" cy="274320"/>
          </a:xfrm>
          <a:prstGeom prst="rect">
            <a:avLst/>
          </a:prstGeom>
          <a:noFill/>
        </p:spPr>
        <p:txBody>
          <a:bodyPr wrap="square" lIns="9144" rIns="9144" tIns="0" bIns="0">
            <a:spAutoFit/>
          </a:bodyPr>
          <a:lstStyle/>
          <a:p>
            <a:pPr algn="ctr">
              <a:spcAft>
                <a:spcPts val="500"/>
              </a:spcAft>
              <a:defRPr sz="1600" b="0">
                <a:solidFill>
                  <a:srgbClr val="647282"/>
                </a:solidFill>
                <a:latin typeface="Arial"/>
              </a:defRPr>
            </a:pPr>
            <a:r>
              <a:t>past context</a:t>
            </a:r>
          </a:p>
        </p:txBody>
      </p:sp>
      <p:cxnSp>
        <p:nvCxnSpPr>
          <p:cNvPr id="10" name="Connector 9"/>
          <p:cNvCxnSpPr/>
          <p:nvPr/>
        </p:nvCxnSpPr>
        <p:spPr>
          <a:xfrm>
            <a:off x="1915668" y="3803904"/>
            <a:ext cx="0" cy="539496"/>
          </a:xfrm>
          <a:prstGeom prst="line">
            <a:avLst/>
          </a:prstGeom>
          <a:ln w="25400">
            <a:solidFill>
              <a:srgbClr val="087E80"/>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520440" y="2560320"/>
            <a:ext cx="2606040" cy="1234440"/>
          </a:xfrm>
          <a:prstGeom prst="roundRect">
            <a:avLst>
              <a:gd name="adj" fmla="val 8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30168" y="2752344"/>
            <a:ext cx="2386584" cy="365760"/>
          </a:xfrm>
          <a:prstGeom prst="rect">
            <a:avLst/>
          </a:prstGeom>
          <a:noFill/>
        </p:spPr>
        <p:txBody>
          <a:bodyPr wrap="square" lIns="9144" rIns="9144" tIns="0" bIns="0">
            <a:spAutoFit/>
          </a:bodyPr>
          <a:lstStyle/>
          <a:p>
            <a:pPr algn="ctr">
              <a:spcAft>
                <a:spcPts val="500"/>
              </a:spcAft>
              <a:defRPr sz="2200" b="1">
                <a:solidFill>
                  <a:srgbClr val="172C45"/>
                </a:solidFill>
                <a:latin typeface="Arial"/>
              </a:defRPr>
            </a:pPr>
            <a:r>
              <a:t>Attention</a:t>
            </a:r>
          </a:p>
        </p:txBody>
      </p:sp>
      <p:sp>
        <p:nvSpPr>
          <p:cNvPr id="13" name="TextBox 12"/>
          <p:cNvSpPr txBox="1"/>
          <p:nvPr/>
        </p:nvSpPr>
        <p:spPr>
          <a:xfrm>
            <a:off x="3630168" y="3264408"/>
            <a:ext cx="2386584" cy="274320"/>
          </a:xfrm>
          <a:prstGeom prst="rect">
            <a:avLst/>
          </a:prstGeom>
          <a:noFill/>
        </p:spPr>
        <p:txBody>
          <a:bodyPr wrap="square" lIns="9144" rIns="9144" tIns="0" bIns="0">
            <a:spAutoFit/>
          </a:bodyPr>
          <a:lstStyle/>
          <a:p>
            <a:pPr algn="ctr">
              <a:spcAft>
                <a:spcPts val="500"/>
              </a:spcAft>
              <a:defRPr sz="1600" b="0">
                <a:solidFill>
                  <a:srgbClr val="647282"/>
                </a:solidFill>
                <a:latin typeface="Arial"/>
              </a:defRPr>
            </a:pPr>
            <a:r>
              <a:t>retrieved facts</a:t>
            </a:r>
          </a:p>
        </p:txBody>
      </p:sp>
      <p:cxnSp>
        <p:nvCxnSpPr>
          <p:cNvPr id="14" name="Connector 13"/>
          <p:cNvCxnSpPr/>
          <p:nvPr/>
        </p:nvCxnSpPr>
        <p:spPr>
          <a:xfrm>
            <a:off x="4823460" y="3803904"/>
            <a:ext cx="0" cy="539496"/>
          </a:xfrm>
          <a:prstGeom prst="line">
            <a:avLst/>
          </a:prstGeom>
          <a:ln w="25400">
            <a:solidFill>
              <a:srgbClr val="087E80"/>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428232" y="2560320"/>
            <a:ext cx="2606040" cy="1234440"/>
          </a:xfrm>
          <a:prstGeom prst="roundRect">
            <a:avLst>
              <a:gd name="adj" fmla="val 8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2752344"/>
            <a:ext cx="2386584" cy="365760"/>
          </a:xfrm>
          <a:prstGeom prst="rect">
            <a:avLst/>
          </a:prstGeom>
          <a:noFill/>
        </p:spPr>
        <p:txBody>
          <a:bodyPr wrap="square" lIns="9144" rIns="9144" tIns="0" bIns="0">
            <a:spAutoFit/>
          </a:bodyPr>
          <a:lstStyle/>
          <a:p>
            <a:pPr algn="ctr">
              <a:spcAft>
                <a:spcPts val="500"/>
              </a:spcAft>
              <a:defRPr sz="2200" b="1">
                <a:solidFill>
                  <a:srgbClr val="172C45"/>
                </a:solidFill>
                <a:latin typeface="Arial"/>
              </a:defRPr>
            </a:pPr>
            <a:r>
              <a:t>Feedforward</a:t>
            </a:r>
          </a:p>
        </p:txBody>
      </p:sp>
      <p:sp>
        <p:nvSpPr>
          <p:cNvPr id="17" name="TextBox 16"/>
          <p:cNvSpPr txBox="1"/>
          <p:nvPr/>
        </p:nvSpPr>
        <p:spPr>
          <a:xfrm>
            <a:off x="6537960" y="3264408"/>
            <a:ext cx="2386584" cy="274320"/>
          </a:xfrm>
          <a:prstGeom prst="rect">
            <a:avLst/>
          </a:prstGeom>
          <a:noFill/>
        </p:spPr>
        <p:txBody>
          <a:bodyPr wrap="square" lIns="9144" rIns="9144" tIns="0" bIns="0">
            <a:spAutoFit/>
          </a:bodyPr>
          <a:lstStyle/>
          <a:p>
            <a:pPr algn="ctr">
              <a:spcAft>
                <a:spcPts val="500"/>
              </a:spcAft>
              <a:defRPr sz="1600" b="0">
                <a:solidFill>
                  <a:srgbClr val="647282"/>
                </a:solidFill>
                <a:latin typeface="Arial"/>
              </a:defRPr>
            </a:pPr>
            <a:r>
              <a:t>local proposal</a:t>
            </a:r>
          </a:p>
        </p:txBody>
      </p:sp>
      <p:cxnSp>
        <p:nvCxnSpPr>
          <p:cNvPr id="18" name="Connector 17"/>
          <p:cNvCxnSpPr/>
          <p:nvPr/>
        </p:nvCxnSpPr>
        <p:spPr>
          <a:xfrm>
            <a:off x="7731252" y="3803904"/>
            <a:ext cx="0" cy="539496"/>
          </a:xfrm>
          <a:prstGeom prst="line">
            <a:avLst/>
          </a:prstGeom>
          <a:ln w="25400">
            <a:solidFill>
              <a:srgbClr val="087E80"/>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36024" y="2560320"/>
            <a:ext cx="2606040" cy="1234440"/>
          </a:xfrm>
          <a:prstGeom prst="roundRect">
            <a:avLst>
              <a:gd name="adj" fmla="val 8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45752" y="2752344"/>
            <a:ext cx="2386584" cy="365760"/>
          </a:xfrm>
          <a:prstGeom prst="rect">
            <a:avLst/>
          </a:prstGeom>
          <a:noFill/>
        </p:spPr>
        <p:txBody>
          <a:bodyPr wrap="square" lIns="9144" rIns="9144" tIns="0" bIns="0">
            <a:spAutoFit/>
          </a:bodyPr>
          <a:lstStyle/>
          <a:p>
            <a:pPr algn="ctr">
              <a:spcAft>
                <a:spcPts val="500"/>
              </a:spcAft>
              <a:defRPr sz="2200" b="1">
                <a:solidFill>
                  <a:srgbClr val="172C45"/>
                </a:solidFill>
                <a:latin typeface="Arial"/>
              </a:defRPr>
            </a:pPr>
            <a:r>
              <a:t>Output</a:t>
            </a:r>
          </a:p>
        </p:txBody>
      </p:sp>
      <p:sp>
        <p:nvSpPr>
          <p:cNvPr id="21" name="TextBox 20"/>
          <p:cNvSpPr txBox="1"/>
          <p:nvPr/>
        </p:nvSpPr>
        <p:spPr>
          <a:xfrm>
            <a:off x="9445752" y="3264408"/>
            <a:ext cx="2386584" cy="274320"/>
          </a:xfrm>
          <a:prstGeom prst="rect">
            <a:avLst/>
          </a:prstGeom>
          <a:noFill/>
        </p:spPr>
        <p:txBody>
          <a:bodyPr wrap="square" lIns="9144" rIns="9144" tIns="0" bIns="0">
            <a:spAutoFit/>
          </a:bodyPr>
          <a:lstStyle/>
          <a:p>
            <a:pPr algn="ctr">
              <a:spcAft>
                <a:spcPts val="500"/>
              </a:spcAft>
              <a:defRPr sz="1600" b="0">
                <a:solidFill>
                  <a:srgbClr val="647282"/>
                </a:solidFill>
                <a:latin typeface="Arial"/>
              </a:defRPr>
            </a:pPr>
            <a:r>
              <a:t>next-byte logits</a:t>
            </a:r>
          </a:p>
        </p:txBody>
      </p:sp>
      <p:cxnSp>
        <p:nvCxnSpPr>
          <p:cNvPr id="22" name="Connector 21"/>
          <p:cNvCxnSpPr/>
          <p:nvPr/>
        </p:nvCxnSpPr>
        <p:spPr>
          <a:xfrm>
            <a:off x="10639044" y="3803904"/>
            <a:ext cx="0" cy="539496"/>
          </a:xfrm>
          <a:prstGeom prst="line">
            <a:avLst/>
          </a:prstGeom>
          <a:ln w="25400">
            <a:solidFill>
              <a:srgbClr val="087E8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915668" y="4343400"/>
            <a:ext cx="8723376" cy="0"/>
          </a:xfrm>
          <a:prstGeom prst="line">
            <a:avLst/>
          </a:prstGeom>
          <a:ln w="25400">
            <a:solidFill>
              <a:srgbClr val="087E80"/>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1920240" y="4572000"/>
            <a:ext cx="8732520" cy="658368"/>
          </a:xfrm>
          <a:prstGeom prst="roundRect">
            <a:avLst>
              <a:gd name="adj" fmla="val 8000"/>
            </a:avLst>
          </a:prstGeom>
          <a:solidFill>
            <a:srgbClr val="087E80"/>
          </a:solidFill>
          <a:ln>
            <a:solidFill>
              <a:srgbClr val="087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039112" y="4745736"/>
            <a:ext cx="8494776" cy="347472"/>
          </a:xfrm>
          <a:prstGeom prst="rect">
            <a:avLst/>
          </a:prstGeom>
          <a:noFill/>
        </p:spPr>
        <p:txBody>
          <a:bodyPr wrap="square" lIns="9144" rIns="9144" tIns="0" bIns="0">
            <a:spAutoFit/>
          </a:bodyPr>
          <a:lstStyle/>
          <a:p>
            <a:pPr algn="ctr">
              <a:spcAft>
                <a:spcPts val="500"/>
              </a:spcAft>
              <a:defRPr sz="2200" b="1">
                <a:solidFill>
                  <a:srgbClr val="FFFFFF"/>
                </a:solidFill>
                <a:latin typeface="Arial"/>
              </a:defRPr>
            </a:pPr>
            <a:r>
              <a:t>Energy = stabilizing quadratic + learned cosine waves</a:t>
            </a:r>
          </a:p>
        </p:txBody>
      </p:sp>
      <p:sp>
        <p:nvSpPr>
          <p:cNvPr id="26" name="TextBox 25"/>
          <p:cNvSpPr txBox="1"/>
          <p:nvPr/>
        </p:nvSpPr>
        <p:spPr>
          <a:xfrm>
            <a:off x="777240" y="5669280"/>
            <a:ext cx="10652760" cy="640080"/>
          </a:xfrm>
          <a:prstGeom prst="rect">
            <a:avLst/>
          </a:prstGeom>
          <a:noFill/>
        </p:spPr>
        <p:txBody>
          <a:bodyPr wrap="square" lIns="9144" rIns="9144" tIns="0" bIns="0">
            <a:spAutoFit/>
          </a:bodyPr>
          <a:lstStyle/>
          <a:p>
            <a:pPr algn="l">
              <a:spcAft>
                <a:spcPts val="500"/>
              </a:spcAft>
              <a:defRPr sz="2000" b="0">
                <a:solidFill>
                  <a:srgbClr val="172C45"/>
                </a:solidFill>
                <a:latin typeface="Arial"/>
              </a:defRPr>
            </a:pPr>
            <a:r>
              <a:t>Current streaming models instead use a conventional backbone plus a final latent-energy head.</a:t>
            </a:r>
          </a:p>
        </p:txBody>
      </p:sp>
      <p:sp>
        <p:nvSpPr>
          <p:cNvPr id="27" name="TextBox 26"/>
          <p:cNvSpPr txBox="1"/>
          <p:nvPr/>
        </p:nvSpPr>
        <p:spPr>
          <a:xfrm>
            <a:off x="502920" y="6473952"/>
            <a:ext cx="10561320" cy="219456"/>
          </a:xfrm>
          <a:prstGeom prst="rect">
            <a:avLst/>
          </a:prstGeom>
          <a:noFill/>
        </p:spPr>
        <p:txBody>
          <a:bodyPr wrap="square" lIns="9144" rIns="9144" tIns="0" bIns="0">
            <a:spAutoFit/>
          </a:bodyPr>
          <a:lstStyle/>
          <a:p>
            <a:pPr algn="l">
              <a:spcAft>
                <a:spcPts val="500"/>
              </a:spcAft>
              <a:defRPr sz="1000" b="0">
                <a:solidFill>
                  <a:srgbClr val="647282"/>
                </a:solidFill>
                <a:latin typeface="Arial"/>
              </a:defRPr>
            </a:pPr>
            <a:r>
              <a:t>These are distinct architectures. The 1.784B conversion is not a fully joint energy transformer.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Rectangle 1"/>
          <p:cNvSpPr/>
          <p:nvPr/>
        </p:nvSpPr>
        <p:spPr>
          <a:xfrm>
            <a:off x="502920" y="402336"/>
            <a:ext cx="347472" cy="64008"/>
          </a:xfrm>
          <a:prstGeom prst="rect">
            <a:avLst/>
          </a:prstGeom>
          <a:solidFill>
            <a:srgbClr val="087E80"/>
          </a:solidFill>
          <a:ln>
            <a:solidFill>
              <a:srgbClr val="087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50976" y="310896"/>
            <a:ext cx="10058400" cy="274320"/>
          </a:xfrm>
          <a:prstGeom prst="rect">
            <a:avLst/>
          </a:prstGeom>
          <a:noFill/>
        </p:spPr>
        <p:txBody>
          <a:bodyPr wrap="square" lIns="9144" rIns="9144" tIns="0" bIns="0">
            <a:spAutoFit/>
          </a:bodyPr>
          <a:lstStyle/>
          <a:p>
            <a:pPr algn="l">
              <a:spcAft>
                <a:spcPts val="500"/>
              </a:spcAft>
              <a:defRPr sz="1100" b="1">
                <a:solidFill>
                  <a:srgbClr val="087E80"/>
                </a:solidFill>
                <a:latin typeface="Arial"/>
              </a:defRPr>
            </a:pPr>
            <a:r>
              <a:t>LEARNING</a:t>
            </a:r>
          </a:p>
        </p:txBody>
      </p:sp>
      <p:sp>
        <p:nvSpPr>
          <p:cNvPr id="4" name="TextBox 3"/>
          <p:cNvSpPr txBox="1"/>
          <p:nvPr/>
        </p:nvSpPr>
        <p:spPr>
          <a:xfrm>
            <a:off x="502920" y="841248"/>
            <a:ext cx="11155680" cy="841248"/>
          </a:xfrm>
          <a:prstGeom prst="rect">
            <a:avLst/>
          </a:prstGeom>
          <a:noFill/>
        </p:spPr>
        <p:txBody>
          <a:bodyPr wrap="square" lIns="9144" rIns="9144" tIns="0" bIns="0">
            <a:spAutoFit/>
          </a:bodyPr>
          <a:lstStyle/>
          <a:p>
            <a:pPr algn="l">
              <a:spcAft>
                <a:spcPts val="500"/>
              </a:spcAft>
              <a:defRPr sz="3200" b="1">
                <a:solidFill>
                  <a:srgbClr val="172C45"/>
                </a:solidFill>
                <a:latin typeface="Arial"/>
              </a:defRPr>
            </a:pPr>
            <a:r>
              <a:t>Training shapes the landscape. Inference moves the state.</a:t>
            </a:r>
          </a:p>
        </p:txBody>
      </p:sp>
      <p:sp>
        <p:nvSpPr>
          <p:cNvPr id="5" name="TextBox 4"/>
          <p:cNvSpPr txBox="1"/>
          <p:nvPr/>
        </p:nvSpPr>
        <p:spPr>
          <a:xfrm>
            <a:off x="11091672" y="6428232"/>
            <a:ext cx="548640" cy="274320"/>
          </a:xfrm>
          <a:prstGeom prst="rect">
            <a:avLst/>
          </a:prstGeom>
          <a:noFill/>
        </p:spPr>
        <p:txBody>
          <a:bodyPr wrap="square" lIns="9144" rIns="9144" tIns="0" bIns="0">
            <a:spAutoFit/>
          </a:bodyPr>
          <a:lstStyle/>
          <a:p>
            <a:pPr algn="r">
              <a:spcAft>
                <a:spcPts val="500"/>
              </a:spcAft>
              <a:defRPr sz="1100" b="0">
                <a:solidFill>
                  <a:srgbClr val="647282"/>
                </a:solidFill>
                <a:latin typeface="Arial"/>
              </a:defRPr>
            </a:pPr>
            <a:r>
              <a:t>05</a:t>
            </a:r>
          </a:p>
        </p:txBody>
      </p:sp>
      <p:sp>
        <p:nvSpPr>
          <p:cNvPr id="6" name="Rounded Rectangle 5"/>
          <p:cNvSpPr/>
          <p:nvPr/>
        </p:nvSpPr>
        <p:spPr>
          <a:xfrm>
            <a:off x="685800" y="2331720"/>
            <a:ext cx="5212080" cy="3154680"/>
          </a:xfrm>
          <a:prstGeom prst="roundRect">
            <a:avLst>
              <a:gd name="adj" fmla="val 8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2532888"/>
            <a:ext cx="4791456" cy="365760"/>
          </a:xfrm>
          <a:prstGeom prst="rect">
            <a:avLst/>
          </a:prstGeom>
          <a:noFill/>
        </p:spPr>
        <p:txBody>
          <a:bodyPr wrap="square" lIns="9144" rIns="9144" tIns="0" bIns="0">
            <a:spAutoFit/>
          </a:bodyPr>
          <a:lstStyle/>
          <a:p>
            <a:pPr algn="l">
              <a:spcAft>
                <a:spcPts val="500"/>
              </a:spcAft>
              <a:defRPr sz="1300" b="1">
                <a:solidFill>
                  <a:srgbClr val="087E80"/>
                </a:solidFill>
                <a:latin typeface="Arial"/>
              </a:defRPr>
            </a:pPr>
            <a:r>
              <a:t>TRAINING</a:t>
            </a:r>
          </a:p>
        </p:txBody>
      </p:sp>
      <p:sp>
        <p:nvSpPr>
          <p:cNvPr id="8" name="TextBox 7"/>
          <p:cNvSpPr txBox="1"/>
          <p:nvPr/>
        </p:nvSpPr>
        <p:spPr>
          <a:xfrm>
            <a:off x="896112" y="3063239"/>
            <a:ext cx="4791456" cy="731520"/>
          </a:xfrm>
          <a:prstGeom prst="rect">
            <a:avLst/>
          </a:prstGeom>
          <a:noFill/>
        </p:spPr>
        <p:txBody>
          <a:bodyPr wrap="square" lIns="9144" rIns="9144" tIns="0" bIns="0">
            <a:spAutoFit/>
          </a:bodyPr>
          <a:lstStyle/>
          <a:p>
            <a:pPr algn="l">
              <a:spcAft>
                <a:spcPts val="500"/>
              </a:spcAft>
              <a:defRPr sz="2600" b="1">
                <a:solidFill>
                  <a:srgbClr val="172C45"/>
                </a:solidFill>
                <a:latin typeface="Arial"/>
              </a:defRPr>
            </a:pPr>
            <a:r>
              <a:t>Change parameters θ</a:t>
            </a:r>
          </a:p>
        </p:txBody>
      </p:sp>
      <p:sp>
        <p:nvSpPr>
          <p:cNvPr id="9" name="TextBox 8"/>
          <p:cNvSpPr txBox="1"/>
          <p:nvPr/>
        </p:nvSpPr>
        <p:spPr>
          <a:xfrm>
            <a:off x="896112" y="3904487"/>
            <a:ext cx="4791456" cy="1463040"/>
          </a:xfrm>
          <a:prstGeom prst="rect">
            <a:avLst/>
          </a:prstGeom>
          <a:noFill/>
        </p:spPr>
        <p:txBody>
          <a:bodyPr wrap="square" lIns="9144" rIns="9144" tIns="0" bIns="0">
            <a:spAutoFit/>
          </a:bodyPr>
          <a:lstStyle/>
          <a:p>
            <a:pPr algn="l">
              <a:spcAft>
                <a:spcPts val="500"/>
              </a:spcAft>
              <a:defRPr sz="1800" b="0">
                <a:solidFill>
                  <a:srgbClr val="647282"/>
                </a:solidFill>
                <a:latin typeface="Arial"/>
              </a:defRPr>
            </a:pPr>
            <a:r>
              <a:t>Use labels or donor logits.</a:t>
            </a:r>
          </a:p>
          <a:p>
            <a:pPr algn="l">
              <a:spcAft>
                <a:spcPts val="500"/>
              </a:spcAft>
              <a:defRPr sz="1800" b="0">
                <a:solidFill>
                  <a:srgbClr val="647282"/>
                </a:solidFill>
                <a:latin typeface="Arial"/>
              </a:defRPr>
            </a:pPr>
            <a:r>
              <a:t>Differentiate through refinement.</a:t>
            </a:r>
          </a:p>
          <a:p>
            <a:pPr algn="l">
              <a:spcAft>
                <a:spcPts val="500"/>
              </a:spcAft>
              <a:defRPr sz="1800" b="0">
                <a:solidFill>
                  <a:srgbClr val="647282"/>
                </a:solidFill>
                <a:latin typeface="Arial"/>
              </a:defRPr>
            </a:pPr>
            <a:r>
              <a:t>Update trainable weights.</a:t>
            </a:r>
          </a:p>
        </p:txBody>
      </p:sp>
      <p:sp>
        <p:nvSpPr>
          <p:cNvPr id="10" name="Rounded Rectangle 9"/>
          <p:cNvSpPr/>
          <p:nvPr/>
        </p:nvSpPr>
        <p:spPr>
          <a:xfrm>
            <a:off x="6263640" y="2331720"/>
            <a:ext cx="5212080" cy="3154680"/>
          </a:xfrm>
          <a:prstGeom prst="roundRect">
            <a:avLst>
              <a:gd name="adj" fmla="val 8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2532888"/>
            <a:ext cx="4791456" cy="365760"/>
          </a:xfrm>
          <a:prstGeom prst="rect">
            <a:avLst/>
          </a:prstGeom>
          <a:noFill/>
        </p:spPr>
        <p:txBody>
          <a:bodyPr wrap="square" lIns="9144" rIns="9144" tIns="0" bIns="0">
            <a:spAutoFit/>
          </a:bodyPr>
          <a:lstStyle/>
          <a:p>
            <a:pPr algn="l">
              <a:spcAft>
                <a:spcPts val="500"/>
              </a:spcAft>
              <a:defRPr sz="1300" b="1">
                <a:solidFill>
                  <a:srgbClr val="D86A32"/>
                </a:solidFill>
                <a:latin typeface="Arial"/>
              </a:defRPr>
            </a:pPr>
            <a:r>
              <a:t>INFERENCE</a:t>
            </a:r>
          </a:p>
        </p:txBody>
      </p:sp>
      <p:sp>
        <p:nvSpPr>
          <p:cNvPr id="12" name="TextBox 11"/>
          <p:cNvSpPr txBox="1"/>
          <p:nvPr/>
        </p:nvSpPr>
        <p:spPr>
          <a:xfrm>
            <a:off x="6473952" y="3063239"/>
            <a:ext cx="4791456" cy="731520"/>
          </a:xfrm>
          <a:prstGeom prst="rect">
            <a:avLst/>
          </a:prstGeom>
          <a:noFill/>
        </p:spPr>
        <p:txBody>
          <a:bodyPr wrap="square" lIns="9144" rIns="9144" tIns="0" bIns="0">
            <a:spAutoFit/>
          </a:bodyPr>
          <a:lstStyle/>
          <a:p>
            <a:pPr algn="l">
              <a:spcAft>
                <a:spcPts val="500"/>
              </a:spcAft>
              <a:defRPr sz="2600" b="1">
                <a:solidFill>
                  <a:srgbClr val="172C45"/>
                </a:solidFill>
                <a:latin typeface="Arial"/>
              </a:defRPr>
            </a:pPr>
            <a:r>
              <a:t>Change candidate state s</a:t>
            </a:r>
          </a:p>
        </p:txBody>
      </p:sp>
      <p:sp>
        <p:nvSpPr>
          <p:cNvPr id="13" name="TextBox 12"/>
          <p:cNvSpPr txBox="1"/>
          <p:nvPr/>
        </p:nvSpPr>
        <p:spPr>
          <a:xfrm>
            <a:off x="6473952" y="3904487"/>
            <a:ext cx="4791456" cy="1463040"/>
          </a:xfrm>
          <a:prstGeom prst="rect">
            <a:avLst/>
          </a:prstGeom>
          <a:noFill/>
        </p:spPr>
        <p:txBody>
          <a:bodyPr wrap="square" lIns="9144" rIns="9144" tIns="0" bIns="0">
            <a:spAutoFit/>
          </a:bodyPr>
          <a:lstStyle/>
          <a:p>
            <a:pPr algn="l">
              <a:spcAft>
                <a:spcPts val="500"/>
              </a:spcAft>
              <a:defRPr sz="1800" b="0">
                <a:solidFill>
                  <a:srgbClr val="647282"/>
                </a:solidFill>
                <a:latin typeface="Arial"/>
              </a:defRPr>
            </a:pPr>
            <a:r>
              <a:t>Read the supplied context.</a:t>
            </a:r>
          </a:p>
          <a:p>
            <a:pPr algn="l">
              <a:spcAft>
                <a:spcPts val="500"/>
              </a:spcAft>
              <a:defRPr sz="1800" b="0">
                <a:solidFill>
                  <a:srgbClr val="647282"/>
                </a:solidFill>
                <a:latin typeface="Arial"/>
              </a:defRPr>
            </a:pPr>
            <a:r>
              <a:t>Take controlled state updates.</a:t>
            </a:r>
          </a:p>
          <a:p>
            <a:pPr algn="l">
              <a:spcAft>
                <a:spcPts val="500"/>
              </a:spcAft>
              <a:defRPr sz="1800" b="0">
                <a:solidFill>
                  <a:srgbClr val="647282"/>
                </a:solidFill>
                <a:latin typeface="Arial"/>
              </a:defRPr>
            </a:pPr>
            <a:r>
              <a:t>Keep learned weights fixed.</a:t>
            </a:r>
          </a:p>
        </p:txBody>
      </p:sp>
      <p:sp>
        <p:nvSpPr>
          <p:cNvPr id="14" name="TextBox 13"/>
          <p:cNvSpPr txBox="1"/>
          <p:nvPr/>
        </p:nvSpPr>
        <p:spPr>
          <a:xfrm>
            <a:off x="2743200" y="5715000"/>
            <a:ext cx="6766560" cy="548640"/>
          </a:xfrm>
          <a:prstGeom prst="rect">
            <a:avLst/>
          </a:prstGeom>
          <a:noFill/>
        </p:spPr>
        <p:txBody>
          <a:bodyPr wrap="square" lIns="9144" rIns="9144" tIns="0" bIns="0">
            <a:spAutoFit/>
          </a:bodyPr>
          <a:lstStyle/>
          <a:p>
            <a:pPr algn="ctr">
              <a:spcAft>
                <a:spcPts val="500"/>
              </a:spcAft>
              <a:defRPr sz="2900" b="1">
                <a:solidFill>
                  <a:srgbClr val="172C45"/>
                </a:solidFill>
                <a:latin typeface="Arial"/>
              </a:defRPr>
            </a:pPr>
            <a:r>
              <a:t>s ← s − η ∇Eθ(context, s)</a:t>
            </a:r>
          </a:p>
        </p:txBody>
      </p:sp>
      <p:sp>
        <p:nvSpPr>
          <p:cNvPr id="15" name="TextBox 14"/>
          <p:cNvSpPr txBox="1"/>
          <p:nvPr/>
        </p:nvSpPr>
        <p:spPr>
          <a:xfrm>
            <a:off x="502920" y="6473952"/>
            <a:ext cx="10561320" cy="219456"/>
          </a:xfrm>
          <a:prstGeom prst="rect">
            <a:avLst/>
          </a:prstGeom>
          <a:noFill/>
        </p:spPr>
        <p:txBody>
          <a:bodyPr wrap="square" lIns="9144" rIns="9144" tIns="0" bIns="0">
            <a:spAutoFit/>
          </a:bodyPr>
          <a:lstStyle/>
          <a:p>
            <a:pPr algn="l">
              <a:spcAft>
                <a:spcPts val="500"/>
              </a:spcAft>
              <a:defRPr sz="1000" b="0">
                <a:solidFill>
                  <a:srgbClr val="647282"/>
                </a:solidFill>
                <a:latin typeface="Arial"/>
              </a:defRPr>
            </a:pPr>
            <a:r>
              <a:t>State optimization and parameter optimization are separate. Fixed-weight and analytic-gradient checks are automated.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Rectangle 1"/>
          <p:cNvSpPr/>
          <p:nvPr/>
        </p:nvSpPr>
        <p:spPr>
          <a:xfrm>
            <a:off x="502920" y="402336"/>
            <a:ext cx="347472" cy="64008"/>
          </a:xfrm>
          <a:prstGeom prst="rect">
            <a:avLst/>
          </a:prstGeom>
          <a:solidFill>
            <a:srgbClr val="087E80"/>
          </a:solidFill>
          <a:ln>
            <a:solidFill>
              <a:srgbClr val="087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50976" y="310896"/>
            <a:ext cx="10058400" cy="274320"/>
          </a:xfrm>
          <a:prstGeom prst="rect">
            <a:avLst/>
          </a:prstGeom>
          <a:noFill/>
        </p:spPr>
        <p:txBody>
          <a:bodyPr wrap="square" lIns="9144" rIns="9144" tIns="0" bIns="0">
            <a:spAutoFit/>
          </a:bodyPr>
          <a:lstStyle/>
          <a:p>
            <a:pPr algn="l">
              <a:spcAft>
                <a:spcPts val="500"/>
              </a:spcAft>
              <a:defRPr sz="1100" b="1">
                <a:solidFill>
                  <a:srgbClr val="087E80"/>
                </a:solidFill>
                <a:latin typeface="Arial"/>
              </a:defRPr>
            </a:pPr>
            <a:r>
              <a:t>EVALUATION</a:t>
            </a:r>
          </a:p>
        </p:txBody>
      </p:sp>
      <p:sp>
        <p:nvSpPr>
          <p:cNvPr id="4" name="TextBox 3"/>
          <p:cNvSpPr txBox="1"/>
          <p:nvPr/>
        </p:nvSpPr>
        <p:spPr>
          <a:xfrm>
            <a:off x="502920" y="841248"/>
            <a:ext cx="11155680" cy="841248"/>
          </a:xfrm>
          <a:prstGeom prst="rect">
            <a:avLst/>
          </a:prstGeom>
          <a:noFill/>
        </p:spPr>
        <p:txBody>
          <a:bodyPr wrap="square" lIns="9144" rIns="9144" tIns="0" bIns="0">
            <a:spAutoFit/>
          </a:bodyPr>
          <a:lstStyle/>
          <a:p>
            <a:pPr algn="l">
              <a:spcAft>
                <a:spcPts val="500"/>
              </a:spcAft>
              <a:defRPr sz="3200" b="1">
                <a:solidFill>
                  <a:srgbClr val="172C45"/>
                </a:solidFill>
                <a:latin typeface="Arial"/>
              </a:defRPr>
            </a:pPr>
            <a:r>
              <a:t>Three questions need three different measurements</a:t>
            </a:r>
          </a:p>
        </p:txBody>
      </p:sp>
      <p:sp>
        <p:nvSpPr>
          <p:cNvPr id="5" name="TextBox 4"/>
          <p:cNvSpPr txBox="1"/>
          <p:nvPr/>
        </p:nvSpPr>
        <p:spPr>
          <a:xfrm>
            <a:off x="11091672" y="6428232"/>
            <a:ext cx="548640" cy="274320"/>
          </a:xfrm>
          <a:prstGeom prst="rect">
            <a:avLst/>
          </a:prstGeom>
          <a:noFill/>
        </p:spPr>
        <p:txBody>
          <a:bodyPr wrap="square" lIns="9144" rIns="9144" tIns="0" bIns="0">
            <a:spAutoFit/>
          </a:bodyPr>
          <a:lstStyle/>
          <a:p>
            <a:pPr algn="r">
              <a:spcAft>
                <a:spcPts val="500"/>
              </a:spcAft>
              <a:defRPr sz="1100" b="0">
                <a:solidFill>
                  <a:srgbClr val="647282"/>
                </a:solidFill>
                <a:latin typeface="Arial"/>
              </a:defRPr>
            </a:pPr>
            <a:r>
              <a:t>06</a:t>
            </a:r>
          </a:p>
        </p:txBody>
      </p:sp>
      <p:sp>
        <p:nvSpPr>
          <p:cNvPr id="6" name="Rounded Rectangle 5"/>
          <p:cNvSpPr/>
          <p:nvPr/>
        </p:nvSpPr>
        <p:spPr>
          <a:xfrm>
            <a:off x="640080" y="2377440"/>
            <a:ext cx="3474720" cy="2971800"/>
          </a:xfrm>
          <a:prstGeom prst="roundRect">
            <a:avLst>
              <a:gd name="adj" fmla="val 8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2578608"/>
            <a:ext cx="3054096" cy="365760"/>
          </a:xfrm>
          <a:prstGeom prst="rect">
            <a:avLst/>
          </a:prstGeom>
          <a:noFill/>
        </p:spPr>
        <p:txBody>
          <a:bodyPr wrap="square" lIns="9144" rIns="9144" tIns="0" bIns="0">
            <a:spAutoFit/>
          </a:bodyPr>
          <a:lstStyle/>
          <a:p>
            <a:pPr algn="l">
              <a:spcAft>
                <a:spcPts val="500"/>
              </a:spcAft>
              <a:defRPr sz="1300" b="1">
                <a:solidFill>
                  <a:srgbClr val="087E80"/>
                </a:solidFill>
                <a:latin typeface="Arial"/>
              </a:defRPr>
            </a:pPr>
            <a:r>
              <a:t>01 · NUMERICS</a:t>
            </a:r>
          </a:p>
        </p:txBody>
      </p:sp>
      <p:sp>
        <p:nvSpPr>
          <p:cNvPr id="8" name="TextBox 7"/>
          <p:cNvSpPr txBox="1"/>
          <p:nvPr/>
        </p:nvSpPr>
        <p:spPr>
          <a:xfrm>
            <a:off x="850392" y="3108960"/>
            <a:ext cx="3054096" cy="731520"/>
          </a:xfrm>
          <a:prstGeom prst="rect">
            <a:avLst/>
          </a:prstGeom>
          <a:noFill/>
        </p:spPr>
        <p:txBody>
          <a:bodyPr wrap="square" lIns="9144" rIns="9144" tIns="0" bIns="0">
            <a:spAutoFit/>
          </a:bodyPr>
          <a:lstStyle/>
          <a:p>
            <a:pPr algn="l">
              <a:spcAft>
                <a:spcPts val="500"/>
              </a:spcAft>
              <a:defRPr sz="2600" b="1">
                <a:solidFill>
                  <a:srgbClr val="172C45"/>
                </a:solidFill>
                <a:latin typeface="Arial"/>
              </a:defRPr>
            </a:pPr>
            <a:r>
              <a:t>Does energy fall?</a:t>
            </a:r>
          </a:p>
        </p:txBody>
      </p:sp>
      <p:sp>
        <p:nvSpPr>
          <p:cNvPr id="9" name="TextBox 8"/>
          <p:cNvSpPr txBox="1"/>
          <p:nvPr/>
        </p:nvSpPr>
        <p:spPr>
          <a:xfrm>
            <a:off x="850392" y="3950208"/>
            <a:ext cx="3054096" cy="1280160"/>
          </a:xfrm>
          <a:prstGeom prst="rect">
            <a:avLst/>
          </a:prstGeom>
          <a:noFill/>
        </p:spPr>
        <p:txBody>
          <a:bodyPr wrap="square" lIns="9144" rIns="9144" tIns="0" bIns="0">
            <a:spAutoFit/>
          </a:bodyPr>
          <a:lstStyle/>
          <a:p>
            <a:pPr algn="l">
              <a:spcAft>
                <a:spcPts val="500"/>
              </a:spcAft>
              <a:defRPr sz="1800" b="0">
                <a:solidFill>
                  <a:srgbClr val="647282"/>
                </a:solidFill>
                <a:latin typeface="Arial"/>
              </a:defRPr>
            </a:pPr>
            <a:r>
              <a:t>Check state updates and</a:t>
            </a:r>
          </a:p>
          <a:p>
            <a:pPr algn="l">
              <a:spcAft>
                <a:spcPts val="500"/>
              </a:spcAft>
              <a:defRPr sz="1800" b="0">
                <a:solidFill>
                  <a:srgbClr val="647282"/>
                </a:solidFill>
                <a:latin typeface="Arial"/>
              </a:defRPr>
            </a:pPr>
            <a:r>
              <a:t>analytic gradients.</a:t>
            </a:r>
          </a:p>
        </p:txBody>
      </p:sp>
      <p:sp>
        <p:nvSpPr>
          <p:cNvPr id="10" name="Rounded Rectangle 9"/>
          <p:cNvSpPr/>
          <p:nvPr/>
        </p:nvSpPr>
        <p:spPr>
          <a:xfrm>
            <a:off x="4361688" y="2377440"/>
            <a:ext cx="3474720" cy="2971800"/>
          </a:xfrm>
          <a:prstGeom prst="roundRect">
            <a:avLst>
              <a:gd name="adj" fmla="val 8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2578608"/>
            <a:ext cx="3054096" cy="365760"/>
          </a:xfrm>
          <a:prstGeom prst="rect">
            <a:avLst/>
          </a:prstGeom>
          <a:noFill/>
        </p:spPr>
        <p:txBody>
          <a:bodyPr wrap="square" lIns="9144" rIns="9144" tIns="0" bIns="0">
            <a:spAutoFit/>
          </a:bodyPr>
          <a:lstStyle/>
          <a:p>
            <a:pPr algn="l">
              <a:spcAft>
                <a:spcPts val="500"/>
              </a:spcAft>
              <a:defRPr sz="1300" b="1">
                <a:solidFill>
                  <a:srgbClr val="087E80"/>
                </a:solidFill>
                <a:latin typeface="Arial"/>
              </a:defRPr>
            </a:pPr>
            <a:r>
              <a:t>02 · QUALITY</a:t>
            </a:r>
          </a:p>
        </p:txBody>
      </p:sp>
      <p:sp>
        <p:nvSpPr>
          <p:cNvPr id="12" name="TextBox 11"/>
          <p:cNvSpPr txBox="1"/>
          <p:nvPr/>
        </p:nvSpPr>
        <p:spPr>
          <a:xfrm>
            <a:off x="4572000" y="3108960"/>
            <a:ext cx="3054096" cy="731520"/>
          </a:xfrm>
          <a:prstGeom prst="rect">
            <a:avLst/>
          </a:prstGeom>
          <a:noFill/>
        </p:spPr>
        <p:txBody>
          <a:bodyPr wrap="square" lIns="9144" rIns="9144" tIns="0" bIns="0">
            <a:spAutoFit/>
          </a:bodyPr>
          <a:lstStyle/>
          <a:p>
            <a:pPr algn="l">
              <a:spcAft>
                <a:spcPts val="500"/>
              </a:spcAft>
              <a:defRPr sz="2600" b="1">
                <a:solidFill>
                  <a:srgbClr val="172C45"/>
                </a:solidFill>
                <a:latin typeface="Arial"/>
              </a:defRPr>
            </a:pPr>
            <a:r>
              <a:t>Is the answer right?</a:t>
            </a:r>
          </a:p>
        </p:txBody>
      </p:sp>
      <p:sp>
        <p:nvSpPr>
          <p:cNvPr id="13" name="TextBox 12"/>
          <p:cNvSpPr txBox="1"/>
          <p:nvPr/>
        </p:nvSpPr>
        <p:spPr>
          <a:xfrm>
            <a:off x="4572000" y="3950208"/>
            <a:ext cx="3054096" cy="1280160"/>
          </a:xfrm>
          <a:prstGeom prst="rect">
            <a:avLst/>
          </a:prstGeom>
          <a:noFill/>
        </p:spPr>
        <p:txBody>
          <a:bodyPr wrap="square" lIns="9144" rIns="9144" tIns="0" bIns="0">
            <a:spAutoFit/>
          </a:bodyPr>
          <a:lstStyle/>
          <a:p>
            <a:pPr algn="l">
              <a:spcAft>
                <a:spcPts val="500"/>
              </a:spcAft>
              <a:defRPr sz="1800" b="0">
                <a:solidFill>
                  <a:srgbClr val="647282"/>
                </a:solidFill>
                <a:latin typeface="Arial"/>
              </a:defRPr>
            </a:pPr>
            <a:r>
              <a:t>Score generated answers,</a:t>
            </a:r>
          </a:p>
          <a:p>
            <a:pPr algn="l">
              <a:spcAft>
                <a:spcPts val="500"/>
              </a:spcAft>
              <a:defRPr sz="1800" b="0">
                <a:solidFill>
                  <a:srgbClr val="647282"/>
                </a:solidFill>
                <a:latin typeface="Arial"/>
              </a:defRPr>
            </a:pPr>
            <a:r>
              <a:t>recall and format separately.</a:t>
            </a:r>
          </a:p>
        </p:txBody>
      </p:sp>
      <p:sp>
        <p:nvSpPr>
          <p:cNvPr id="14" name="Rounded Rectangle 13"/>
          <p:cNvSpPr/>
          <p:nvPr/>
        </p:nvSpPr>
        <p:spPr>
          <a:xfrm>
            <a:off x="8083296" y="2377440"/>
            <a:ext cx="3474720" cy="2971800"/>
          </a:xfrm>
          <a:prstGeom prst="roundRect">
            <a:avLst>
              <a:gd name="adj" fmla="val 8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93608" y="2578608"/>
            <a:ext cx="3054096" cy="365760"/>
          </a:xfrm>
          <a:prstGeom prst="rect">
            <a:avLst/>
          </a:prstGeom>
          <a:noFill/>
        </p:spPr>
        <p:txBody>
          <a:bodyPr wrap="square" lIns="9144" rIns="9144" tIns="0" bIns="0">
            <a:spAutoFit/>
          </a:bodyPr>
          <a:lstStyle/>
          <a:p>
            <a:pPr algn="l">
              <a:spcAft>
                <a:spcPts val="500"/>
              </a:spcAft>
              <a:defRPr sz="1300" b="1">
                <a:solidFill>
                  <a:srgbClr val="087E80"/>
                </a:solidFill>
                <a:latin typeface="Arial"/>
              </a:defRPr>
            </a:pPr>
            <a:r>
              <a:t>03 · COST</a:t>
            </a:r>
          </a:p>
        </p:txBody>
      </p:sp>
      <p:sp>
        <p:nvSpPr>
          <p:cNvPr id="16" name="TextBox 15"/>
          <p:cNvSpPr txBox="1"/>
          <p:nvPr/>
        </p:nvSpPr>
        <p:spPr>
          <a:xfrm>
            <a:off x="8293608" y="3108960"/>
            <a:ext cx="3054096" cy="731520"/>
          </a:xfrm>
          <a:prstGeom prst="rect">
            <a:avLst/>
          </a:prstGeom>
          <a:noFill/>
        </p:spPr>
        <p:txBody>
          <a:bodyPr wrap="square" lIns="9144" rIns="9144" tIns="0" bIns="0">
            <a:spAutoFit/>
          </a:bodyPr>
          <a:lstStyle/>
          <a:p>
            <a:pPr algn="l">
              <a:spcAft>
                <a:spcPts val="500"/>
              </a:spcAft>
              <a:defRPr sz="2600" b="1">
                <a:solidFill>
                  <a:srgbClr val="172C45"/>
                </a:solidFill>
                <a:latin typeface="Arial"/>
              </a:defRPr>
            </a:pPr>
            <a:r>
              <a:t>What does it cost?</a:t>
            </a:r>
          </a:p>
        </p:txBody>
      </p:sp>
      <p:sp>
        <p:nvSpPr>
          <p:cNvPr id="17" name="TextBox 16"/>
          <p:cNvSpPr txBox="1"/>
          <p:nvPr/>
        </p:nvSpPr>
        <p:spPr>
          <a:xfrm>
            <a:off x="8293608" y="3950208"/>
            <a:ext cx="3054096" cy="1280160"/>
          </a:xfrm>
          <a:prstGeom prst="rect">
            <a:avLst/>
          </a:prstGeom>
          <a:noFill/>
        </p:spPr>
        <p:txBody>
          <a:bodyPr wrap="square" lIns="9144" rIns="9144" tIns="0" bIns="0">
            <a:spAutoFit/>
          </a:bodyPr>
          <a:lstStyle/>
          <a:p>
            <a:pPr algn="l">
              <a:spcAft>
                <a:spcPts val="500"/>
              </a:spcAft>
              <a:defRPr sz="1800" b="0">
                <a:solidFill>
                  <a:srgbClr val="647282"/>
                </a:solidFill>
                <a:latin typeface="Arial"/>
              </a:defRPr>
            </a:pPr>
            <a:r>
              <a:t>Measure training and inference;</a:t>
            </a:r>
          </a:p>
          <a:p>
            <a:pPr algn="l">
              <a:spcAft>
                <a:spcPts val="500"/>
              </a:spcAft>
              <a:defRPr sz="1800" b="0">
                <a:solidFill>
                  <a:srgbClr val="647282"/>
                </a:solidFill>
                <a:latin typeface="Arial"/>
              </a:defRPr>
            </a:pPr>
            <a:r>
              <a:t>keep compute budgets visible.</a:t>
            </a:r>
          </a:p>
        </p:txBody>
      </p:sp>
      <p:sp>
        <p:nvSpPr>
          <p:cNvPr id="18" name="Rounded Rectangle 17"/>
          <p:cNvSpPr/>
          <p:nvPr/>
        </p:nvSpPr>
        <p:spPr>
          <a:xfrm>
            <a:off x="777240" y="5687568"/>
            <a:ext cx="10652760" cy="530352"/>
          </a:xfrm>
          <a:prstGeom prst="roundRect">
            <a:avLst>
              <a:gd name="adj" fmla="val 8000"/>
            </a:avLst>
          </a:prstGeom>
          <a:solidFill>
            <a:srgbClr val="E6EBEB"/>
          </a:solidFill>
          <a:ln>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824728"/>
            <a:ext cx="10378440" cy="274320"/>
          </a:xfrm>
          <a:prstGeom prst="rect">
            <a:avLst/>
          </a:prstGeom>
          <a:noFill/>
        </p:spPr>
        <p:txBody>
          <a:bodyPr wrap="square" lIns="9144" rIns="9144" tIns="0" bIns="0">
            <a:spAutoFit/>
          </a:bodyPr>
          <a:lstStyle/>
          <a:p>
            <a:pPr algn="ctr">
              <a:spcAft>
                <a:spcPts val="500"/>
              </a:spcAft>
              <a:defRPr sz="1700" b="1">
                <a:solidFill>
                  <a:srgbClr val="172C45"/>
                </a:solidFill>
                <a:latin typeface="Arial"/>
              </a:defRPr>
            </a:pPr>
            <a:r>
              <a:t>Small models: three seeds     |     LFM3 recovery: one exploratory trajectory</a:t>
            </a:r>
          </a:p>
        </p:txBody>
      </p:sp>
      <p:sp>
        <p:nvSpPr>
          <p:cNvPr id="20" name="TextBox 19"/>
          <p:cNvSpPr txBox="1"/>
          <p:nvPr/>
        </p:nvSpPr>
        <p:spPr>
          <a:xfrm>
            <a:off x="502920" y="6473952"/>
            <a:ext cx="10561320" cy="219456"/>
          </a:xfrm>
          <a:prstGeom prst="rect">
            <a:avLst/>
          </a:prstGeom>
          <a:noFill/>
        </p:spPr>
        <p:txBody>
          <a:bodyPr wrap="square" lIns="9144" rIns="9144" tIns="0" bIns="0">
            <a:spAutoFit/>
          </a:bodyPr>
          <a:lstStyle/>
          <a:p>
            <a:pPr algn="l">
              <a:spcAft>
                <a:spcPts val="500"/>
              </a:spcAft>
              <a:defRPr sz="1000" b="0">
                <a:solidFill>
                  <a:srgbClr val="647282"/>
                </a:solidFill>
                <a:latin typeface="Arial"/>
              </a:defRPr>
            </a:pPr>
            <a:r>
              <a:t>Report task scope, data splits, checkpoint selection and timing scope. Internal energy is not answer accuracy.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Rectangle 1"/>
          <p:cNvSpPr/>
          <p:nvPr/>
        </p:nvSpPr>
        <p:spPr>
          <a:xfrm>
            <a:off x="502920" y="402336"/>
            <a:ext cx="347472" cy="64008"/>
          </a:xfrm>
          <a:prstGeom prst="rect">
            <a:avLst/>
          </a:prstGeom>
          <a:solidFill>
            <a:srgbClr val="087E80"/>
          </a:solidFill>
          <a:ln>
            <a:solidFill>
              <a:srgbClr val="087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50976" y="310896"/>
            <a:ext cx="10058400" cy="274320"/>
          </a:xfrm>
          <a:prstGeom prst="rect">
            <a:avLst/>
          </a:prstGeom>
          <a:noFill/>
        </p:spPr>
        <p:txBody>
          <a:bodyPr wrap="square" lIns="9144" rIns="9144" tIns="0" bIns="0">
            <a:spAutoFit/>
          </a:bodyPr>
          <a:lstStyle/>
          <a:p>
            <a:pPr algn="l">
              <a:spcAft>
                <a:spcPts val="500"/>
              </a:spcAft>
              <a:defRPr sz="1100" b="1">
                <a:solidFill>
                  <a:srgbClr val="087E80"/>
                </a:solidFill>
                <a:latin typeface="Arial"/>
              </a:defRPr>
            </a:pPr>
            <a:r>
              <a:t>Streaming result · ~112K parameters</a:t>
            </a:r>
          </a:p>
        </p:txBody>
      </p:sp>
      <p:sp>
        <p:nvSpPr>
          <p:cNvPr id="4" name="TextBox 3"/>
          <p:cNvSpPr txBox="1"/>
          <p:nvPr/>
        </p:nvSpPr>
        <p:spPr>
          <a:xfrm>
            <a:off x="502920" y="841248"/>
            <a:ext cx="11155680" cy="841248"/>
          </a:xfrm>
          <a:prstGeom prst="rect">
            <a:avLst/>
          </a:prstGeom>
          <a:noFill/>
        </p:spPr>
        <p:txBody>
          <a:bodyPr wrap="square" lIns="9144" rIns="9144" tIns="0" bIns="0">
            <a:spAutoFit/>
          </a:bodyPr>
          <a:lstStyle/>
          <a:p>
            <a:pPr algn="l">
              <a:spcAft>
                <a:spcPts val="500"/>
              </a:spcAft>
              <a:defRPr sz="3200" b="1">
                <a:solidFill>
                  <a:srgbClr val="172C45"/>
                </a:solidFill>
                <a:latin typeface="Arial"/>
              </a:defRPr>
            </a:pPr>
            <a:r>
              <a:t>Compact memory helps on synthetic long recall</a:t>
            </a:r>
          </a:p>
        </p:txBody>
      </p:sp>
      <p:sp>
        <p:nvSpPr>
          <p:cNvPr id="5" name="TextBox 4"/>
          <p:cNvSpPr txBox="1"/>
          <p:nvPr/>
        </p:nvSpPr>
        <p:spPr>
          <a:xfrm>
            <a:off x="521207" y="1783080"/>
            <a:ext cx="11064240" cy="502920"/>
          </a:xfrm>
          <a:prstGeom prst="rect">
            <a:avLst/>
          </a:prstGeom>
          <a:noFill/>
        </p:spPr>
        <p:txBody>
          <a:bodyPr wrap="square" lIns="9144" rIns="9144" tIns="0" bIns="0">
            <a:spAutoFit/>
          </a:bodyPr>
          <a:lstStyle/>
          <a:p>
            <a:pPr algn="l">
              <a:spcAft>
                <a:spcPts val="500"/>
              </a:spcAft>
              <a:defRPr sz="1800" b="0">
                <a:solidFill>
                  <a:srgbClr val="647282"/>
                </a:solidFill>
                <a:latin typeface="Arial"/>
              </a:defRPr>
            </a:pPr>
            <a:r>
              <a:t>72 prompts with 32–128 distractors; averages across three training seeds.</a:t>
            </a:r>
          </a:p>
        </p:txBody>
      </p:sp>
      <p:sp>
        <p:nvSpPr>
          <p:cNvPr id="6" name="TextBox 5"/>
          <p:cNvSpPr txBox="1"/>
          <p:nvPr/>
        </p:nvSpPr>
        <p:spPr>
          <a:xfrm>
            <a:off x="11091672" y="6428232"/>
            <a:ext cx="548640" cy="274320"/>
          </a:xfrm>
          <a:prstGeom prst="rect">
            <a:avLst/>
          </a:prstGeom>
          <a:noFill/>
        </p:spPr>
        <p:txBody>
          <a:bodyPr wrap="square" lIns="9144" rIns="9144" tIns="0" bIns="0">
            <a:spAutoFit/>
          </a:bodyPr>
          <a:lstStyle/>
          <a:p>
            <a:pPr algn="r">
              <a:spcAft>
                <a:spcPts val="500"/>
              </a:spcAft>
              <a:defRPr sz="1100" b="0">
                <a:solidFill>
                  <a:srgbClr val="647282"/>
                </a:solidFill>
                <a:latin typeface="Arial"/>
              </a:defRPr>
            </a:pPr>
            <a:r>
              <a:t>07</a:t>
            </a:r>
          </a:p>
        </p:txBody>
      </p:sp>
      <p:sp>
        <p:nvSpPr>
          <p:cNvPr id="7" name="TextBox 6"/>
          <p:cNvSpPr txBox="1"/>
          <p:nvPr/>
        </p:nvSpPr>
        <p:spPr>
          <a:xfrm>
            <a:off x="914400" y="2395728"/>
            <a:ext cx="10241280" cy="548640"/>
          </a:xfrm>
          <a:prstGeom prst="rect">
            <a:avLst/>
          </a:prstGeom>
          <a:noFill/>
        </p:spPr>
        <p:txBody>
          <a:bodyPr wrap="square" lIns="9144" rIns="9144" tIns="0" bIns="0">
            <a:spAutoFit/>
          </a:bodyPr>
          <a:lstStyle/>
          <a:p>
            <a:pPr algn="ctr">
              <a:spcAft>
                <a:spcPts val="500"/>
              </a:spcAft>
              <a:defRPr sz="2700" b="1">
                <a:solidFill>
                  <a:srgbClr val="172C45"/>
                </a:solidFill>
                <a:latin typeface="Arial"/>
              </a:defRPr>
            </a:pPr>
            <a:r>
              <a:t>K=8   …   distractors   …   query K → 8</a:t>
            </a:r>
          </a:p>
        </p:txBody>
      </p:sp>
      <p:sp>
        <p:nvSpPr>
          <p:cNvPr id="8" name="TextBox 7"/>
          <p:cNvSpPr txBox="1"/>
          <p:nvPr/>
        </p:nvSpPr>
        <p:spPr>
          <a:xfrm>
            <a:off x="777240" y="3429000"/>
            <a:ext cx="4114800" cy="384048"/>
          </a:xfrm>
          <a:prstGeom prst="rect">
            <a:avLst/>
          </a:prstGeom>
          <a:noFill/>
        </p:spPr>
        <p:txBody>
          <a:bodyPr wrap="square" lIns="9144" rIns="9144" tIns="0" bIns="0">
            <a:spAutoFit/>
          </a:bodyPr>
          <a:lstStyle/>
          <a:p>
            <a:pPr algn="l">
              <a:spcAft>
                <a:spcPts val="500"/>
              </a:spcAft>
              <a:defRPr sz="2100" b="0">
                <a:solidFill>
                  <a:srgbClr val="172C45"/>
                </a:solidFill>
                <a:latin typeface="Arial"/>
              </a:defRPr>
            </a:pPr>
            <a:r>
              <a:t>Full Transformer</a:t>
            </a:r>
          </a:p>
        </p:txBody>
      </p:sp>
      <p:sp>
        <p:nvSpPr>
          <p:cNvPr id="9" name="Rounded Rectangle 8"/>
          <p:cNvSpPr/>
          <p:nvPr/>
        </p:nvSpPr>
        <p:spPr>
          <a:xfrm>
            <a:off x="4937760" y="3429000"/>
            <a:ext cx="5029200" cy="402336"/>
          </a:xfrm>
          <a:prstGeom prst="roundRect">
            <a:avLst>
              <a:gd name="adj" fmla="val 8000"/>
            </a:avLst>
          </a:prstGeom>
          <a:solidFill>
            <a:srgbClr val="E6EBEB"/>
          </a:solidFill>
          <a:ln>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37760" y="3429000"/>
            <a:ext cx="721690" cy="402336"/>
          </a:xfrm>
          <a:prstGeom prst="roundRect">
            <a:avLst>
              <a:gd name="adj" fmla="val 8000"/>
            </a:avLst>
          </a:prstGeom>
          <a:solidFill>
            <a:srgbClr val="647282"/>
          </a:solidFill>
          <a:ln>
            <a:solidFill>
              <a:srgbClr val="6472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68128" y="3410712"/>
            <a:ext cx="1280160" cy="457200"/>
          </a:xfrm>
          <a:prstGeom prst="rect">
            <a:avLst/>
          </a:prstGeom>
          <a:noFill/>
        </p:spPr>
        <p:txBody>
          <a:bodyPr wrap="square" lIns="9144" rIns="9144" tIns="0" bIns="0">
            <a:spAutoFit/>
          </a:bodyPr>
          <a:lstStyle/>
          <a:p>
            <a:pPr algn="l">
              <a:spcAft>
                <a:spcPts val="500"/>
              </a:spcAft>
              <a:defRPr sz="2500" b="1">
                <a:solidFill>
                  <a:srgbClr val="647282"/>
                </a:solidFill>
                <a:latin typeface="Arial"/>
              </a:defRPr>
            </a:pPr>
            <a:r>
              <a:t>14.4%</a:t>
            </a:r>
          </a:p>
        </p:txBody>
      </p:sp>
      <p:sp>
        <p:nvSpPr>
          <p:cNvPr id="12" name="TextBox 11"/>
          <p:cNvSpPr txBox="1"/>
          <p:nvPr/>
        </p:nvSpPr>
        <p:spPr>
          <a:xfrm>
            <a:off x="777240" y="4526280"/>
            <a:ext cx="4114800" cy="384048"/>
          </a:xfrm>
          <a:prstGeom prst="rect">
            <a:avLst/>
          </a:prstGeom>
          <a:noFill/>
        </p:spPr>
        <p:txBody>
          <a:bodyPr wrap="square" lIns="9144" rIns="9144" tIns="0" bIns="0">
            <a:spAutoFit/>
          </a:bodyPr>
          <a:lstStyle/>
          <a:p>
            <a:pPr algn="l">
              <a:spcAft>
                <a:spcPts val="500"/>
              </a:spcAft>
              <a:defRPr sz="2100" b="0">
                <a:solidFill>
                  <a:srgbClr val="172C45"/>
                </a:solidFill>
                <a:latin typeface="Arial"/>
              </a:defRPr>
            </a:pPr>
            <a:r>
              <a:t>Hybrid, no refinement</a:t>
            </a:r>
          </a:p>
        </p:txBody>
      </p:sp>
      <p:sp>
        <p:nvSpPr>
          <p:cNvPr id="13" name="Rounded Rectangle 12"/>
          <p:cNvSpPr/>
          <p:nvPr/>
        </p:nvSpPr>
        <p:spPr>
          <a:xfrm>
            <a:off x="4937760" y="4526280"/>
            <a:ext cx="5029200" cy="402336"/>
          </a:xfrm>
          <a:prstGeom prst="roundRect">
            <a:avLst>
              <a:gd name="adj" fmla="val 8000"/>
            </a:avLst>
          </a:prstGeom>
          <a:solidFill>
            <a:srgbClr val="E6EBEB"/>
          </a:solidFill>
          <a:ln>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937760" y="4526280"/>
            <a:ext cx="4330644" cy="402336"/>
          </a:xfrm>
          <a:prstGeom prst="roundRect">
            <a:avLst>
              <a:gd name="adj" fmla="val 8000"/>
            </a:avLst>
          </a:prstGeom>
          <a:solidFill>
            <a:srgbClr val="087E80"/>
          </a:solidFill>
          <a:ln>
            <a:solidFill>
              <a:srgbClr val="087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68128" y="4507992"/>
            <a:ext cx="1280160" cy="457200"/>
          </a:xfrm>
          <a:prstGeom prst="rect">
            <a:avLst/>
          </a:prstGeom>
          <a:noFill/>
        </p:spPr>
        <p:txBody>
          <a:bodyPr wrap="square" lIns="9144" rIns="9144" tIns="0" bIns="0">
            <a:spAutoFit/>
          </a:bodyPr>
          <a:lstStyle/>
          <a:p>
            <a:pPr algn="l">
              <a:spcAft>
                <a:spcPts val="500"/>
              </a:spcAft>
              <a:defRPr sz="2500" b="1">
                <a:solidFill>
                  <a:srgbClr val="087E80"/>
                </a:solidFill>
                <a:latin typeface="Arial"/>
              </a:defRPr>
            </a:pPr>
            <a:r>
              <a:t>86.1%</a:t>
            </a:r>
          </a:p>
        </p:txBody>
      </p:sp>
      <p:sp>
        <p:nvSpPr>
          <p:cNvPr id="16" name="TextBox 15"/>
          <p:cNvSpPr txBox="1"/>
          <p:nvPr/>
        </p:nvSpPr>
        <p:spPr>
          <a:xfrm>
            <a:off x="914400" y="5623560"/>
            <a:ext cx="10332720" cy="457200"/>
          </a:xfrm>
          <a:prstGeom prst="rect">
            <a:avLst/>
          </a:prstGeom>
          <a:noFill/>
        </p:spPr>
        <p:txBody>
          <a:bodyPr wrap="square" lIns="9144" rIns="9144" tIns="0" bIns="0">
            <a:spAutoFit/>
          </a:bodyPr>
          <a:lstStyle/>
          <a:p>
            <a:pPr algn="l">
              <a:spcAft>
                <a:spcPts val="500"/>
              </a:spcAft>
              <a:defRPr sz="2200" b="1">
                <a:solidFill>
                  <a:srgbClr val="087E80"/>
                </a:solidFill>
                <a:latin typeface="Arial"/>
              </a:defRPr>
            </a:pPr>
            <a:r>
              <a:t>Hybrid + energy: 77.3%     Window Transformer: 21.3%</a:t>
            </a:r>
          </a:p>
        </p:txBody>
      </p:sp>
      <p:sp>
        <p:nvSpPr>
          <p:cNvPr id="17" name="TextBox 16"/>
          <p:cNvSpPr txBox="1"/>
          <p:nvPr/>
        </p:nvSpPr>
        <p:spPr>
          <a:xfrm>
            <a:off x="502920" y="6473952"/>
            <a:ext cx="10561320" cy="219456"/>
          </a:xfrm>
          <a:prstGeom prst="rect">
            <a:avLst/>
          </a:prstGeom>
          <a:noFill/>
        </p:spPr>
        <p:txBody>
          <a:bodyPr wrap="square" lIns="9144" rIns="9144" tIns="0" bIns="0">
            <a:spAutoFit/>
          </a:bodyPr>
          <a:lstStyle/>
          <a:p>
            <a:pPr algn="l">
              <a:spcAft>
                <a:spcPts val="500"/>
              </a:spcAft>
              <a:defRPr sz="1000" b="0">
                <a:solidFill>
                  <a:srgbClr val="647282"/>
                </a:solidFill>
                <a:latin typeface="Arial"/>
              </a:defRPr>
            </a:pPr>
            <a:r>
              <a:t>Oct. 26: matched parameters, one common tuning recipe; weak third baseline seed. Recall tested to 520 input bytes, not 8K.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Rectangle 1"/>
          <p:cNvSpPr/>
          <p:nvPr/>
        </p:nvSpPr>
        <p:spPr>
          <a:xfrm>
            <a:off x="502920" y="402336"/>
            <a:ext cx="347472" cy="64008"/>
          </a:xfrm>
          <a:prstGeom prst="rect">
            <a:avLst/>
          </a:prstGeom>
          <a:solidFill>
            <a:srgbClr val="087E80"/>
          </a:solidFill>
          <a:ln>
            <a:solidFill>
              <a:srgbClr val="087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50976" y="310896"/>
            <a:ext cx="10058400" cy="274320"/>
          </a:xfrm>
          <a:prstGeom prst="rect">
            <a:avLst/>
          </a:prstGeom>
          <a:noFill/>
        </p:spPr>
        <p:txBody>
          <a:bodyPr wrap="square" lIns="9144" rIns="9144" tIns="0" bIns="0">
            <a:spAutoFit/>
          </a:bodyPr>
          <a:lstStyle/>
          <a:p>
            <a:pPr algn="l">
              <a:spcAft>
                <a:spcPts val="500"/>
              </a:spcAft>
              <a:defRPr sz="1100" b="1">
                <a:solidFill>
                  <a:srgbClr val="087E80"/>
                </a:solidFill>
                <a:latin typeface="Arial"/>
              </a:defRPr>
            </a:pPr>
            <a:r>
              <a:t>Execution result · same small-model weights</a:t>
            </a:r>
          </a:p>
        </p:txBody>
      </p:sp>
      <p:sp>
        <p:nvSpPr>
          <p:cNvPr id="4" name="TextBox 3"/>
          <p:cNvSpPr txBox="1"/>
          <p:nvPr/>
        </p:nvSpPr>
        <p:spPr>
          <a:xfrm>
            <a:off x="502920" y="841248"/>
            <a:ext cx="11155680" cy="841248"/>
          </a:xfrm>
          <a:prstGeom prst="rect">
            <a:avLst/>
          </a:prstGeom>
          <a:noFill/>
        </p:spPr>
        <p:txBody>
          <a:bodyPr wrap="square" lIns="9144" rIns="9144" tIns="0" bIns="0">
            <a:spAutoFit/>
          </a:bodyPr>
          <a:lstStyle/>
          <a:p>
            <a:pPr algn="l">
              <a:spcAft>
                <a:spcPts val="500"/>
              </a:spcAft>
              <a:defRPr sz="3200" b="1">
                <a:solidFill>
                  <a:srgbClr val="172C45"/>
                </a:solidFill>
                <a:latin typeface="Arial"/>
              </a:defRPr>
            </a:pPr>
            <a:r>
              <a:t>Faster decoding without retraining the model</a:t>
            </a:r>
          </a:p>
        </p:txBody>
      </p:sp>
      <p:sp>
        <p:nvSpPr>
          <p:cNvPr id="5" name="TextBox 4"/>
          <p:cNvSpPr txBox="1"/>
          <p:nvPr/>
        </p:nvSpPr>
        <p:spPr>
          <a:xfrm>
            <a:off x="521207" y="1783080"/>
            <a:ext cx="11064240" cy="502920"/>
          </a:xfrm>
          <a:prstGeom prst="rect">
            <a:avLst/>
          </a:prstGeom>
          <a:noFill/>
        </p:spPr>
        <p:txBody>
          <a:bodyPr wrap="square" lIns="9144" rIns="9144" tIns="0" bIns="0">
            <a:spAutoFit/>
          </a:bodyPr>
          <a:lstStyle/>
          <a:p>
            <a:pPr algn="l">
              <a:spcAft>
                <a:spcPts val="500"/>
              </a:spcAft>
              <a:defRPr sz="1800" b="0">
                <a:solidFill>
                  <a:srgbClr val="647282"/>
                </a:solidFill>
                <a:latin typeface="Arial"/>
              </a:defRPr>
            </a:pPr>
            <a:r>
              <a:t>Energy hybrid: generate 32 tokens after an 8K prefix, with two refinement rounds.</a:t>
            </a:r>
          </a:p>
        </p:txBody>
      </p:sp>
      <p:sp>
        <p:nvSpPr>
          <p:cNvPr id="6" name="TextBox 5"/>
          <p:cNvSpPr txBox="1"/>
          <p:nvPr/>
        </p:nvSpPr>
        <p:spPr>
          <a:xfrm>
            <a:off x="11091672" y="6428232"/>
            <a:ext cx="548640" cy="274320"/>
          </a:xfrm>
          <a:prstGeom prst="rect">
            <a:avLst/>
          </a:prstGeom>
          <a:noFill/>
        </p:spPr>
        <p:txBody>
          <a:bodyPr wrap="square" lIns="9144" rIns="9144" tIns="0" bIns="0">
            <a:spAutoFit/>
          </a:bodyPr>
          <a:lstStyle/>
          <a:p>
            <a:pPr algn="r">
              <a:spcAft>
                <a:spcPts val="500"/>
              </a:spcAft>
              <a:defRPr sz="1100" b="0">
                <a:solidFill>
                  <a:srgbClr val="647282"/>
                </a:solidFill>
                <a:latin typeface="Arial"/>
              </a:defRPr>
            </a:pPr>
            <a:r>
              <a:t>08</a:t>
            </a:r>
          </a:p>
        </p:txBody>
      </p:sp>
      <p:sp>
        <p:nvSpPr>
          <p:cNvPr id="7" name="TextBox 6"/>
          <p:cNvSpPr txBox="1"/>
          <p:nvPr/>
        </p:nvSpPr>
        <p:spPr>
          <a:xfrm>
            <a:off x="731520" y="2468880"/>
            <a:ext cx="4709160" cy="411480"/>
          </a:xfrm>
          <a:prstGeom prst="rect">
            <a:avLst/>
          </a:prstGeom>
          <a:noFill/>
        </p:spPr>
        <p:txBody>
          <a:bodyPr wrap="square" lIns="9144" rIns="9144" tIns="0" bIns="0">
            <a:spAutoFit/>
          </a:bodyPr>
          <a:lstStyle/>
          <a:p>
            <a:pPr algn="l">
              <a:spcAft>
                <a:spcPts val="500"/>
              </a:spcAft>
              <a:defRPr sz="2000" b="1">
                <a:solidFill>
                  <a:srgbClr val="172C45"/>
                </a:solidFill>
                <a:latin typeface="Arial"/>
              </a:defRPr>
            </a:pPr>
            <a:r>
              <a:t>Warmed generation time</a:t>
            </a:r>
          </a:p>
        </p:txBody>
      </p:sp>
      <p:sp>
        <p:nvSpPr>
          <p:cNvPr id="8" name="TextBox 7"/>
          <p:cNvSpPr txBox="1"/>
          <p:nvPr/>
        </p:nvSpPr>
        <p:spPr>
          <a:xfrm>
            <a:off x="5715000" y="2487168"/>
            <a:ext cx="2560320" cy="384048"/>
          </a:xfrm>
          <a:prstGeom prst="rect">
            <a:avLst/>
          </a:prstGeom>
          <a:noFill/>
        </p:spPr>
        <p:txBody>
          <a:bodyPr wrap="square" lIns="9144" rIns="9144" tIns="0" bIns="0">
            <a:spAutoFit/>
          </a:bodyPr>
          <a:lstStyle/>
          <a:p>
            <a:pPr algn="l">
              <a:spcAft>
                <a:spcPts val="500"/>
              </a:spcAft>
              <a:defRPr sz="1800" b="1">
                <a:solidFill>
                  <a:srgbClr val="087E80"/>
                </a:solidFill>
                <a:latin typeface="Arial"/>
              </a:defRPr>
            </a:pPr>
            <a:r>
              <a:rPr>
                <a:solidFill>
                  <a:srgbClr val="647282"/>
                </a:solidFill>
              </a:rPr>
              <a:t>Previous</a:t>
            </a:r>
          </a:p>
        </p:txBody>
      </p:sp>
      <p:sp>
        <p:nvSpPr>
          <p:cNvPr id="9" name="TextBox 8"/>
          <p:cNvSpPr txBox="1"/>
          <p:nvPr/>
        </p:nvSpPr>
        <p:spPr>
          <a:xfrm>
            <a:off x="8823960" y="2487168"/>
            <a:ext cx="2560320" cy="384048"/>
          </a:xfrm>
          <a:prstGeom prst="rect">
            <a:avLst/>
          </a:prstGeom>
          <a:noFill/>
        </p:spPr>
        <p:txBody>
          <a:bodyPr wrap="square" lIns="9144" rIns="9144" tIns="0" bIns="0">
            <a:spAutoFit/>
          </a:bodyPr>
          <a:lstStyle/>
          <a:p>
            <a:pPr algn="l">
              <a:spcAft>
                <a:spcPts val="500"/>
              </a:spcAft>
              <a:defRPr sz="1800" b="1">
                <a:solidFill>
                  <a:srgbClr val="647282"/>
                </a:solidFill>
                <a:latin typeface="Arial"/>
              </a:defRPr>
            </a:pPr>
            <a:r>
              <a:rPr>
                <a:solidFill>
                  <a:srgbClr val="087E80"/>
                </a:solidFill>
              </a:rPr>
              <a:t>Optimized</a:t>
            </a:r>
          </a:p>
        </p:txBody>
      </p:sp>
      <p:sp>
        <p:nvSpPr>
          <p:cNvPr id="10" name="TextBox 9"/>
          <p:cNvSpPr txBox="1"/>
          <p:nvPr/>
        </p:nvSpPr>
        <p:spPr>
          <a:xfrm>
            <a:off x="822960" y="3246120"/>
            <a:ext cx="4114800" cy="457200"/>
          </a:xfrm>
          <a:prstGeom prst="rect">
            <a:avLst/>
          </a:prstGeom>
          <a:noFill/>
        </p:spPr>
        <p:txBody>
          <a:bodyPr wrap="square" lIns="9144" rIns="9144" tIns="0" bIns="0">
            <a:spAutoFit/>
          </a:bodyPr>
          <a:lstStyle/>
          <a:p>
            <a:pPr algn="l">
              <a:spcAft>
                <a:spcPts val="500"/>
              </a:spcAft>
              <a:defRPr sz="2500" b="0">
                <a:solidFill>
                  <a:srgbClr val="172C45"/>
                </a:solidFill>
                <a:latin typeface="Arial"/>
              </a:defRPr>
            </a:pPr>
            <a:r>
              <a:t>CPU</a:t>
            </a:r>
          </a:p>
        </p:txBody>
      </p:sp>
      <p:sp>
        <p:nvSpPr>
          <p:cNvPr id="11" name="TextBox 10"/>
          <p:cNvSpPr txBox="1"/>
          <p:nvPr/>
        </p:nvSpPr>
        <p:spPr>
          <a:xfrm>
            <a:off x="5715000" y="3246120"/>
            <a:ext cx="2560320" cy="457200"/>
          </a:xfrm>
          <a:prstGeom prst="rect">
            <a:avLst/>
          </a:prstGeom>
          <a:noFill/>
        </p:spPr>
        <p:txBody>
          <a:bodyPr wrap="square" lIns="9144" rIns="9144" tIns="0" bIns="0">
            <a:spAutoFit/>
          </a:bodyPr>
          <a:lstStyle/>
          <a:p>
            <a:pPr algn="l">
              <a:spcAft>
                <a:spcPts val="500"/>
              </a:spcAft>
              <a:defRPr sz="2700" b="1">
                <a:solidFill>
                  <a:srgbClr val="087E80"/>
                </a:solidFill>
                <a:latin typeface="Arial"/>
              </a:defRPr>
            </a:pPr>
            <a:r>
              <a:rPr sz="2500">
                <a:solidFill>
                  <a:srgbClr val="647282"/>
                </a:solidFill>
              </a:rPr>
              <a:t>15.43 ms</a:t>
            </a:r>
          </a:p>
        </p:txBody>
      </p:sp>
      <p:sp>
        <p:nvSpPr>
          <p:cNvPr id="12" name="TextBox 11"/>
          <p:cNvSpPr txBox="1"/>
          <p:nvPr/>
        </p:nvSpPr>
        <p:spPr>
          <a:xfrm>
            <a:off x="8823960" y="3246120"/>
            <a:ext cx="2560320" cy="457200"/>
          </a:xfrm>
          <a:prstGeom prst="rect">
            <a:avLst/>
          </a:prstGeom>
          <a:noFill/>
        </p:spPr>
        <p:txBody>
          <a:bodyPr wrap="square" lIns="9144" rIns="9144" tIns="0" bIns="0">
            <a:spAutoFit/>
          </a:bodyPr>
          <a:lstStyle/>
          <a:p>
            <a:pPr algn="l">
              <a:spcAft>
                <a:spcPts val="500"/>
              </a:spcAft>
              <a:defRPr sz="2700" b="1">
                <a:solidFill>
                  <a:srgbClr val="647282"/>
                </a:solidFill>
                <a:latin typeface="Arial"/>
              </a:defRPr>
            </a:pPr>
            <a:r>
              <a:rPr>
                <a:solidFill>
                  <a:srgbClr val="087E80"/>
                </a:solidFill>
              </a:rPr>
              <a:t>8.18 ms</a:t>
            </a:r>
          </a:p>
        </p:txBody>
      </p:sp>
      <p:sp>
        <p:nvSpPr>
          <p:cNvPr id="13" name="TextBox 12"/>
          <p:cNvSpPr txBox="1"/>
          <p:nvPr/>
        </p:nvSpPr>
        <p:spPr>
          <a:xfrm>
            <a:off x="822960" y="4160520"/>
            <a:ext cx="4114800" cy="457200"/>
          </a:xfrm>
          <a:prstGeom prst="rect">
            <a:avLst/>
          </a:prstGeom>
          <a:noFill/>
        </p:spPr>
        <p:txBody>
          <a:bodyPr wrap="square" lIns="9144" rIns="9144" tIns="0" bIns="0">
            <a:spAutoFit/>
          </a:bodyPr>
          <a:lstStyle/>
          <a:p>
            <a:pPr algn="l">
              <a:spcAft>
                <a:spcPts val="500"/>
              </a:spcAft>
              <a:defRPr sz="2500" b="0">
                <a:solidFill>
                  <a:srgbClr val="172C45"/>
                </a:solidFill>
                <a:latin typeface="Arial"/>
              </a:defRPr>
            </a:pPr>
            <a:r>
              <a:t>GB10 GPU</a:t>
            </a:r>
          </a:p>
        </p:txBody>
      </p:sp>
      <p:sp>
        <p:nvSpPr>
          <p:cNvPr id="14" name="TextBox 13"/>
          <p:cNvSpPr txBox="1"/>
          <p:nvPr/>
        </p:nvSpPr>
        <p:spPr>
          <a:xfrm>
            <a:off x="5715000" y="4160520"/>
            <a:ext cx="2560320" cy="457200"/>
          </a:xfrm>
          <a:prstGeom prst="rect">
            <a:avLst/>
          </a:prstGeom>
          <a:noFill/>
        </p:spPr>
        <p:txBody>
          <a:bodyPr wrap="square" lIns="9144" rIns="9144" tIns="0" bIns="0">
            <a:spAutoFit/>
          </a:bodyPr>
          <a:lstStyle/>
          <a:p>
            <a:pPr algn="l">
              <a:spcAft>
                <a:spcPts val="500"/>
              </a:spcAft>
              <a:defRPr sz="2700" b="1">
                <a:solidFill>
                  <a:srgbClr val="087E80"/>
                </a:solidFill>
                <a:latin typeface="Arial"/>
              </a:defRPr>
            </a:pPr>
            <a:r>
              <a:rPr sz="2500">
                <a:solidFill>
                  <a:srgbClr val="647282"/>
                </a:solidFill>
              </a:rPr>
              <a:t>24.51 ms</a:t>
            </a:r>
          </a:p>
        </p:txBody>
      </p:sp>
      <p:sp>
        <p:nvSpPr>
          <p:cNvPr id="15" name="TextBox 14"/>
          <p:cNvSpPr txBox="1"/>
          <p:nvPr/>
        </p:nvSpPr>
        <p:spPr>
          <a:xfrm>
            <a:off x="8823960" y="4160520"/>
            <a:ext cx="2560320" cy="457200"/>
          </a:xfrm>
          <a:prstGeom prst="rect">
            <a:avLst/>
          </a:prstGeom>
          <a:noFill/>
        </p:spPr>
        <p:txBody>
          <a:bodyPr wrap="square" lIns="9144" rIns="9144" tIns="0" bIns="0">
            <a:spAutoFit/>
          </a:bodyPr>
          <a:lstStyle/>
          <a:p>
            <a:pPr algn="l">
              <a:spcAft>
                <a:spcPts val="500"/>
              </a:spcAft>
              <a:defRPr sz="2700" b="1">
                <a:solidFill>
                  <a:srgbClr val="647282"/>
                </a:solidFill>
                <a:latin typeface="Arial"/>
              </a:defRPr>
            </a:pPr>
            <a:r>
              <a:rPr>
                <a:solidFill>
                  <a:srgbClr val="087E80"/>
                </a:solidFill>
              </a:rPr>
              <a:t>1.97 ms</a:t>
            </a:r>
          </a:p>
        </p:txBody>
      </p:sp>
      <p:sp>
        <p:nvSpPr>
          <p:cNvPr id="16" name="Rounded Rectangle 15"/>
          <p:cNvSpPr/>
          <p:nvPr/>
        </p:nvSpPr>
        <p:spPr>
          <a:xfrm>
            <a:off x="822960" y="5257800"/>
            <a:ext cx="10515600" cy="731520"/>
          </a:xfrm>
          <a:prstGeom prst="roundRect">
            <a:avLst>
              <a:gd name="adj" fmla="val 8000"/>
            </a:avLst>
          </a:prstGeom>
          <a:solidFill>
            <a:srgbClr val="172C45"/>
          </a:solidFill>
          <a:ln>
            <a:solidFill>
              <a:srgbClr val="172C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5468112"/>
            <a:ext cx="10113264" cy="365760"/>
          </a:xfrm>
          <a:prstGeom prst="rect">
            <a:avLst/>
          </a:prstGeom>
          <a:noFill/>
        </p:spPr>
        <p:txBody>
          <a:bodyPr wrap="square" lIns="9144" rIns="9144" tIns="0" bIns="0">
            <a:spAutoFit/>
          </a:bodyPr>
          <a:lstStyle/>
          <a:p>
            <a:pPr algn="ctr">
              <a:spcAft>
                <a:spcPts val="500"/>
              </a:spcAft>
              <a:defRPr sz="2100" b="1">
                <a:solidFill>
                  <a:srgbClr val="FFFFFF"/>
                </a:solidFill>
                <a:latin typeface="Arial"/>
              </a:defRPr>
            </a:pPr>
            <a:r>
              <a:t>About 225× less carried state than full attention at 8K.</a:t>
            </a:r>
          </a:p>
        </p:txBody>
      </p:sp>
      <p:sp>
        <p:nvSpPr>
          <p:cNvPr id="18" name="TextBox 17"/>
          <p:cNvSpPr txBox="1"/>
          <p:nvPr/>
        </p:nvSpPr>
        <p:spPr>
          <a:xfrm>
            <a:off x="502920" y="6473952"/>
            <a:ext cx="10561320" cy="219456"/>
          </a:xfrm>
          <a:prstGeom prst="rect">
            <a:avLst/>
          </a:prstGeom>
          <a:noFill/>
        </p:spPr>
        <p:txBody>
          <a:bodyPr wrap="square" lIns="9144" rIns="9144" tIns="0" bIns="0">
            <a:spAutoFit/>
          </a:bodyPr>
          <a:lstStyle/>
          <a:p>
            <a:pPr algn="l">
              <a:spcAft>
                <a:spcPts val="500"/>
              </a:spcAft>
              <a:defRPr sz="1000" b="0">
                <a:solidFill>
                  <a:srgbClr val="647282"/>
                </a:solidFill>
                <a:latin typeface="Arial"/>
              </a:defRPr>
            </a:pPr>
            <a:r>
              <a:t>Warmed decode only; excludes prefill/setup. Shared device. State excludes weights/workspace. Not a 1.7B model speed result.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Rectangle 1"/>
          <p:cNvSpPr/>
          <p:nvPr/>
        </p:nvSpPr>
        <p:spPr>
          <a:xfrm>
            <a:off x="502920" y="402336"/>
            <a:ext cx="347472" cy="64008"/>
          </a:xfrm>
          <a:prstGeom prst="rect">
            <a:avLst/>
          </a:prstGeom>
          <a:solidFill>
            <a:srgbClr val="087E80"/>
          </a:solidFill>
          <a:ln>
            <a:solidFill>
              <a:srgbClr val="087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50976" y="310896"/>
            <a:ext cx="10058400" cy="274320"/>
          </a:xfrm>
          <a:prstGeom prst="rect">
            <a:avLst/>
          </a:prstGeom>
          <a:noFill/>
        </p:spPr>
        <p:txBody>
          <a:bodyPr wrap="square" lIns="9144" rIns="9144" tIns="0" bIns="0">
            <a:spAutoFit/>
          </a:bodyPr>
          <a:lstStyle/>
          <a:p>
            <a:pPr algn="l">
              <a:spcAft>
                <a:spcPts val="500"/>
              </a:spcAft>
              <a:defRPr sz="1100" b="1">
                <a:solidFill>
                  <a:srgbClr val="087E80"/>
                </a:solidFill>
                <a:latin typeface="Arial"/>
              </a:defRPr>
            </a:pPr>
            <a:r>
              <a:t>Scale-up · LFM3 architecture conversion</a:t>
            </a:r>
          </a:p>
        </p:txBody>
      </p:sp>
      <p:sp>
        <p:nvSpPr>
          <p:cNvPr id="4" name="TextBox 3"/>
          <p:cNvSpPr txBox="1"/>
          <p:nvPr/>
        </p:nvSpPr>
        <p:spPr>
          <a:xfrm>
            <a:off x="502920" y="841248"/>
            <a:ext cx="11155680" cy="841248"/>
          </a:xfrm>
          <a:prstGeom prst="rect">
            <a:avLst/>
          </a:prstGeom>
          <a:noFill/>
        </p:spPr>
        <p:txBody>
          <a:bodyPr wrap="square" lIns="9144" rIns="9144" tIns="0" bIns="0">
            <a:spAutoFit/>
          </a:bodyPr>
          <a:lstStyle/>
          <a:p>
            <a:pPr algn="l">
              <a:spcAft>
                <a:spcPts val="500"/>
              </a:spcAft>
              <a:defRPr sz="3200" b="1">
                <a:solidFill>
                  <a:srgbClr val="172C45"/>
                </a:solidFill>
                <a:latin typeface="Arial"/>
              </a:defRPr>
            </a:pPr>
            <a:r>
              <a:t>Transfer pretrained weights into a streaming model</a:t>
            </a:r>
          </a:p>
        </p:txBody>
      </p:sp>
      <p:sp>
        <p:nvSpPr>
          <p:cNvPr id="5" name="TextBox 4"/>
          <p:cNvSpPr txBox="1"/>
          <p:nvPr/>
        </p:nvSpPr>
        <p:spPr>
          <a:xfrm>
            <a:off x="521207" y="1783080"/>
            <a:ext cx="11064240" cy="502920"/>
          </a:xfrm>
          <a:prstGeom prst="rect">
            <a:avLst/>
          </a:prstGeom>
          <a:noFill/>
        </p:spPr>
        <p:txBody>
          <a:bodyPr wrap="square" lIns="9144" rIns="9144" tIns="0" bIns="0">
            <a:spAutoFit/>
          </a:bodyPr>
          <a:lstStyle/>
          <a:p>
            <a:pPr algn="l">
              <a:spcAft>
                <a:spcPts val="500"/>
              </a:spcAft>
              <a:defRPr sz="1800" b="0">
                <a:solidFill>
                  <a:srgbClr val="647282"/>
                </a:solidFill>
                <a:latin typeface="Arial"/>
              </a:defRPr>
            </a:pPr>
            <a:r>
              <a:t>Standalone 1.784B-parameter REWT; no donor call during inference.</a:t>
            </a:r>
          </a:p>
        </p:txBody>
      </p:sp>
      <p:sp>
        <p:nvSpPr>
          <p:cNvPr id="6" name="TextBox 5"/>
          <p:cNvSpPr txBox="1"/>
          <p:nvPr/>
        </p:nvSpPr>
        <p:spPr>
          <a:xfrm>
            <a:off x="11091672" y="6428232"/>
            <a:ext cx="548640" cy="274320"/>
          </a:xfrm>
          <a:prstGeom prst="rect">
            <a:avLst/>
          </a:prstGeom>
          <a:noFill/>
        </p:spPr>
        <p:txBody>
          <a:bodyPr wrap="square" lIns="9144" rIns="9144" tIns="0" bIns="0">
            <a:spAutoFit/>
          </a:bodyPr>
          <a:lstStyle/>
          <a:p>
            <a:pPr algn="r">
              <a:spcAft>
                <a:spcPts val="500"/>
              </a:spcAft>
              <a:defRPr sz="1100" b="0">
                <a:solidFill>
                  <a:srgbClr val="647282"/>
                </a:solidFill>
                <a:latin typeface="Arial"/>
              </a:defRPr>
            </a:pPr>
            <a:r>
              <a:t>09</a:t>
            </a:r>
          </a:p>
        </p:txBody>
      </p:sp>
      <p:sp>
        <p:nvSpPr>
          <p:cNvPr id="7" name="Rounded Rectangle 6"/>
          <p:cNvSpPr/>
          <p:nvPr/>
        </p:nvSpPr>
        <p:spPr>
          <a:xfrm>
            <a:off x="731520" y="2560320"/>
            <a:ext cx="3291840" cy="2194560"/>
          </a:xfrm>
          <a:prstGeom prst="roundRect">
            <a:avLst>
              <a:gd name="adj" fmla="val 8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761488"/>
            <a:ext cx="2926080" cy="274320"/>
          </a:xfrm>
          <a:prstGeom prst="rect">
            <a:avLst/>
          </a:prstGeom>
          <a:noFill/>
        </p:spPr>
        <p:txBody>
          <a:bodyPr wrap="square" lIns="9144" rIns="9144" tIns="0" bIns="0">
            <a:spAutoFit/>
          </a:bodyPr>
          <a:lstStyle/>
          <a:p>
            <a:pPr algn="l">
              <a:spcAft>
                <a:spcPts val="500"/>
              </a:spcAft>
              <a:defRPr sz="1300" b="1">
                <a:solidFill>
                  <a:srgbClr val="087E80"/>
                </a:solidFill>
                <a:latin typeface="Arial"/>
              </a:defRPr>
            </a:pPr>
            <a:r>
              <a:t>01 · INHERIT</a:t>
            </a:r>
          </a:p>
        </p:txBody>
      </p:sp>
      <p:sp>
        <p:nvSpPr>
          <p:cNvPr id="9" name="TextBox 8"/>
          <p:cNvSpPr txBox="1"/>
          <p:nvPr/>
        </p:nvSpPr>
        <p:spPr>
          <a:xfrm>
            <a:off x="914400" y="3337560"/>
            <a:ext cx="2926080" cy="457200"/>
          </a:xfrm>
          <a:prstGeom prst="rect">
            <a:avLst/>
          </a:prstGeom>
          <a:noFill/>
        </p:spPr>
        <p:txBody>
          <a:bodyPr wrap="square" lIns="9144" rIns="9144" tIns="0" bIns="0">
            <a:spAutoFit/>
          </a:bodyPr>
          <a:lstStyle/>
          <a:p>
            <a:pPr algn="ctr">
              <a:spcAft>
                <a:spcPts val="500"/>
              </a:spcAft>
              <a:defRPr sz="2200" b="1">
                <a:solidFill>
                  <a:srgbClr val="172C45"/>
                </a:solidFill>
                <a:latin typeface="Arial"/>
              </a:defRPr>
            </a:pPr>
            <a:r>
              <a:t>LFM3-1.7B weights</a:t>
            </a:r>
          </a:p>
        </p:txBody>
      </p:sp>
      <p:sp>
        <p:nvSpPr>
          <p:cNvPr id="10" name="TextBox 9"/>
          <p:cNvSpPr txBox="1"/>
          <p:nvPr/>
        </p:nvSpPr>
        <p:spPr>
          <a:xfrm>
            <a:off x="896112" y="4096512"/>
            <a:ext cx="2962656" cy="365760"/>
          </a:xfrm>
          <a:prstGeom prst="rect">
            <a:avLst/>
          </a:prstGeom>
          <a:noFill/>
        </p:spPr>
        <p:txBody>
          <a:bodyPr wrap="square" lIns="9144" rIns="9144" tIns="0" bIns="0">
            <a:spAutoFit/>
          </a:bodyPr>
          <a:lstStyle/>
          <a:p>
            <a:pPr algn="ctr">
              <a:spcAft>
                <a:spcPts val="500"/>
              </a:spcAft>
              <a:defRPr sz="1700" b="0">
                <a:solidFill>
                  <a:srgbClr val="647282"/>
                </a:solidFill>
                <a:latin typeface="Arial"/>
              </a:defRPr>
            </a:pPr>
            <a:r>
              <a:t>tokenizer, embeddings, FFNs</a:t>
            </a:r>
          </a:p>
        </p:txBody>
      </p:sp>
      <p:sp>
        <p:nvSpPr>
          <p:cNvPr id="11" name="Right Arrow 10"/>
          <p:cNvSpPr/>
          <p:nvPr/>
        </p:nvSpPr>
        <p:spPr>
          <a:xfrm>
            <a:off x="4114800" y="3511296"/>
            <a:ext cx="365760" cy="228600"/>
          </a:xfrm>
          <a:prstGeom prst="rightArrow">
            <a:avLst/>
          </a:prstGeom>
          <a:solidFill>
            <a:srgbClr val="08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72000" y="2560320"/>
            <a:ext cx="3291840" cy="2194560"/>
          </a:xfrm>
          <a:prstGeom prst="roundRect">
            <a:avLst>
              <a:gd name="adj" fmla="val 8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0" y="2761488"/>
            <a:ext cx="2926080" cy="274320"/>
          </a:xfrm>
          <a:prstGeom prst="rect">
            <a:avLst/>
          </a:prstGeom>
          <a:noFill/>
        </p:spPr>
        <p:txBody>
          <a:bodyPr wrap="square" lIns="9144" rIns="9144" tIns="0" bIns="0">
            <a:spAutoFit/>
          </a:bodyPr>
          <a:lstStyle/>
          <a:p>
            <a:pPr algn="l">
              <a:spcAft>
                <a:spcPts val="500"/>
              </a:spcAft>
              <a:defRPr sz="1300" b="1">
                <a:solidFill>
                  <a:srgbClr val="087E80"/>
                </a:solidFill>
                <a:latin typeface="Arial"/>
              </a:defRPr>
            </a:pPr>
            <a:r>
              <a:t>02 · REPLACE</a:t>
            </a:r>
          </a:p>
        </p:txBody>
      </p:sp>
      <p:sp>
        <p:nvSpPr>
          <p:cNvPr id="14" name="TextBox 13"/>
          <p:cNvSpPr txBox="1"/>
          <p:nvPr/>
        </p:nvSpPr>
        <p:spPr>
          <a:xfrm>
            <a:off x="4754880" y="3337560"/>
            <a:ext cx="2926080" cy="457200"/>
          </a:xfrm>
          <a:prstGeom prst="rect">
            <a:avLst/>
          </a:prstGeom>
          <a:noFill/>
        </p:spPr>
        <p:txBody>
          <a:bodyPr wrap="square" lIns="9144" rIns="9144" tIns="0" bIns="0">
            <a:spAutoFit/>
          </a:bodyPr>
          <a:lstStyle/>
          <a:p>
            <a:pPr algn="ctr">
              <a:spcAft>
                <a:spcPts val="500"/>
              </a:spcAft>
              <a:defRPr sz="2200" b="1">
                <a:solidFill>
                  <a:srgbClr val="172C45"/>
                </a:solidFill>
                <a:latin typeface="Arial"/>
              </a:defRPr>
            </a:pPr>
            <a:r>
              <a:t>Delta + local attention</a:t>
            </a:r>
          </a:p>
        </p:txBody>
      </p:sp>
      <p:sp>
        <p:nvSpPr>
          <p:cNvPr id="15" name="TextBox 14"/>
          <p:cNvSpPr txBox="1"/>
          <p:nvPr/>
        </p:nvSpPr>
        <p:spPr>
          <a:xfrm>
            <a:off x="4736592" y="4096512"/>
            <a:ext cx="2962656" cy="365760"/>
          </a:xfrm>
          <a:prstGeom prst="rect">
            <a:avLst/>
          </a:prstGeom>
          <a:noFill/>
        </p:spPr>
        <p:txBody>
          <a:bodyPr wrap="square" lIns="9144" rIns="9144" tIns="0" bIns="0">
            <a:spAutoFit/>
          </a:bodyPr>
          <a:lstStyle/>
          <a:p>
            <a:pPr algn="ctr">
              <a:spcAft>
                <a:spcPts val="500"/>
              </a:spcAft>
              <a:defRPr sz="1700" b="0">
                <a:solidFill>
                  <a:srgbClr val="647282"/>
                </a:solidFill>
                <a:latin typeface="Arial"/>
              </a:defRPr>
            </a:pPr>
            <a:r>
              <a:t>13 delta / 11 bounded attention</a:t>
            </a:r>
          </a:p>
        </p:txBody>
      </p:sp>
      <p:sp>
        <p:nvSpPr>
          <p:cNvPr id="16" name="Right Arrow 15"/>
          <p:cNvSpPr/>
          <p:nvPr/>
        </p:nvSpPr>
        <p:spPr>
          <a:xfrm>
            <a:off x="7955279" y="3511296"/>
            <a:ext cx="365760" cy="228600"/>
          </a:xfrm>
          <a:prstGeom prst="rightArrow">
            <a:avLst/>
          </a:prstGeom>
          <a:solidFill>
            <a:srgbClr val="08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412480" y="2560320"/>
            <a:ext cx="3291840" cy="2194560"/>
          </a:xfrm>
          <a:prstGeom prst="roundRect">
            <a:avLst>
              <a:gd name="adj" fmla="val 8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0" y="2761488"/>
            <a:ext cx="2926080" cy="274320"/>
          </a:xfrm>
          <a:prstGeom prst="rect">
            <a:avLst/>
          </a:prstGeom>
          <a:noFill/>
        </p:spPr>
        <p:txBody>
          <a:bodyPr wrap="square" lIns="9144" rIns="9144" tIns="0" bIns="0">
            <a:spAutoFit/>
          </a:bodyPr>
          <a:lstStyle/>
          <a:p>
            <a:pPr algn="l">
              <a:spcAft>
                <a:spcPts val="500"/>
              </a:spcAft>
              <a:defRPr sz="1300" b="1">
                <a:solidFill>
                  <a:srgbClr val="087E80"/>
                </a:solidFill>
                <a:latin typeface="Arial"/>
              </a:defRPr>
            </a:pPr>
            <a:r>
              <a:t>03 · RECOVER</a:t>
            </a:r>
          </a:p>
        </p:txBody>
      </p:sp>
      <p:sp>
        <p:nvSpPr>
          <p:cNvPr id="19" name="TextBox 18"/>
          <p:cNvSpPr txBox="1"/>
          <p:nvPr/>
        </p:nvSpPr>
        <p:spPr>
          <a:xfrm>
            <a:off x="8595360" y="3337560"/>
            <a:ext cx="2926080" cy="457200"/>
          </a:xfrm>
          <a:prstGeom prst="rect">
            <a:avLst/>
          </a:prstGeom>
          <a:noFill/>
        </p:spPr>
        <p:txBody>
          <a:bodyPr wrap="square" lIns="9144" rIns="9144" tIns="0" bIns="0">
            <a:spAutoFit/>
          </a:bodyPr>
          <a:lstStyle/>
          <a:p>
            <a:pPr algn="ctr">
              <a:spcAft>
                <a:spcPts val="500"/>
              </a:spcAft>
              <a:defRPr sz="2200" b="1">
                <a:solidFill>
                  <a:srgbClr val="172C45"/>
                </a:solidFill>
                <a:latin typeface="Arial"/>
              </a:defRPr>
            </a:pPr>
            <a:r>
              <a:t>Distill and adapt</a:t>
            </a:r>
          </a:p>
        </p:txBody>
      </p:sp>
      <p:sp>
        <p:nvSpPr>
          <p:cNvPr id="20" name="TextBox 19"/>
          <p:cNvSpPr txBox="1"/>
          <p:nvPr/>
        </p:nvSpPr>
        <p:spPr>
          <a:xfrm>
            <a:off x="8577072" y="4096512"/>
            <a:ext cx="2962656" cy="365760"/>
          </a:xfrm>
          <a:prstGeom prst="rect">
            <a:avLst/>
          </a:prstGeom>
          <a:noFill/>
        </p:spPr>
        <p:txBody>
          <a:bodyPr wrap="square" lIns="9144" rIns="9144" tIns="0" bIns="0">
            <a:spAutoFit/>
          </a:bodyPr>
          <a:lstStyle/>
          <a:p>
            <a:pPr algn="ctr">
              <a:spcAft>
                <a:spcPts val="500"/>
              </a:spcAft>
              <a:defRPr sz="1700" b="0">
                <a:solidFill>
                  <a:srgbClr val="647282"/>
                </a:solidFill>
                <a:latin typeface="Arial"/>
              </a:defRPr>
            </a:pPr>
            <a:r>
              <a:t>match logits; tune selected FFNs</a:t>
            </a:r>
          </a:p>
        </p:txBody>
      </p:sp>
      <p:sp>
        <p:nvSpPr>
          <p:cNvPr id="21" name="Rounded Rectangle 20"/>
          <p:cNvSpPr/>
          <p:nvPr/>
        </p:nvSpPr>
        <p:spPr>
          <a:xfrm>
            <a:off x="868680" y="5166360"/>
            <a:ext cx="10424160" cy="777240"/>
          </a:xfrm>
          <a:prstGeom prst="roundRect">
            <a:avLst>
              <a:gd name="adj" fmla="val 8000"/>
            </a:avLst>
          </a:prstGeom>
          <a:solidFill>
            <a:srgbClr val="E6EBEB"/>
          </a:solidFill>
          <a:ln>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8992" y="5340096"/>
            <a:ext cx="10003536" cy="411480"/>
          </a:xfrm>
          <a:prstGeom prst="rect">
            <a:avLst/>
          </a:prstGeom>
          <a:noFill/>
        </p:spPr>
        <p:txBody>
          <a:bodyPr wrap="square" lIns="9144" rIns="9144" tIns="0" bIns="0">
            <a:spAutoFit/>
          </a:bodyPr>
          <a:lstStyle/>
          <a:p>
            <a:pPr algn="ctr">
              <a:spcAft>
                <a:spcPts val="500"/>
              </a:spcAft>
              <a:defRPr sz="2200" b="1">
                <a:solidFill>
                  <a:srgbClr val="172C45"/>
                </a:solidFill>
                <a:latin typeface="Arial"/>
              </a:defRPr>
            </a:pPr>
            <a:r>
              <a:t>256-token windows + compact delta memory + two energy updates</a:t>
            </a:r>
          </a:p>
        </p:txBody>
      </p:sp>
      <p:sp>
        <p:nvSpPr>
          <p:cNvPr id="23" name="TextBox 22"/>
          <p:cNvSpPr txBox="1"/>
          <p:nvPr/>
        </p:nvSpPr>
        <p:spPr>
          <a:xfrm>
            <a:off x="502920" y="6473952"/>
            <a:ext cx="10561320" cy="219456"/>
          </a:xfrm>
          <a:prstGeom prst="rect">
            <a:avLst/>
          </a:prstGeom>
          <a:noFill/>
        </p:spPr>
        <p:txBody>
          <a:bodyPr wrap="square" lIns="9144" rIns="9144" tIns="0" bIns="0">
            <a:spAutoFit/>
          </a:bodyPr>
          <a:lstStyle/>
          <a:p>
            <a:pPr algn="l">
              <a:spcAft>
                <a:spcPts val="500"/>
              </a:spcAft>
              <a:defRPr sz="1000" b="0">
                <a:solidFill>
                  <a:srgbClr val="647282"/>
                </a:solidFill>
                <a:latin typeface="Arial"/>
              </a:defRPr>
            </a:pPr>
            <a:r>
              <a:t>Compatible attention weights are inherited. Recovery changes weights; the architecture stays fixed across the recovery passes.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Rectangle 1"/>
          <p:cNvSpPr/>
          <p:nvPr/>
        </p:nvSpPr>
        <p:spPr>
          <a:xfrm>
            <a:off x="502920" y="402336"/>
            <a:ext cx="347472" cy="64008"/>
          </a:xfrm>
          <a:prstGeom prst="rect">
            <a:avLst/>
          </a:prstGeom>
          <a:solidFill>
            <a:srgbClr val="087E80"/>
          </a:solidFill>
          <a:ln>
            <a:solidFill>
              <a:srgbClr val="087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50976" y="310896"/>
            <a:ext cx="10058400" cy="274320"/>
          </a:xfrm>
          <a:prstGeom prst="rect">
            <a:avLst/>
          </a:prstGeom>
          <a:noFill/>
        </p:spPr>
        <p:txBody>
          <a:bodyPr wrap="square" lIns="9144" rIns="9144" tIns="0" bIns="0">
            <a:spAutoFit/>
          </a:bodyPr>
          <a:lstStyle/>
          <a:p>
            <a:pPr algn="l">
              <a:spcAft>
                <a:spcPts val="500"/>
              </a:spcAft>
              <a:defRPr sz="1100" b="1">
                <a:solidFill>
                  <a:srgbClr val="087E80"/>
                </a:solidFill>
                <a:latin typeface="Arial"/>
              </a:defRPr>
            </a:pPr>
            <a:r>
              <a:t>Capability recovery · October 28</a:t>
            </a:r>
          </a:p>
        </p:txBody>
      </p:sp>
      <p:sp>
        <p:nvSpPr>
          <p:cNvPr id="4" name="TextBox 3"/>
          <p:cNvSpPr txBox="1"/>
          <p:nvPr/>
        </p:nvSpPr>
        <p:spPr>
          <a:xfrm>
            <a:off x="502920" y="841248"/>
            <a:ext cx="11155680" cy="841248"/>
          </a:xfrm>
          <a:prstGeom prst="rect">
            <a:avLst/>
          </a:prstGeom>
          <a:noFill/>
        </p:spPr>
        <p:txBody>
          <a:bodyPr wrap="square" lIns="9144" rIns="9144" tIns="0" bIns="0">
            <a:spAutoFit/>
          </a:bodyPr>
          <a:lstStyle/>
          <a:p>
            <a:pPr algn="l">
              <a:spcAft>
                <a:spcPts val="500"/>
              </a:spcAft>
              <a:defRPr sz="3200" b="1">
                <a:solidFill>
                  <a:srgbClr val="172C45"/>
                </a:solidFill>
                <a:latin typeface="Arial"/>
              </a:defRPr>
            </a:pPr>
            <a:r>
              <a:t>Recovery helps, but the donor gap remains</a:t>
            </a:r>
          </a:p>
        </p:txBody>
      </p:sp>
      <p:sp>
        <p:nvSpPr>
          <p:cNvPr id="5" name="TextBox 4"/>
          <p:cNvSpPr txBox="1"/>
          <p:nvPr/>
        </p:nvSpPr>
        <p:spPr>
          <a:xfrm>
            <a:off x="521207" y="1783080"/>
            <a:ext cx="11064240" cy="502920"/>
          </a:xfrm>
          <a:prstGeom prst="rect">
            <a:avLst/>
          </a:prstGeom>
          <a:noFill/>
        </p:spPr>
        <p:txBody>
          <a:bodyPr wrap="square" lIns="9144" rIns="9144" tIns="0" bIns="0">
            <a:spAutoFit/>
          </a:bodyPr>
          <a:lstStyle/>
          <a:p>
            <a:pPr algn="l">
              <a:spcAft>
                <a:spcPts val="500"/>
              </a:spcAft>
              <a:defRPr sz="1800" b="0">
                <a:solidFill>
                  <a:srgbClr val="647282"/>
                </a:solidFill>
                <a:latin typeface="Arial"/>
              </a:defRPr>
            </a:pPr>
            <a:r>
              <a:t>128 science questions, custom label ranking; same prompts and tokenizer for all models.</a:t>
            </a:r>
          </a:p>
        </p:txBody>
      </p:sp>
      <p:sp>
        <p:nvSpPr>
          <p:cNvPr id="6" name="TextBox 5"/>
          <p:cNvSpPr txBox="1"/>
          <p:nvPr/>
        </p:nvSpPr>
        <p:spPr>
          <a:xfrm>
            <a:off x="11091672" y="6428232"/>
            <a:ext cx="548640" cy="274320"/>
          </a:xfrm>
          <a:prstGeom prst="rect">
            <a:avLst/>
          </a:prstGeom>
          <a:noFill/>
        </p:spPr>
        <p:txBody>
          <a:bodyPr wrap="square" lIns="9144" rIns="9144" tIns="0" bIns="0">
            <a:spAutoFit/>
          </a:bodyPr>
          <a:lstStyle/>
          <a:p>
            <a:pPr algn="r">
              <a:spcAft>
                <a:spcPts val="500"/>
              </a:spcAft>
              <a:defRPr sz="1100" b="0">
                <a:solidFill>
                  <a:srgbClr val="647282"/>
                </a:solidFill>
                <a:latin typeface="Arial"/>
              </a:defRPr>
            </a:pPr>
            <a:r>
              <a:t>10</a:t>
            </a:r>
          </a:p>
        </p:txBody>
      </p:sp>
      <p:sp>
        <p:nvSpPr>
          <p:cNvPr id="7" name="TextBox 6"/>
          <p:cNvSpPr txBox="1"/>
          <p:nvPr/>
        </p:nvSpPr>
        <p:spPr>
          <a:xfrm>
            <a:off x="749808" y="2606040"/>
            <a:ext cx="4800600" cy="502920"/>
          </a:xfrm>
          <a:prstGeom prst="rect">
            <a:avLst/>
          </a:prstGeom>
          <a:noFill/>
        </p:spPr>
        <p:txBody>
          <a:bodyPr wrap="square" lIns="9144" rIns="9144" tIns="0" bIns="0">
            <a:spAutoFit/>
          </a:bodyPr>
          <a:lstStyle/>
          <a:p>
            <a:pPr algn="l">
              <a:spcAft>
                <a:spcPts val="500"/>
              </a:spcAft>
              <a:defRPr sz="2100" b="0">
                <a:solidFill>
                  <a:srgbClr val="172C45"/>
                </a:solidFill>
                <a:latin typeface="Arial"/>
              </a:defRPr>
            </a:pPr>
            <a:r>
              <a:t>Before recovery: 43 / 128</a:t>
            </a:r>
          </a:p>
        </p:txBody>
      </p:sp>
      <p:sp>
        <p:nvSpPr>
          <p:cNvPr id="8" name="Rounded Rectangle 7"/>
          <p:cNvSpPr/>
          <p:nvPr/>
        </p:nvSpPr>
        <p:spPr>
          <a:xfrm>
            <a:off x="5742432" y="2660904"/>
            <a:ext cx="4343400" cy="365760"/>
          </a:xfrm>
          <a:prstGeom prst="roundRect">
            <a:avLst>
              <a:gd name="adj" fmla="val 8000"/>
            </a:avLst>
          </a:prstGeom>
          <a:solidFill>
            <a:srgbClr val="E6EBEB"/>
          </a:solidFill>
          <a:ln>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742432" y="2660904"/>
            <a:ext cx="1459111" cy="365760"/>
          </a:xfrm>
          <a:prstGeom prst="roundRect">
            <a:avLst>
              <a:gd name="adj" fmla="val 8000"/>
            </a:avLst>
          </a:prstGeom>
          <a:solidFill>
            <a:srgbClr val="647282"/>
          </a:solidFill>
          <a:ln>
            <a:solidFill>
              <a:srgbClr val="6472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87000" y="2587752"/>
            <a:ext cx="1234440" cy="502920"/>
          </a:xfrm>
          <a:prstGeom prst="rect">
            <a:avLst/>
          </a:prstGeom>
          <a:noFill/>
        </p:spPr>
        <p:txBody>
          <a:bodyPr wrap="square" lIns="9144" rIns="9144" tIns="0" bIns="0">
            <a:spAutoFit/>
          </a:bodyPr>
          <a:lstStyle/>
          <a:p>
            <a:pPr algn="l">
              <a:spcAft>
                <a:spcPts val="500"/>
              </a:spcAft>
              <a:defRPr sz="2500" b="1">
                <a:solidFill>
                  <a:srgbClr val="647282"/>
                </a:solidFill>
                <a:latin typeface="Arial"/>
              </a:defRPr>
            </a:pPr>
            <a:r>
              <a:t>33.6%</a:t>
            </a:r>
          </a:p>
        </p:txBody>
      </p:sp>
      <p:sp>
        <p:nvSpPr>
          <p:cNvPr id="11" name="TextBox 10"/>
          <p:cNvSpPr txBox="1"/>
          <p:nvPr/>
        </p:nvSpPr>
        <p:spPr>
          <a:xfrm>
            <a:off x="749808" y="3657600"/>
            <a:ext cx="4800600" cy="502920"/>
          </a:xfrm>
          <a:prstGeom prst="rect">
            <a:avLst/>
          </a:prstGeom>
          <a:noFill/>
        </p:spPr>
        <p:txBody>
          <a:bodyPr wrap="square" lIns="9144" rIns="9144" tIns="0" bIns="0">
            <a:spAutoFit/>
          </a:bodyPr>
          <a:lstStyle/>
          <a:p>
            <a:pPr algn="l">
              <a:spcAft>
                <a:spcPts val="500"/>
              </a:spcAft>
              <a:defRPr sz="2100" b="0">
                <a:solidFill>
                  <a:srgbClr val="172C45"/>
                </a:solidFill>
                <a:latin typeface="Arial"/>
              </a:defRPr>
            </a:pPr>
            <a:r>
              <a:t>Recommended stage 2: 59 / 128</a:t>
            </a:r>
          </a:p>
        </p:txBody>
      </p:sp>
      <p:sp>
        <p:nvSpPr>
          <p:cNvPr id="12" name="Rounded Rectangle 11"/>
          <p:cNvSpPr/>
          <p:nvPr/>
        </p:nvSpPr>
        <p:spPr>
          <a:xfrm>
            <a:off x="5742432" y="3712463"/>
            <a:ext cx="4343400" cy="365760"/>
          </a:xfrm>
          <a:prstGeom prst="roundRect">
            <a:avLst>
              <a:gd name="adj" fmla="val 8000"/>
            </a:avLst>
          </a:prstGeom>
          <a:solidFill>
            <a:srgbClr val="E6EBEB"/>
          </a:solidFill>
          <a:ln>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742432" y="3712463"/>
            <a:ext cx="2002036" cy="365760"/>
          </a:xfrm>
          <a:prstGeom prst="roundRect">
            <a:avLst>
              <a:gd name="adj" fmla="val 8000"/>
            </a:avLst>
          </a:prstGeom>
          <a:solidFill>
            <a:srgbClr val="087E80"/>
          </a:solidFill>
          <a:ln>
            <a:solidFill>
              <a:srgbClr val="087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87000" y="3639312"/>
            <a:ext cx="1234440" cy="502920"/>
          </a:xfrm>
          <a:prstGeom prst="rect">
            <a:avLst/>
          </a:prstGeom>
          <a:noFill/>
        </p:spPr>
        <p:txBody>
          <a:bodyPr wrap="square" lIns="9144" rIns="9144" tIns="0" bIns="0">
            <a:spAutoFit/>
          </a:bodyPr>
          <a:lstStyle/>
          <a:p>
            <a:pPr algn="l">
              <a:spcAft>
                <a:spcPts val="500"/>
              </a:spcAft>
              <a:defRPr sz="2500" b="1">
                <a:solidFill>
                  <a:srgbClr val="087E80"/>
                </a:solidFill>
                <a:latin typeface="Arial"/>
              </a:defRPr>
            </a:pPr>
            <a:r>
              <a:t>46.1%</a:t>
            </a:r>
          </a:p>
        </p:txBody>
      </p:sp>
      <p:sp>
        <p:nvSpPr>
          <p:cNvPr id="15" name="TextBox 14"/>
          <p:cNvSpPr txBox="1"/>
          <p:nvPr/>
        </p:nvSpPr>
        <p:spPr>
          <a:xfrm>
            <a:off x="749808" y="4709160"/>
            <a:ext cx="4800600" cy="502920"/>
          </a:xfrm>
          <a:prstGeom prst="rect">
            <a:avLst/>
          </a:prstGeom>
          <a:noFill/>
        </p:spPr>
        <p:txBody>
          <a:bodyPr wrap="square" lIns="9144" rIns="9144" tIns="0" bIns="0">
            <a:spAutoFit/>
          </a:bodyPr>
          <a:lstStyle/>
          <a:p>
            <a:pPr algn="l">
              <a:spcAft>
                <a:spcPts val="500"/>
              </a:spcAft>
              <a:defRPr sz="2100" b="0">
                <a:solidFill>
                  <a:srgbClr val="172C45"/>
                </a:solidFill>
                <a:latin typeface="Arial"/>
              </a:defRPr>
            </a:pPr>
            <a:r>
              <a:t>Original LFM3: 94 / 128</a:t>
            </a:r>
          </a:p>
        </p:txBody>
      </p:sp>
      <p:sp>
        <p:nvSpPr>
          <p:cNvPr id="16" name="Rounded Rectangle 15"/>
          <p:cNvSpPr/>
          <p:nvPr/>
        </p:nvSpPr>
        <p:spPr>
          <a:xfrm>
            <a:off x="5742432" y="4764024"/>
            <a:ext cx="4343400" cy="365760"/>
          </a:xfrm>
          <a:prstGeom prst="roundRect">
            <a:avLst>
              <a:gd name="adj" fmla="val 8000"/>
            </a:avLst>
          </a:prstGeom>
          <a:solidFill>
            <a:srgbClr val="E6EBEB"/>
          </a:solidFill>
          <a:ln>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742432" y="4764024"/>
            <a:ext cx="3189684" cy="365760"/>
          </a:xfrm>
          <a:prstGeom prst="roundRect">
            <a:avLst>
              <a:gd name="adj" fmla="val 8000"/>
            </a:avLst>
          </a:prstGeom>
          <a:solidFill>
            <a:srgbClr val="172C45"/>
          </a:solidFill>
          <a:ln>
            <a:solidFill>
              <a:srgbClr val="172C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87000" y="4690872"/>
            <a:ext cx="1234440" cy="502920"/>
          </a:xfrm>
          <a:prstGeom prst="rect">
            <a:avLst/>
          </a:prstGeom>
          <a:noFill/>
        </p:spPr>
        <p:txBody>
          <a:bodyPr wrap="square" lIns="9144" rIns="9144" tIns="0" bIns="0">
            <a:spAutoFit/>
          </a:bodyPr>
          <a:lstStyle/>
          <a:p>
            <a:pPr algn="l">
              <a:spcAft>
                <a:spcPts val="500"/>
              </a:spcAft>
              <a:defRPr sz="2500" b="1">
                <a:solidFill>
                  <a:srgbClr val="172C45"/>
                </a:solidFill>
                <a:latin typeface="Arial"/>
              </a:defRPr>
            </a:pPr>
            <a:r>
              <a:t>73.4%</a:t>
            </a:r>
          </a:p>
        </p:txBody>
      </p:sp>
      <p:sp>
        <p:nvSpPr>
          <p:cNvPr id="19" name="TextBox 18"/>
          <p:cNvSpPr txBox="1"/>
          <p:nvPr/>
        </p:nvSpPr>
        <p:spPr>
          <a:xfrm>
            <a:off x="795528" y="5833872"/>
            <a:ext cx="10789920" cy="457200"/>
          </a:xfrm>
          <a:prstGeom prst="rect">
            <a:avLst/>
          </a:prstGeom>
          <a:noFill/>
        </p:spPr>
        <p:txBody>
          <a:bodyPr wrap="square" lIns="9144" rIns="9144" tIns="0" bIns="0">
            <a:spAutoFit/>
          </a:bodyPr>
          <a:lstStyle/>
          <a:p>
            <a:pPr algn="l">
              <a:spcAft>
                <a:spcPts val="500"/>
              </a:spcAft>
              <a:defRPr sz="1900" b="1">
                <a:solidFill>
                  <a:srgbClr val="087E80"/>
                </a:solidFill>
                <a:latin typeface="Arial"/>
              </a:defRPr>
            </a:pPr>
            <a:r>
              <a:t>Exact-response probes: 9/50 → 13/50; original LFM3: 25/50.</a:t>
            </a:r>
          </a:p>
        </p:txBody>
      </p:sp>
      <p:sp>
        <p:nvSpPr>
          <p:cNvPr id="20" name="TextBox 19"/>
          <p:cNvSpPr txBox="1"/>
          <p:nvPr/>
        </p:nvSpPr>
        <p:spPr>
          <a:xfrm>
            <a:off x="502920" y="6473952"/>
            <a:ext cx="10561320" cy="219456"/>
          </a:xfrm>
          <a:prstGeom prst="rect">
            <a:avLst/>
          </a:prstGeom>
          <a:noFill/>
        </p:spPr>
        <p:txBody>
          <a:bodyPr wrap="square" lIns="9144" rIns="9144" tIns="0" bIns="0">
            <a:spAutoFit/>
          </a:bodyPr>
          <a:lstStyle/>
          <a:p>
            <a:pPr algn="l">
              <a:spcAft>
                <a:spcPts val="500"/>
              </a:spcAft>
              <a:defRPr sz="1000" b="0">
                <a:solidFill>
                  <a:srgbClr val="647282"/>
                </a:solidFill>
                <a:latin typeface="Arial"/>
              </a:defRPr>
            </a:pPr>
            <a:r>
              <a:t>Stage 2 includes 1.29M added token exposures. Recommendation used this small suite post hoc; no independent confirmation.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Rectangle 1"/>
          <p:cNvSpPr/>
          <p:nvPr/>
        </p:nvSpPr>
        <p:spPr>
          <a:xfrm>
            <a:off x="502920" y="402336"/>
            <a:ext cx="347472" cy="64008"/>
          </a:xfrm>
          <a:prstGeom prst="rect">
            <a:avLst/>
          </a:prstGeom>
          <a:solidFill>
            <a:srgbClr val="087E80"/>
          </a:solidFill>
          <a:ln>
            <a:solidFill>
              <a:srgbClr val="087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50976" y="310896"/>
            <a:ext cx="10058400" cy="274320"/>
          </a:xfrm>
          <a:prstGeom prst="rect">
            <a:avLst/>
          </a:prstGeom>
          <a:noFill/>
        </p:spPr>
        <p:txBody>
          <a:bodyPr wrap="square" lIns="9144" rIns="9144" tIns="0" bIns="0">
            <a:spAutoFit/>
          </a:bodyPr>
          <a:lstStyle/>
          <a:p>
            <a:pPr algn="l">
              <a:spcAft>
                <a:spcPts val="500"/>
              </a:spcAft>
              <a:defRPr sz="1100" b="1">
                <a:solidFill>
                  <a:srgbClr val="087E80"/>
                </a:solidFill>
                <a:latin typeface="Arial"/>
              </a:defRPr>
            </a:pPr>
            <a:r>
              <a:t>SCOPE</a:t>
            </a:r>
          </a:p>
        </p:txBody>
      </p:sp>
      <p:sp>
        <p:nvSpPr>
          <p:cNvPr id="4" name="TextBox 3"/>
          <p:cNvSpPr txBox="1"/>
          <p:nvPr/>
        </p:nvSpPr>
        <p:spPr>
          <a:xfrm>
            <a:off x="502920" y="841248"/>
            <a:ext cx="11155680" cy="841248"/>
          </a:xfrm>
          <a:prstGeom prst="rect">
            <a:avLst/>
          </a:prstGeom>
          <a:noFill/>
        </p:spPr>
        <p:txBody>
          <a:bodyPr wrap="square" lIns="9144" rIns="9144" tIns="0" bIns="0">
            <a:spAutoFit/>
          </a:bodyPr>
          <a:lstStyle/>
          <a:p>
            <a:pPr algn="l">
              <a:spcAft>
                <a:spcPts val="500"/>
              </a:spcAft>
              <a:defRPr sz="3200" b="1">
                <a:solidFill>
                  <a:srgbClr val="172C45"/>
                </a:solidFill>
                <a:latin typeface="Arial"/>
              </a:defRPr>
            </a:pPr>
            <a:r>
              <a:t>Partial recovery has a clear boundary</a:t>
            </a:r>
          </a:p>
        </p:txBody>
      </p:sp>
      <p:sp>
        <p:nvSpPr>
          <p:cNvPr id="5" name="TextBox 4"/>
          <p:cNvSpPr txBox="1"/>
          <p:nvPr/>
        </p:nvSpPr>
        <p:spPr>
          <a:xfrm>
            <a:off x="11091672" y="6428232"/>
            <a:ext cx="548640" cy="274320"/>
          </a:xfrm>
          <a:prstGeom prst="rect">
            <a:avLst/>
          </a:prstGeom>
          <a:noFill/>
        </p:spPr>
        <p:txBody>
          <a:bodyPr wrap="square" lIns="9144" rIns="9144" tIns="0" bIns="0">
            <a:spAutoFit/>
          </a:bodyPr>
          <a:lstStyle/>
          <a:p>
            <a:pPr algn="r">
              <a:spcAft>
                <a:spcPts val="500"/>
              </a:spcAft>
              <a:defRPr sz="1100" b="0">
                <a:solidFill>
                  <a:srgbClr val="647282"/>
                </a:solidFill>
                <a:latin typeface="Arial"/>
              </a:defRPr>
            </a:pPr>
            <a:r>
              <a:t>11</a:t>
            </a:r>
          </a:p>
        </p:txBody>
      </p:sp>
      <p:sp>
        <p:nvSpPr>
          <p:cNvPr id="6" name="Rounded Rectangle 5"/>
          <p:cNvSpPr/>
          <p:nvPr/>
        </p:nvSpPr>
        <p:spPr>
          <a:xfrm>
            <a:off x="685800" y="2331720"/>
            <a:ext cx="5212080" cy="3063240"/>
          </a:xfrm>
          <a:prstGeom prst="roundRect">
            <a:avLst>
              <a:gd name="adj" fmla="val 8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2532888"/>
            <a:ext cx="4791456" cy="365760"/>
          </a:xfrm>
          <a:prstGeom prst="rect">
            <a:avLst/>
          </a:prstGeom>
          <a:noFill/>
        </p:spPr>
        <p:txBody>
          <a:bodyPr wrap="square" lIns="9144" rIns="9144" tIns="0" bIns="0">
            <a:spAutoFit/>
          </a:bodyPr>
          <a:lstStyle/>
          <a:p>
            <a:pPr algn="l">
              <a:spcAft>
                <a:spcPts val="500"/>
              </a:spcAft>
              <a:defRPr sz="1300" b="1">
                <a:solidFill>
                  <a:srgbClr val="087E80"/>
                </a:solidFill>
                <a:latin typeface="Arial"/>
              </a:defRPr>
            </a:pPr>
            <a:r>
              <a:t>DEMONSTRATED</a:t>
            </a:r>
          </a:p>
        </p:txBody>
      </p:sp>
      <p:sp>
        <p:nvSpPr>
          <p:cNvPr id="8" name="TextBox 7"/>
          <p:cNvSpPr txBox="1"/>
          <p:nvPr/>
        </p:nvSpPr>
        <p:spPr>
          <a:xfrm>
            <a:off x="896112" y="3063239"/>
            <a:ext cx="4791456" cy="731520"/>
          </a:xfrm>
          <a:prstGeom prst="rect">
            <a:avLst/>
          </a:prstGeom>
          <a:noFill/>
        </p:spPr>
        <p:txBody>
          <a:bodyPr wrap="square" lIns="9144" rIns="9144" tIns="0" bIns="0">
            <a:spAutoFit/>
          </a:bodyPr>
          <a:lstStyle/>
          <a:p>
            <a:pPr algn="l">
              <a:spcAft>
                <a:spcPts val="500"/>
              </a:spcAft>
              <a:defRPr sz="2600" b="1">
                <a:solidFill>
                  <a:srgbClr val="172C45"/>
                </a:solidFill>
                <a:latin typeface="Arial"/>
              </a:defRPr>
            </a:pPr>
            <a:r>
              <a:t>Measured progress</a:t>
            </a:r>
          </a:p>
        </p:txBody>
      </p:sp>
      <p:sp>
        <p:nvSpPr>
          <p:cNvPr id="9" name="TextBox 8"/>
          <p:cNvSpPr txBox="1"/>
          <p:nvPr/>
        </p:nvSpPr>
        <p:spPr>
          <a:xfrm>
            <a:off x="896112" y="3904487"/>
            <a:ext cx="4791456" cy="1371600"/>
          </a:xfrm>
          <a:prstGeom prst="rect">
            <a:avLst/>
          </a:prstGeom>
          <a:noFill/>
        </p:spPr>
        <p:txBody>
          <a:bodyPr wrap="square" lIns="9144" rIns="9144" tIns="0" bIns="0">
            <a:spAutoFit/>
          </a:bodyPr>
          <a:lstStyle/>
          <a:p>
            <a:pPr algn="l">
              <a:spcAft>
                <a:spcPts val="500"/>
              </a:spcAft>
              <a:defRPr sz="1800" b="0">
                <a:solidFill>
                  <a:srgbClr val="647282"/>
                </a:solidFill>
                <a:latin typeface="Arial"/>
              </a:defRPr>
            </a:pPr>
            <a:r>
              <a:t>Compact synthetic recall.</a:t>
            </a:r>
          </a:p>
          <a:p>
            <a:pPr algn="l">
              <a:spcAft>
                <a:spcPts val="500"/>
              </a:spcAft>
              <a:defRPr sz="1800" b="0">
                <a:solidFill>
                  <a:srgbClr val="647282"/>
                </a:solidFill>
                <a:latin typeface="Arial"/>
              </a:defRPr>
            </a:pPr>
            <a:r>
              <a:t>Faster small-model decoding.</a:t>
            </a:r>
          </a:p>
          <a:p>
            <a:pPr algn="l">
              <a:spcAft>
                <a:spcPts val="500"/>
              </a:spcAft>
              <a:defRPr sz="1800" b="0">
                <a:solidFill>
                  <a:srgbClr val="647282"/>
                </a:solidFill>
                <a:latin typeface="Arial"/>
              </a:defRPr>
            </a:pPr>
            <a:r>
              <a:t>Partial pretrained-model recovery.</a:t>
            </a:r>
          </a:p>
        </p:txBody>
      </p:sp>
      <p:sp>
        <p:nvSpPr>
          <p:cNvPr id="10" name="Rounded Rectangle 9"/>
          <p:cNvSpPr/>
          <p:nvPr/>
        </p:nvSpPr>
        <p:spPr>
          <a:xfrm>
            <a:off x="6263640" y="2331720"/>
            <a:ext cx="5212080" cy="3063240"/>
          </a:xfrm>
          <a:prstGeom prst="roundRect">
            <a:avLst>
              <a:gd name="adj" fmla="val 8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2532888"/>
            <a:ext cx="4791456" cy="365760"/>
          </a:xfrm>
          <a:prstGeom prst="rect">
            <a:avLst/>
          </a:prstGeom>
          <a:noFill/>
        </p:spPr>
        <p:txBody>
          <a:bodyPr wrap="square" lIns="9144" rIns="9144" tIns="0" bIns="0">
            <a:spAutoFit/>
          </a:bodyPr>
          <a:lstStyle/>
          <a:p>
            <a:pPr algn="l">
              <a:spcAft>
                <a:spcPts val="500"/>
              </a:spcAft>
              <a:defRPr sz="1300" b="1">
                <a:solidFill>
                  <a:srgbClr val="D86A32"/>
                </a:solidFill>
                <a:latin typeface="Arial"/>
              </a:defRPr>
            </a:pPr>
            <a:r>
              <a:t>STILL OPEN</a:t>
            </a:r>
          </a:p>
        </p:txBody>
      </p:sp>
      <p:sp>
        <p:nvSpPr>
          <p:cNvPr id="12" name="TextBox 11"/>
          <p:cNvSpPr txBox="1"/>
          <p:nvPr/>
        </p:nvSpPr>
        <p:spPr>
          <a:xfrm>
            <a:off x="6473952" y="3063239"/>
            <a:ext cx="4791456" cy="731520"/>
          </a:xfrm>
          <a:prstGeom prst="rect">
            <a:avLst/>
          </a:prstGeom>
          <a:noFill/>
        </p:spPr>
        <p:txBody>
          <a:bodyPr wrap="square" lIns="9144" rIns="9144" tIns="0" bIns="0">
            <a:spAutoFit/>
          </a:bodyPr>
          <a:lstStyle/>
          <a:p>
            <a:pPr algn="l">
              <a:spcAft>
                <a:spcPts val="500"/>
              </a:spcAft>
              <a:defRPr sz="2600" b="1">
                <a:solidFill>
                  <a:srgbClr val="172C45"/>
                </a:solidFill>
                <a:latin typeface="Arial"/>
              </a:defRPr>
            </a:pPr>
            <a:r>
              <a:t>Reliable capabilities</a:t>
            </a:r>
          </a:p>
        </p:txBody>
      </p:sp>
      <p:sp>
        <p:nvSpPr>
          <p:cNvPr id="13" name="TextBox 12"/>
          <p:cNvSpPr txBox="1"/>
          <p:nvPr/>
        </p:nvSpPr>
        <p:spPr>
          <a:xfrm>
            <a:off x="6473952" y="3904487"/>
            <a:ext cx="4791456" cy="1371600"/>
          </a:xfrm>
          <a:prstGeom prst="rect">
            <a:avLst/>
          </a:prstGeom>
          <a:noFill/>
        </p:spPr>
        <p:txBody>
          <a:bodyPr wrap="square" lIns="9144" rIns="9144" tIns="0" bIns="0">
            <a:spAutoFit/>
          </a:bodyPr>
          <a:lstStyle/>
          <a:p>
            <a:pPr algn="l">
              <a:spcAft>
                <a:spcPts val="500"/>
              </a:spcAft>
              <a:defRPr sz="1800" b="0">
                <a:solidFill>
                  <a:srgbClr val="647282"/>
                </a:solidFill>
                <a:latin typeface="Arial"/>
              </a:defRPr>
            </a:pPr>
            <a:r>
              <a:t>Long recall in the converted model.</a:t>
            </a:r>
          </a:p>
          <a:p>
            <a:pPr algn="l">
              <a:spcAft>
                <a:spcPts val="500"/>
              </a:spcAft>
              <a:defRPr sz="1800" b="0">
                <a:solidFill>
                  <a:srgbClr val="647282"/>
                </a:solidFill>
                <a:latin typeface="Arial"/>
              </a:defRPr>
            </a:pPr>
            <a:r>
              <a:t>Tools, formatting and general reasoning.</a:t>
            </a:r>
          </a:p>
          <a:p>
            <a:pPr algn="l">
              <a:spcAft>
                <a:spcPts val="500"/>
              </a:spcAft>
              <a:defRPr sz="1800" b="0">
                <a:solidFill>
                  <a:srgbClr val="647282"/>
                </a:solidFill>
                <a:latin typeface="Arial"/>
              </a:defRPr>
            </a:pPr>
            <a:r>
              <a:t>An accuracy benefit from energy.</a:t>
            </a:r>
          </a:p>
        </p:txBody>
      </p:sp>
      <p:sp>
        <p:nvSpPr>
          <p:cNvPr id="14" name="TextBox 13"/>
          <p:cNvSpPr txBox="1"/>
          <p:nvPr/>
        </p:nvSpPr>
        <p:spPr>
          <a:xfrm>
            <a:off x="795528" y="5715000"/>
            <a:ext cx="10789920" cy="502920"/>
          </a:xfrm>
          <a:prstGeom prst="rect">
            <a:avLst/>
          </a:prstGeom>
          <a:noFill/>
        </p:spPr>
        <p:txBody>
          <a:bodyPr wrap="square" lIns="9144" rIns="9144" tIns="0" bIns="0">
            <a:spAutoFit/>
          </a:bodyPr>
          <a:lstStyle/>
          <a:p>
            <a:pPr algn="l">
              <a:spcAft>
                <a:spcPts val="500"/>
              </a:spcAft>
              <a:defRPr sz="2000" b="1">
                <a:solidFill>
                  <a:srgbClr val="D86A32"/>
                </a:solidFill>
                <a:latin typeface="Arial"/>
              </a:defRPr>
            </a:pPr>
            <a:r>
              <a:t>279 REWT tests pass. Implementation checks do not establish model quality.</a:t>
            </a:r>
          </a:p>
        </p:txBody>
      </p:sp>
      <p:sp>
        <p:nvSpPr>
          <p:cNvPr id="15" name="TextBox 14"/>
          <p:cNvSpPr txBox="1"/>
          <p:nvPr/>
        </p:nvSpPr>
        <p:spPr>
          <a:xfrm>
            <a:off x="502920" y="6473952"/>
            <a:ext cx="10561320" cy="219456"/>
          </a:xfrm>
          <a:prstGeom prst="rect">
            <a:avLst/>
          </a:prstGeom>
          <a:noFill/>
        </p:spPr>
        <p:txBody>
          <a:bodyPr wrap="square" lIns="9144" rIns="9144" tIns="0" bIns="0">
            <a:spAutoFit/>
          </a:bodyPr>
          <a:lstStyle/>
          <a:p>
            <a:pPr algn="l">
              <a:spcAft>
                <a:spcPts val="500"/>
              </a:spcAft>
              <a:defRPr sz="1000" b="0">
                <a:solidFill>
                  <a:srgbClr val="647282"/>
                </a:solidFill>
                <a:latin typeface="Arial"/>
              </a:defRPr>
            </a:pPr>
            <a:r>
              <a:t>Converted stage 2: 0/8 longer-recall codes and 0/4 tool-JSON probes. Exact-score gains mainly reflect short recall formatting.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Rectangle 1"/>
          <p:cNvSpPr/>
          <p:nvPr/>
        </p:nvSpPr>
        <p:spPr>
          <a:xfrm>
            <a:off x="502920" y="402336"/>
            <a:ext cx="347472" cy="64008"/>
          </a:xfrm>
          <a:prstGeom prst="rect">
            <a:avLst/>
          </a:prstGeom>
          <a:solidFill>
            <a:srgbClr val="087E80"/>
          </a:solidFill>
          <a:ln>
            <a:solidFill>
              <a:srgbClr val="087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50976" y="310896"/>
            <a:ext cx="10058400" cy="274320"/>
          </a:xfrm>
          <a:prstGeom prst="rect">
            <a:avLst/>
          </a:prstGeom>
          <a:noFill/>
        </p:spPr>
        <p:txBody>
          <a:bodyPr wrap="square" lIns="9144" rIns="9144" tIns="0" bIns="0">
            <a:spAutoFit/>
          </a:bodyPr>
          <a:lstStyle/>
          <a:p>
            <a:pPr algn="l">
              <a:spcAft>
                <a:spcPts val="500"/>
              </a:spcAft>
              <a:defRPr sz="1100" b="1">
                <a:solidFill>
                  <a:srgbClr val="087E80"/>
                </a:solidFill>
                <a:latin typeface="Arial"/>
              </a:defRPr>
            </a:pPr>
            <a:r>
              <a:t>TAKEAWAY</a:t>
            </a:r>
          </a:p>
        </p:txBody>
      </p:sp>
      <p:sp>
        <p:nvSpPr>
          <p:cNvPr id="4" name="TextBox 3"/>
          <p:cNvSpPr txBox="1"/>
          <p:nvPr/>
        </p:nvSpPr>
        <p:spPr>
          <a:xfrm>
            <a:off x="502920" y="841248"/>
            <a:ext cx="11155680" cy="841248"/>
          </a:xfrm>
          <a:prstGeom prst="rect">
            <a:avLst/>
          </a:prstGeom>
          <a:noFill/>
        </p:spPr>
        <p:txBody>
          <a:bodyPr wrap="square" lIns="9144" rIns="9144" tIns="0" bIns="0">
            <a:spAutoFit/>
          </a:bodyPr>
          <a:lstStyle/>
          <a:p>
            <a:pPr algn="l">
              <a:spcAft>
                <a:spcPts val="500"/>
              </a:spcAft>
              <a:defRPr sz="3200" b="1">
                <a:solidFill>
                  <a:srgbClr val="172C45"/>
                </a:solidFill>
                <a:latin typeface="Arial"/>
              </a:defRPr>
            </a:pPr>
            <a:r>
              <a:t>Make refinement earn its computational cost</a:t>
            </a:r>
          </a:p>
        </p:txBody>
      </p:sp>
      <p:sp>
        <p:nvSpPr>
          <p:cNvPr id="5" name="TextBox 4"/>
          <p:cNvSpPr txBox="1"/>
          <p:nvPr/>
        </p:nvSpPr>
        <p:spPr>
          <a:xfrm>
            <a:off x="11091672" y="6428232"/>
            <a:ext cx="548640" cy="274320"/>
          </a:xfrm>
          <a:prstGeom prst="rect">
            <a:avLst/>
          </a:prstGeom>
          <a:noFill/>
        </p:spPr>
        <p:txBody>
          <a:bodyPr wrap="square" lIns="9144" rIns="9144" tIns="0" bIns="0">
            <a:spAutoFit/>
          </a:bodyPr>
          <a:lstStyle/>
          <a:p>
            <a:pPr algn="r">
              <a:spcAft>
                <a:spcPts val="500"/>
              </a:spcAft>
              <a:defRPr sz="1100" b="0">
                <a:solidFill>
                  <a:srgbClr val="647282"/>
                </a:solidFill>
                <a:latin typeface="Arial"/>
              </a:defRPr>
            </a:pPr>
            <a:r>
              <a:t>12</a:t>
            </a:r>
          </a:p>
        </p:txBody>
      </p:sp>
      <p:sp>
        <p:nvSpPr>
          <p:cNvPr id="6" name="Oval 5"/>
          <p:cNvSpPr/>
          <p:nvPr/>
        </p:nvSpPr>
        <p:spPr>
          <a:xfrm>
            <a:off x="822960" y="2395728"/>
            <a:ext cx="621792" cy="621792"/>
          </a:xfrm>
          <a:prstGeom prst="ellipse">
            <a:avLst/>
          </a:prstGeom>
          <a:solidFill>
            <a:srgbClr val="08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520086"/>
            <a:ext cx="621792" cy="435254"/>
          </a:xfrm>
          <a:prstGeom prst="rect">
            <a:avLst/>
          </a:prstGeom>
          <a:noFill/>
        </p:spPr>
        <p:txBody>
          <a:bodyPr wrap="square" lIns="9144" rIns="9144" tIns="0" bIns="0">
            <a:spAutoFit/>
          </a:bodyPr>
          <a:lstStyle/>
          <a:p>
            <a:pPr algn="ctr">
              <a:spcAft>
                <a:spcPts val="500"/>
              </a:spcAft>
              <a:defRPr sz="2040" b="1">
                <a:solidFill>
                  <a:srgbClr val="FFFFFF"/>
                </a:solidFill>
                <a:latin typeface="Arial"/>
              </a:defRPr>
            </a:pPr>
            <a:r>
              <a:t>1</a:t>
            </a:r>
          </a:p>
        </p:txBody>
      </p:sp>
      <p:sp>
        <p:nvSpPr>
          <p:cNvPr id="8" name="TextBox 7"/>
          <p:cNvSpPr txBox="1"/>
          <p:nvPr/>
        </p:nvSpPr>
        <p:spPr>
          <a:xfrm>
            <a:off x="1737360" y="2423160"/>
            <a:ext cx="4023360" cy="438912"/>
          </a:xfrm>
          <a:prstGeom prst="rect">
            <a:avLst/>
          </a:prstGeom>
          <a:noFill/>
        </p:spPr>
        <p:txBody>
          <a:bodyPr wrap="square" lIns="9144" rIns="9144" tIns="0" bIns="0">
            <a:spAutoFit/>
          </a:bodyPr>
          <a:lstStyle/>
          <a:p>
            <a:pPr algn="l">
              <a:spcAft>
                <a:spcPts val="500"/>
              </a:spcAft>
              <a:defRPr sz="2500" b="1">
                <a:solidFill>
                  <a:srgbClr val="172C45"/>
                </a:solidFill>
                <a:latin typeface="Arial"/>
              </a:defRPr>
            </a:pPr>
            <a:r>
              <a:t>Teach correction</a:t>
            </a:r>
          </a:p>
        </p:txBody>
      </p:sp>
      <p:sp>
        <p:nvSpPr>
          <p:cNvPr id="9" name="TextBox 8"/>
          <p:cNvSpPr txBox="1"/>
          <p:nvPr/>
        </p:nvSpPr>
        <p:spPr>
          <a:xfrm>
            <a:off x="5715000" y="2441448"/>
            <a:ext cx="5486400" cy="457200"/>
          </a:xfrm>
          <a:prstGeom prst="rect">
            <a:avLst/>
          </a:prstGeom>
          <a:noFill/>
        </p:spPr>
        <p:txBody>
          <a:bodyPr wrap="square" lIns="9144" rIns="9144" tIns="0" bIns="0">
            <a:spAutoFit/>
          </a:bodyPr>
          <a:lstStyle/>
          <a:p>
            <a:pPr algn="l">
              <a:spcAft>
                <a:spcPts val="500"/>
              </a:spcAft>
              <a:defRPr sz="2100" b="0">
                <a:solidFill>
                  <a:srgbClr val="647282"/>
                </a:solidFill>
                <a:latin typeface="Arial"/>
              </a:defRPr>
            </a:pPr>
            <a:r>
              <a:t>Train energy to repair wrong candidates</a:t>
            </a:r>
          </a:p>
        </p:txBody>
      </p:sp>
      <p:sp>
        <p:nvSpPr>
          <p:cNvPr id="10" name="Oval 9"/>
          <p:cNvSpPr/>
          <p:nvPr/>
        </p:nvSpPr>
        <p:spPr>
          <a:xfrm>
            <a:off x="822960" y="3355848"/>
            <a:ext cx="621792" cy="621792"/>
          </a:xfrm>
          <a:prstGeom prst="ellipse">
            <a:avLst/>
          </a:prstGeom>
          <a:solidFill>
            <a:srgbClr val="08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480206"/>
            <a:ext cx="621792" cy="435254"/>
          </a:xfrm>
          <a:prstGeom prst="rect">
            <a:avLst/>
          </a:prstGeom>
          <a:noFill/>
        </p:spPr>
        <p:txBody>
          <a:bodyPr wrap="square" lIns="9144" rIns="9144" tIns="0" bIns="0">
            <a:spAutoFit/>
          </a:bodyPr>
          <a:lstStyle/>
          <a:p>
            <a:pPr algn="ctr">
              <a:spcAft>
                <a:spcPts val="500"/>
              </a:spcAft>
              <a:defRPr sz="2040" b="1">
                <a:solidFill>
                  <a:srgbClr val="FFFFFF"/>
                </a:solidFill>
                <a:latin typeface="Arial"/>
              </a:defRPr>
            </a:pPr>
            <a:r>
              <a:t>2</a:t>
            </a:r>
          </a:p>
        </p:txBody>
      </p:sp>
      <p:sp>
        <p:nvSpPr>
          <p:cNvPr id="12" name="TextBox 11"/>
          <p:cNvSpPr txBox="1"/>
          <p:nvPr/>
        </p:nvSpPr>
        <p:spPr>
          <a:xfrm>
            <a:off x="1737360" y="3383279"/>
            <a:ext cx="4023360" cy="438912"/>
          </a:xfrm>
          <a:prstGeom prst="rect">
            <a:avLst/>
          </a:prstGeom>
          <a:noFill/>
        </p:spPr>
        <p:txBody>
          <a:bodyPr wrap="square" lIns="9144" rIns="9144" tIns="0" bIns="0">
            <a:spAutoFit/>
          </a:bodyPr>
          <a:lstStyle/>
          <a:p>
            <a:pPr algn="l">
              <a:spcAft>
                <a:spcPts val="500"/>
              </a:spcAft>
              <a:defRPr sz="2500" b="1">
                <a:solidFill>
                  <a:srgbClr val="172C45"/>
                </a:solidFill>
                <a:latin typeface="Arial"/>
              </a:defRPr>
            </a:pPr>
            <a:r>
              <a:t>Recover memory</a:t>
            </a:r>
          </a:p>
        </p:txBody>
      </p:sp>
      <p:sp>
        <p:nvSpPr>
          <p:cNvPr id="13" name="TextBox 12"/>
          <p:cNvSpPr txBox="1"/>
          <p:nvPr/>
        </p:nvSpPr>
        <p:spPr>
          <a:xfrm>
            <a:off x="5715000" y="3401568"/>
            <a:ext cx="5486400" cy="457200"/>
          </a:xfrm>
          <a:prstGeom prst="rect">
            <a:avLst/>
          </a:prstGeom>
          <a:noFill/>
        </p:spPr>
        <p:txBody>
          <a:bodyPr wrap="square" lIns="9144" rIns="9144" tIns="0" bIns="0">
            <a:spAutoFit/>
          </a:bodyPr>
          <a:lstStyle/>
          <a:p>
            <a:pPr algn="l">
              <a:spcAft>
                <a:spcPts val="500"/>
              </a:spcAft>
              <a:defRPr sz="2100" b="0">
                <a:solidFill>
                  <a:srgbClr val="647282"/>
                </a:solidFill>
                <a:latin typeface="Arial"/>
              </a:defRPr>
            </a:pPr>
            <a:r>
              <a:t>Train varied long recall and structured outputs</a:t>
            </a:r>
          </a:p>
        </p:txBody>
      </p:sp>
      <p:sp>
        <p:nvSpPr>
          <p:cNvPr id="14" name="Oval 13"/>
          <p:cNvSpPr/>
          <p:nvPr/>
        </p:nvSpPr>
        <p:spPr>
          <a:xfrm>
            <a:off x="822960" y="4315968"/>
            <a:ext cx="621792" cy="621792"/>
          </a:xfrm>
          <a:prstGeom prst="ellipse">
            <a:avLst/>
          </a:prstGeom>
          <a:solidFill>
            <a:srgbClr val="08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4440326"/>
            <a:ext cx="621792" cy="435254"/>
          </a:xfrm>
          <a:prstGeom prst="rect">
            <a:avLst/>
          </a:prstGeom>
          <a:noFill/>
        </p:spPr>
        <p:txBody>
          <a:bodyPr wrap="square" lIns="9144" rIns="9144" tIns="0" bIns="0">
            <a:spAutoFit/>
          </a:bodyPr>
          <a:lstStyle/>
          <a:p>
            <a:pPr algn="ctr">
              <a:spcAft>
                <a:spcPts val="500"/>
              </a:spcAft>
              <a:defRPr sz="2040" b="1">
                <a:solidFill>
                  <a:srgbClr val="FFFFFF"/>
                </a:solidFill>
                <a:latin typeface="Arial"/>
              </a:defRPr>
            </a:pPr>
            <a:r>
              <a:t>3</a:t>
            </a:r>
          </a:p>
        </p:txBody>
      </p:sp>
      <p:sp>
        <p:nvSpPr>
          <p:cNvPr id="16" name="TextBox 15"/>
          <p:cNvSpPr txBox="1"/>
          <p:nvPr/>
        </p:nvSpPr>
        <p:spPr>
          <a:xfrm>
            <a:off x="1737360" y="4343400"/>
            <a:ext cx="4023360" cy="438912"/>
          </a:xfrm>
          <a:prstGeom prst="rect">
            <a:avLst/>
          </a:prstGeom>
          <a:noFill/>
        </p:spPr>
        <p:txBody>
          <a:bodyPr wrap="square" lIns="9144" rIns="9144" tIns="0" bIns="0">
            <a:spAutoFit/>
          </a:bodyPr>
          <a:lstStyle/>
          <a:p>
            <a:pPr algn="l">
              <a:spcAft>
                <a:spcPts val="500"/>
              </a:spcAft>
              <a:defRPr sz="2500" b="1">
                <a:solidFill>
                  <a:srgbClr val="172C45"/>
                </a:solidFill>
                <a:latin typeface="Arial"/>
              </a:defRPr>
            </a:pPr>
            <a:r>
              <a:t>Compare fairly</a:t>
            </a:r>
          </a:p>
        </p:txBody>
      </p:sp>
      <p:sp>
        <p:nvSpPr>
          <p:cNvPr id="17" name="TextBox 16"/>
          <p:cNvSpPr txBox="1"/>
          <p:nvPr/>
        </p:nvSpPr>
        <p:spPr>
          <a:xfrm>
            <a:off x="5715000" y="4361688"/>
            <a:ext cx="5486400" cy="457200"/>
          </a:xfrm>
          <a:prstGeom prst="rect">
            <a:avLst/>
          </a:prstGeom>
          <a:noFill/>
        </p:spPr>
        <p:txBody>
          <a:bodyPr wrap="square" lIns="9144" rIns="9144" tIns="0" bIns="0">
            <a:spAutoFit/>
          </a:bodyPr>
          <a:lstStyle/>
          <a:p>
            <a:pPr algn="l">
              <a:spcAft>
                <a:spcPts val="500"/>
              </a:spcAft>
              <a:defRPr sz="2100" b="0">
                <a:solidFill>
                  <a:srgbClr val="647282"/>
                </a:solidFill>
                <a:latin typeface="Arial"/>
              </a:defRPr>
            </a:pPr>
            <a:r>
              <a:t>Fresh tests, zero-energy and equal-cost controls</a:t>
            </a:r>
          </a:p>
        </p:txBody>
      </p:sp>
      <p:sp>
        <p:nvSpPr>
          <p:cNvPr id="18" name="Rounded Rectangle 17"/>
          <p:cNvSpPr/>
          <p:nvPr/>
        </p:nvSpPr>
        <p:spPr>
          <a:xfrm>
            <a:off x="822960" y="5532120"/>
            <a:ext cx="10561320" cy="640080"/>
          </a:xfrm>
          <a:prstGeom prst="roundRect">
            <a:avLst>
              <a:gd name="adj" fmla="val 8000"/>
            </a:avLst>
          </a:prstGeom>
          <a:solidFill>
            <a:srgbClr val="172C45"/>
          </a:solidFill>
          <a:ln>
            <a:solidFill>
              <a:srgbClr val="172C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5715000"/>
            <a:ext cx="10195560" cy="320040"/>
          </a:xfrm>
          <a:prstGeom prst="rect">
            <a:avLst/>
          </a:prstGeom>
          <a:noFill/>
        </p:spPr>
        <p:txBody>
          <a:bodyPr wrap="square" lIns="9144" rIns="9144" tIns="0" bIns="0">
            <a:spAutoFit/>
          </a:bodyPr>
          <a:lstStyle/>
          <a:p>
            <a:pPr algn="ctr">
              <a:spcAft>
                <a:spcPts val="500"/>
              </a:spcAft>
              <a:defRPr sz="2100" b="1">
                <a:solidFill>
                  <a:srgbClr val="FFFFFF"/>
                </a:solidFill>
                <a:latin typeface="Arial"/>
              </a:defRPr>
            </a:pPr>
            <a:r>
              <a:t>Compact memory works here; energy must still earn its cost.</a:t>
            </a:r>
          </a:p>
        </p:txBody>
      </p:sp>
      <p:sp>
        <p:nvSpPr>
          <p:cNvPr id="20" name="TextBox 19"/>
          <p:cNvSpPr txBox="1"/>
          <p:nvPr/>
        </p:nvSpPr>
        <p:spPr>
          <a:xfrm>
            <a:off x="502920" y="6473952"/>
            <a:ext cx="10561320" cy="219456"/>
          </a:xfrm>
          <a:prstGeom prst="rect">
            <a:avLst/>
          </a:prstGeom>
          <a:noFill/>
        </p:spPr>
        <p:txBody>
          <a:bodyPr wrap="square" lIns="9144" rIns="9144" tIns="0" bIns="0">
            <a:spAutoFit/>
          </a:bodyPr>
          <a:lstStyle/>
          <a:p>
            <a:pPr algn="l">
              <a:spcAft>
                <a:spcPts val="500"/>
              </a:spcAft>
              <a:defRPr sz="1000" b="0">
                <a:solidFill>
                  <a:srgbClr val="647282"/>
                </a:solidFill>
                <a:latin typeface="Arial"/>
              </a:defRPr>
            </a:pPr>
            <a:r>
              <a:t>Research question: can energy refinement improve retrieval enough to justify its additional computation?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Rectangle 1"/>
          <p:cNvSpPr/>
          <p:nvPr/>
        </p:nvSpPr>
        <p:spPr>
          <a:xfrm>
            <a:off x="502920" y="402336"/>
            <a:ext cx="347472" cy="64008"/>
          </a:xfrm>
          <a:prstGeom prst="rect">
            <a:avLst/>
          </a:prstGeom>
          <a:solidFill>
            <a:srgbClr val="087E80"/>
          </a:solidFill>
          <a:ln>
            <a:solidFill>
              <a:srgbClr val="087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50976" y="310896"/>
            <a:ext cx="10058400" cy="274320"/>
          </a:xfrm>
          <a:prstGeom prst="rect">
            <a:avLst/>
          </a:prstGeom>
          <a:noFill/>
        </p:spPr>
        <p:txBody>
          <a:bodyPr wrap="square" lIns="9144" rIns="9144" tIns="0" bIns="0">
            <a:spAutoFit/>
          </a:bodyPr>
          <a:lstStyle/>
          <a:p>
            <a:pPr algn="l">
              <a:spcAft>
                <a:spcPts val="500"/>
              </a:spcAft>
              <a:defRPr sz="1100" b="1">
                <a:solidFill>
                  <a:srgbClr val="087E80"/>
                </a:solidFill>
                <a:latin typeface="Arial"/>
              </a:defRPr>
            </a:pPr>
            <a:r>
              <a:t>Appendix A · streaming energy head</a:t>
            </a:r>
          </a:p>
        </p:txBody>
      </p:sp>
      <p:sp>
        <p:nvSpPr>
          <p:cNvPr id="4" name="TextBox 3"/>
          <p:cNvSpPr txBox="1"/>
          <p:nvPr/>
        </p:nvSpPr>
        <p:spPr>
          <a:xfrm>
            <a:off x="502920" y="841248"/>
            <a:ext cx="11155680" cy="841248"/>
          </a:xfrm>
          <a:prstGeom prst="rect">
            <a:avLst/>
          </a:prstGeom>
          <a:noFill/>
        </p:spPr>
        <p:txBody>
          <a:bodyPr wrap="square" lIns="9144" rIns="9144" tIns="0" bIns="0">
            <a:spAutoFit/>
          </a:bodyPr>
          <a:lstStyle/>
          <a:p>
            <a:pPr algn="l">
              <a:spcAft>
                <a:spcPts val="500"/>
              </a:spcAft>
              <a:defRPr sz="3200" b="1">
                <a:solidFill>
                  <a:srgbClr val="172C45"/>
                </a:solidFill>
                <a:latin typeface="Arial"/>
              </a:defRPr>
            </a:pPr>
            <a:r>
              <a:t>Lower energy is an internal guarantee</a:t>
            </a:r>
          </a:p>
        </p:txBody>
      </p:sp>
      <p:sp>
        <p:nvSpPr>
          <p:cNvPr id="5" name="TextBox 4"/>
          <p:cNvSpPr txBox="1"/>
          <p:nvPr/>
        </p:nvSpPr>
        <p:spPr>
          <a:xfrm>
            <a:off x="521207" y="1783080"/>
            <a:ext cx="11064240" cy="502920"/>
          </a:xfrm>
          <a:prstGeom prst="rect">
            <a:avLst/>
          </a:prstGeom>
          <a:noFill/>
        </p:spPr>
        <p:txBody>
          <a:bodyPr wrap="square" lIns="9144" rIns="9144" tIns="0" bIns="0">
            <a:spAutoFit/>
          </a:bodyPr>
          <a:lstStyle/>
          <a:p>
            <a:pPr algn="l">
              <a:spcAft>
                <a:spcPts val="500"/>
              </a:spcAft>
              <a:defRPr sz="1800" b="0">
                <a:solidFill>
                  <a:srgbClr val="647282"/>
                </a:solidFill>
                <a:latin typeface="Arial"/>
              </a:defRPr>
            </a:pPr>
            <a:r>
              <a:t>Hold the anchor and coefficients fixed during each refinement loop.</a:t>
            </a:r>
          </a:p>
        </p:txBody>
      </p:sp>
      <p:sp>
        <p:nvSpPr>
          <p:cNvPr id="6" name="TextBox 5"/>
          <p:cNvSpPr txBox="1"/>
          <p:nvPr/>
        </p:nvSpPr>
        <p:spPr>
          <a:xfrm>
            <a:off x="11091672" y="6428232"/>
            <a:ext cx="548640" cy="274320"/>
          </a:xfrm>
          <a:prstGeom prst="rect">
            <a:avLst/>
          </a:prstGeom>
          <a:noFill/>
        </p:spPr>
        <p:txBody>
          <a:bodyPr wrap="square" lIns="9144" rIns="9144" tIns="0" bIns="0">
            <a:spAutoFit/>
          </a:bodyPr>
          <a:lstStyle/>
          <a:p>
            <a:pPr algn="r">
              <a:spcAft>
                <a:spcPts val="500"/>
              </a:spcAft>
              <a:defRPr sz="1100" b="0">
                <a:solidFill>
                  <a:srgbClr val="647282"/>
                </a:solidFill>
                <a:latin typeface="Arial"/>
              </a:defRPr>
            </a:pPr>
            <a:r>
              <a:t>13</a:t>
            </a:r>
          </a:p>
        </p:txBody>
      </p:sp>
      <p:sp>
        <p:nvSpPr>
          <p:cNvPr id="7" name="TextBox 6"/>
          <p:cNvSpPr txBox="1"/>
          <p:nvPr/>
        </p:nvSpPr>
        <p:spPr>
          <a:xfrm>
            <a:off x="868680" y="2651760"/>
            <a:ext cx="10515600" cy="685800"/>
          </a:xfrm>
          <a:prstGeom prst="rect">
            <a:avLst/>
          </a:prstGeom>
          <a:noFill/>
        </p:spPr>
        <p:txBody>
          <a:bodyPr wrap="square" lIns="9144" rIns="9144" tIns="0" bIns="0">
            <a:spAutoFit/>
          </a:bodyPr>
          <a:lstStyle/>
          <a:p>
            <a:pPr algn="ctr">
              <a:spcAft>
                <a:spcPts val="500"/>
              </a:spcAft>
              <a:defRPr sz="3100" b="1">
                <a:solidFill>
                  <a:srgbClr val="172C45"/>
                </a:solidFill>
                <a:latin typeface="Arial"/>
              </a:defRPr>
            </a:pPr>
            <a:r>
              <a:t>E(δ) = ½ δᵀ P δ + Σ a_k cos(ω_kᵀδ + φ_k)</a:t>
            </a:r>
          </a:p>
        </p:txBody>
      </p:sp>
      <p:sp>
        <p:nvSpPr>
          <p:cNvPr id="8" name="TextBox 7"/>
          <p:cNvSpPr txBox="1"/>
          <p:nvPr/>
        </p:nvSpPr>
        <p:spPr>
          <a:xfrm>
            <a:off x="914400" y="3657600"/>
            <a:ext cx="10332720" cy="457200"/>
          </a:xfrm>
          <a:prstGeom prst="rect">
            <a:avLst/>
          </a:prstGeom>
          <a:noFill/>
        </p:spPr>
        <p:txBody>
          <a:bodyPr wrap="square" lIns="9144" rIns="9144" tIns="0" bIns="0">
            <a:spAutoFit/>
          </a:bodyPr>
          <a:lstStyle/>
          <a:p>
            <a:pPr algn="ctr">
              <a:spcAft>
                <a:spcPts val="500"/>
              </a:spcAft>
              <a:defRPr sz="2300" b="0">
                <a:solidFill>
                  <a:srgbClr val="087E80"/>
                </a:solidFill>
                <a:latin typeface="Arial"/>
              </a:defRPr>
            </a:pPr>
            <a:r>
              <a:t>δ = candidate − anchor       P is positive diagonal</a:t>
            </a:r>
          </a:p>
        </p:txBody>
      </p:sp>
      <p:sp>
        <p:nvSpPr>
          <p:cNvPr id="9" name="TextBox 8"/>
          <p:cNvSpPr txBox="1"/>
          <p:nvPr/>
        </p:nvSpPr>
        <p:spPr>
          <a:xfrm>
            <a:off x="896112" y="4617720"/>
            <a:ext cx="10424160" cy="594360"/>
          </a:xfrm>
          <a:prstGeom prst="rect">
            <a:avLst/>
          </a:prstGeom>
          <a:noFill/>
        </p:spPr>
        <p:txBody>
          <a:bodyPr wrap="square" lIns="9144" rIns="9144" tIns="0" bIns="0">
            <a:spAutoFit/>
          </a:bodyPr>
          <a:lstStyle/>
          <a:p>
            <a:pPr algn="ctr">
              <a:spcAft>
                <a:spcPts val="500"/>
              </a:spcAft>
              <a:defRPr sz="2700" b="1">
                <a:solidFill>
                  <a:srgbClr val="172C45"/>
                </a:solidFill>
                <a:latin typeface="Arial"/>
              </a:defRPr>
            </a:pPr>
            <a:r>
              <a:t>δ′ = δ − η ∇E(δ),     η = 0.95 / L_bound</a:t>
            </a:r>
          </a:p>
        </p:txBody>
      </p:sp>
      <p:sp>
        <p:nvSpPr>
          <p:cNvPr id="10" name="TextBox 9"/>
          <p:cNvSpPr txBox="1"/>
          <p:nvPr/>
        </p:nvSpPr>
        <p:spPr>
          <a:xfrm>
            <a:off x="896112" y="5669280"/>
            <a:ext cx="10378440" cy="594360"/>
          </a:xfrm>
          <a:prstGeom prst="rect">
            <a:avLst/>
          </a:prstGeom>
          <a:noFill/>
        </p:spPr>
        <p:txBody>
          <a:bodyPr wrap="square" lIns="9144" rIns="9144" tIns="0" bIns="0">
            <a:spAutoFit/>
          </a:bodyPr>
          <a:lstStyle/>
          <a:p>
            <a:pPr algn="l">
              <a:spcAft>
                <a:spcPts val="500"/>
              </a:spcAft>
              <a:defRPr sz="2000" b="1">
                <a:solidFill>
                  <a:srgbClr val="D86A32"/>
                </a:solidFill>
                <a:latin typeface="Arial"/>
              </a:defRPr>
            </a:pPr>
            <a:r>
              <a:t>A bound on curvature controls the step. A lower score need not mean a better answer.</a:t>
            </a:r>
          </a:p>
        </p:txBody>
      </p:sp>
      <p:sp>
        <p:nvSpPr>
          <p:cNvPr id="11" name="TextBox 10"/>
          <p:cNvSpPr txBox="1"/>
          <p:nvPr/>
        </p:nvSpPr>
        <p:spPr>
          <a:xfrm>
            <a:off x="502920" y="6473952"/>
            <a:ext cx="10561320" cy="219456"/>
          </a:xfrm>
          <a:prstGeom prst="rect">
            <a:avLst/>
          </a:prstGeom>
          <a:noFill/>
        </p:spPr>
        <p:txBody>
          <a:bodyPr wrap="square" lIns="9144" rIns="9144" tIns="0" bIns="0">
            <a:spAutoFit/>
          </a:bodyPr>
          <a:lstStyle/>
          <a:p>
            <a:pPr algn="l">
              <a:spcAft>
                <a:spcPts val="500"/>
              </a:spcAft>
              <a:defRPr sz="1000" b="0">
                <a:solidFill>
                  <a:srgbClr val="647282"/>
                </a:solidFill>
                <a:latin typeface="Arial"/>
              </a:defRPr>
            </a:pPr>
            <a:r>
              <a:t>Streaming head: L_bound = max diagonal(P) + Σ |a_k| ||ω_k||². This is distinct from the earlier joint-energy solver.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Rectangle 1"/>
          <p:cNvSpPr/>
          <p:nvPr/>
        </p:nvSpPr>
        <p:spPr>
          <a:xfrm>
            <a:off x="502920" y="402336"/>
            <a:ext cx="347472" cy="64008"/>
          </a:xfrm>
          <a:prstGeom prst="rect">
            <a:avLst/>
          </a:prstGeom>
          <a:solidFill>
            <a:srgbClr val="087E80"/>
          </a:solidFill>
          <a:ln>
            <a:solidFill>
              <a:srgbClr val="087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50976" y="310896"/>
            <a:ext cx="10058400" cy="274320"/>
          </a:xfrm>
          <a:prstGeom prst="rect">
            <a:avLst/>
          </a:prstGeom>
          <a:noFill/>
        </p:spPr>
        <p:txBody>
          <a:bodyPr wrap="square" lIns="9144" rIns="9144" tIns="0" bIns="0">
            <a:spAutoFit/>
          </a:bodyPr>
          <a:lstStyle/>
          <a:p>
            <a:pPr algn="l">
              <a:spcAft>
                <a:spcPts val="500"/>
              </a:spcAft>
              <a:defRPr sz="1100" b="1">
                <a:solidFill>
                  <a:srgbClr val="087E80"/>
                </a:solidFill>
                <a:latin typeface="Arial"/>
              </a:defRPr>
            </a:pPr>
            <a:r>
              <a:t>Appendix B · quality and energy controls</a:t>
            </a:r>
          </a:p>
        </p:txBody>
      </p:sp>
      <p:sp>
        <p:nvSpPr>
          <p:cNvPr id="4" name="TextBox 3"/>
          <p:cNvSpPr txBox="1"/>
          <p:nvPr/>
        </p:nvSpPr>
        <p:spPr>
          <a:xfrm>
            <a:off x="502920" y="841248"/>
            <a:ext cx="11155680" cy="841248"/>
          </a:xfrm>
          <a:prstGeom prst="rect">
            <a:avLst/>
          </a:prstGeom>
          <a:noFill/>
        </p:spPr>
        <p:txBody>
          <a:bodyPr wrap="square" lIns="9144" rIns="9144" tIns="0" bIns="0">
            <a:spAutoFit/>
          </a:bodyPr>
          <a:lstStyle/>
          <a:p>
            <a:pPr algn="l">
              <a:spcAft>
                <a:spcPts val="500"/>
              </a:spcAft>
              <a:defRPr sz="3200" b="1">
                <a:solidFill>
                  <a:srgbClr val="172C45"/>
                </a:solidFill>
                <a:latin typeface="Arial"/>
              </a:defRPr>
            </a:pPr>
            <a:r>
              <a:t>Energy does not yet improve the main task score</a:t>
            </a:r>
          </a:p>
        </p:txBody>
      </p:sp>
      <p:sp>
        <p:nvSpPr>
          <p:cNvPr id="5" name="TextBox 4"/>
          <p:cNvSpPr txBox="1"/>
          <p:nvPr/>
        </p:nvSpPr>
        <p:spPr>
          <a:xfrm>
            <a:off x="521207" y="1783080"/>
            <a:ext cx="11064240" cy="502920"/>
          </a:xfrm>
          <a:prstGeom prst="rect">
            <a:avLst/>
          </a:prstGeom>
          <a:noFill/>
        </p:spPr>
        <p:txBody>
          <a:bodyPr wrap="square" lIns="9144" rIns="9144" tIns="0" bIns="0">
            <a:spAutoFit/>
          </a:bodyPr>
          <a:lstStyle/>
          <a:p>
            <a:pPr algn="l">
              <a:spcAft>
                <a:spcPts val="500"/>
              </a:spcAft>
              <a:defRPr sz="1800" b="0">
                <a:solidFill>
                  <a:srgbClr val="647282"/>
                </a:solidFill>
                <a:latin typeface="Arial"/>
              </a:defRPr>
            </a:pPr>
            <a:r>
              <a:t>Small streaming models; all values average three seeds. Lower story loss is better.</a:t>
            </a:r>
          </a:p>
        </p:txBody>
      </p:sp>
      <p:sp>
        <p:nvSpPr>
          <p:cNvPr id="6" name="TextBox 5"/>
          <p:cNvSpPr txBox="1"/>
          <p:nvPr/>
        </p:nvSpPr>
        <p:spPr>
          <a:xfrm>
            <a:off x="11091672" y="6428232"/>
            <a:ext cx="548640" cy="274320"/>
          </a:xfrm>
          <a:prstGeom prst="rect">
            <a:avLst/>
          </a:prstGeom>
          <a:noFill/>
        </p:spPr>
        <p:txBody>
          <a:bodyPr wrap="square" lIns="9144" rIns="9144" tIns="0" bIns="0">
            <a:spAutoFit/>
          </a:bodyPr>
          <a:lstStyle/>
          <a:p>
            <a:pPr algn="r">
              <a:spcAft>
                <a:spcPts val="500"/>
              </a:spcAft>
              <a:defRPr sz="1100" b="0">
                <a:solidFill>
                  <a:srgbClr val="647282"/>
                </a:solidFill>
                <a:latin typeface="Arial"/>
              </a:defRPr>
            </a:pPr>
            <a:r>
              <a:t>14</a:t>
            </a:r>
          </a:p>
        </p:txBody>
      </p:sp>
      <p:sp>
        <p:nvSpPr>
          <p:cNvPr id="7" name="TextBox 6"/>
          <p:cNvSpPr txBox="1"/>
          <p:nvPr/>
        </p:nvSpPr>
        <p:spPr>
          <a:xfrm>
            <a:off x="822960" y="2514600"/>
            <a:ext cx="5074920" cy="411480"/>
          </a:xfrm>
          <a:prstGeom prst="rect">
            <a:avLst/>
          </a:prstGeom>
          <a:noFill/>
        </p:spPr>
        <p:txBody>
          <a:bodyPr wrap="square" lIns="9144" rIns="9144" tIns="0" bIns="0">
            <a:spAutoFit/>
          </a:bodyPr>
          <a:lstStyle/>
          <a:p>
            <a:pPr algn="l">
              <a:spcAft>
                <a:spcPts val="500"/>
              </a:spcAft>
              <a:defRPr sz="1800" b="1">
                <a:solidFill>
                  <a:srgbClr val="087E80"/>
                </a:solidFill>
                <a:latin typeface="Arial"/>
              </a:defRPr>
            </a:pPr>
            <a:r>
              <a:t>Model</a:t>
            </a:r>
          </a:p>
        </p:txBody>
      </p:sp>
      <p:sp>
        <p:nvSpPr>
          <p:cNvPr id="8" name="TextBox 7"/>
          <p:cNvSpPr txBox="1"/>
          <p:nvPr/>
        </p:nvSpPr>
        <p:spPr>
          <a:xfrm>
            <a:off x="5486400" y="2514600"/>
            <a:ext cx="2743200" cy="411480"/>
          </a:xfrm>
          <a:prstGeom prst="rect">
            <a:avLst/>
          </a:prstGeom>
          <a:noFill/>
        </p:spPr>
        <p:txBody>
          <a:bodyPr wrap="square" lIns="9144" rIns="9144" tIns="0" bIns="0">
            <a:spAutoFit/>
          </a:bodyPr>
          <a:lstStyle/>
          <a:p>
            <a:pPr algn="l">
              <a:spcAft>
                <a:spcPts val="500"/>
              </a:spcAft>
              <a:defRPr sz="1800" b="1">
                <a:solidFill>
                  <a:srgbClr val="087E80"/>
                </a:solidFill>
                <a:latin typeface="Arial"/>
              </a:defRPr>
            </a:pPr>
            <a:r>
              <a:t>Long recall</a:t>
            </a:r>
          </a:p>
        </p:txBody>
      </p:sp>
      <p:sp>
        <p:nvSpPr>
          <p:cNvPr id="9" name="TextBox 8"/>
          <p:cNvSpPr txBox="1"/>
          <p:nvPr/>
        </p:nvSpPr>
        <p:spPr>
          <a:xfrm>
            <a:off x="8366760" y="2514600"/>
            <a:ext cx="3017520" cy="411480"/>
          </a:xfrm>
          <a:prstGeom prst="rect">
            <a:avLst/>
          </a:prstGeom>
          <a:noFill/>
        </p:spPr>
        <p:txBody>
          <a:bodyPr wrap="square" lIns="9144" rIns="9144" tIns="0" bIns="0">
            <a:spAutoFit/>
          </a:bodyPr>
          <a:lstStyle/>
          <a:p>
            <a:pPr algn="l">
              <a:spcAft>
                <a:spcPts val="500"/>
              </a:spcAft>
              <a:defRPr sz="1800" b="1">
                <a:solidFill>
                  <a:srgbClr val="087E80"/>
                </a:solidFill>
                <a:latin typeface="Arial"/>
              </a:defRPr>
            </a:pPr>
            <a:r>
              <a:t>Story bpb, equal CPU</a:t>
            </a:r>
          </a:p>
        </p:txBody>
      </p:sp>
      <p:sp>
        <p:nvSpPr>
          <p:cNvPr id="10" name="TextBox 9"/>
          <p:cNvSpPr txBox="1"/>
          <p:nvPr/>
        </p:nvSpPr>
        <p:spPr>
          <a:xfrm>
            <a:off x="822960" y="3246120"/>
            <a:ext cx="4754880" cy="502920"/>
          </a:xfrm>
          <a:prstGeom prst="rect">
            <a:avLst/>
          </a:prstGeom>
          <a:noFill/>
        </p:spPr>
        <p:txBody>
          <a:bodyPr wrap="square" lIns="9144" rIns="9144" tIns="0" bIns="0">
            <a:spAutoFit/>
          </a:bodyPr>
          <a:lstStyle/>
          <a:p>
            <a:pPr algn="l">
              <a:spcAft>
                <a:spcPts val="500"/>
              </a:spcAft>
              <a:defRPr sz="2100" b="0">
                <a:solidFill>
                  <a:srgbClr val="172C45"/>
                </a:solidFill>
                <a:latin typeface="Arial"/>
              </a:defRPr>
            </a:pPr>
            <a:r>
              <a:t>Full Transformer</a:t>
            </a:r>
          </a:p>
        </p:txBody>
      </p:sp>
      <p:sp>
        <p:nvSpPr>
          <p:cNvPr id="11" name="TextBox 10"/>
          <p:cNvSpPr txBox="1"/>
          <p:nvPr/>
        </p:nvSpPr>
        <p:spPr>
          <a:xfrm>
            <a:off x="5486400" y="3246120"/>
            <a:ext cx="2560320" cy="457200"/>
          </a:xfrm>
          <a:prstGeom prst="rect">
            <a:avLst/>
          </a:prstGeom>
          <a:noFill/>
        </p:spPr>
        <p:txBody>
          <a:bodyPr wrap="square" lIns="9144" rIns="9144" tIns="0" bIns="0">
            <a:spAutoFit/>
          </a:bodyPr>
          <a:lstStyle/>
          <a:p>
            <a:pPr algn="l">
              <a:spcAft>
                <a:spcPts val="500"/>
              </a:spcAft>
              <a:defRPr sz="2200" b="1">
                <a:solidFill>
                  <a:srgbClr val="172C45"/>
                </a:solidFill>
                <a:latin typeface="Arial"/>
              </a:defRPr>
            </a:pPr>
            <a:r>
              <a:t>14.35%</a:t>
            </a:r>
          </a:p>
        </p:txBody>
      </p:sp>
      <p:sp>
        <p:nvSpPr>
          <p:cNvPr id="12" name="TextBox 11"/>
          <p:cNvSpPr txBox="1"/>
          <p:nvPr/>
        </p:nvSpPr>
        <p:spPr>
          <a:xfrm>
            <a:off x="8366760" y="3246120"/>
            <a:ext cx="2834640" cy="457200"/>
          </a:xfrm>
          <a:prstGeom prst="rect">
            <a:avLst/>
          </a:prstGeom>
          <a:noFill/>
        </p:spPr>
        <p:txBody>
          <a:bodyPr wrap="square" lIns="9144" rIns="9144" tIns="0" bIns="0">
            <a:spAutoFit/>
          </a:bodyPr>
          <a:lstStyle/>
          <a:p>
            <a:pPr algn="l">
              <a:spcAft>
                <a:spcPts val="500"/>
              </a:spcAft>
              <a:defRPr sz="2200" b="1">
                <a:solidFill>
                  <a:srgbClr val="172C45"/>
                </a:solidFill>
                <a:latin typeface="Arial"/>
              </a:defRPr>
            </a:pPr>
            <a:r>
              <a:t>1.4641</a:t>
            </a:r>
          </a:p>
        </p:txBody>
      </p:sp>
      <p:sp>
        <p:nvSpPr>
          <p:cNvPr id="13" name="TextBox 12"/>
          <p:cNvSpPr txBox="1"/>
          <p:nvPr/>
        </p:nvSpPr>
        <p:spPr>
          <a:xfrm>
            <a:off x="822960" y="4069080"/>
            <a:ext cx="4754880" cy="502920"/>
          </a:xfrm>
          <a:prstGeom prst="rect">
            <a:avLst/>
          </a:prstGeom>
          <a:noFill/>
        </p:spPr>
        <p:txBody>
          <a:bodyPr wrap="square" lIns="9144" rIns="9144" tIns="0" bIns="0">
            <a:spAutoFit/>
          </a:bodyPr>
          <a:lstStyle/>
          <a:p>
            <a:pPr algn="l">
              <a:spcAft>
                <a:spcPts val="500"/>
              </a:spcAft>
              <a:defRPr sz="2100" b="0">
                <a:solidFill>
                  <a:srgbClr val="172C45"/>
                </a:solidFill>
                <a:latin typeface="Arial"/>
              </a:defRPr>
            </a:pPr>
            <a:r>
              <a:t>Hybrid, no refinement</a:t>
            </a:r>
          </a:p>
        </p:txBody>
      </p:sp>
      <p:sp>
        <p:nvSpPr>
          <p:cNvPr id="14" name="TextBox 13"/>
          <p:cNvSpPr txBox="1"/>
          <p:nvPr/>
        </p:nvSpPr>
        <p:spPr>
          <a:xfrm>
            <a:off x="5486400" y="4069080"/>
            <a:ext cx="2560320" cy="457200"/>
          </a:xfrm>
          <a:prstGeom prst="rect">
            <a:avLst/>
          </a:prstGeom>
          <a:noFill/>
        </p:spPr>
        <p:txBody>
          <a:bodyPr wrap="square" lIns="9144" rIns="9144" tIns="0" bIns="0">
            <a:spAutoFit/>
          </a:bodyPr>
          <a:lstStyle/>
          <a:p>
            <a:pPr algn="l">
              <a:spcAft>
                <a:spcPts val="500"/>
              </a:spcAft>
              <a:defRPr sz="2200" b="1">
                <a:solidFill>
                  <a:srgbClr val="172C45"/>
                </a:solidFill>
                <a:latin typeface="Arial"/>
              </a:defRPr>
            </a:pPr>
            <a:r>
              <a:t>86.11%</a:t>
            </a:r>
          </a:p>
        </p:txBody>
      </p:sp>
      <p:sp>
        <p:nvSpPr>
          <p:cNvPr id="15" name="TextBox 14"/>
          <p:cNvSpPr txBox="1"/>
          <p:nvPr/>
        </p:nvSpPr>
        <p:spPr>
          <a:xfrm>
            <a:off x="8366760" y="4069080"/>
            <a:ext cx="2834640" cy="457200"/>
          </a:xfrm>
          <a:prstGeom prst="rect">
            <a:avLst/>
          </a:prstGeom>
          <a:noFill/>
        </p:spPr>
        <p:txBody>
          <a:bodyPr wrap="square" lIns="9144" rIns="9144" tIns="0" bIns="0">
            <a:spAutoFit/>
          </a:bodyPr>
          <a:lstStyle/>
          <a:p>
            <a:pPr algn="l">
              <a:spcAft>
                <a:spcPts val="500"/>
              </a:spcAft>
              <a:defRPr sz="2200" b="1">
                <a:solidFill>
                  <a:srgbClr val="172C45"/>
                </a:solidFill>
                <a:latin typeface="Arial"/>
              </a:defRPr>
            </a:pPr>
            <a:r>
              <a:t>1.4828</a:t>
            </a:r>
          </a:p>
        </p:txBody>
      </p:sp>
      <p:sp>
        <p:nvSpPr>
          <p:cNvPr id="16" name="TextBox 15"/>
          <p:cNvSpPr txBox="1"/>
          <p:nvPr/>
        </p:nvSpPr>
        <p:spPr>
          <a:xfrm>
            <a:off x="822960" y="4892040"/>
            <a:ext cx="4754880" cy="502920"/>
          </a:xfrm>
          <a:prstGeom prst="rect">
            <a:avLst/>
          </a:prstGeom>
          <a:noFill/>
        </p:spPr>
        <p:txBody>
          <a:bodyPr wrap="square" lIns="9144" rIns="9144" tIns="0" bIns="0">
            <a:spAutoFit/>
          </a:bodyPr>
          <a:lstStyle/>
          <a:p>
            <a:pPr algn="l">
              <a:spcAft>
                <a:spcPts val="500"/>
              </a:spcAft>
              <a:defRPr sz="2100" b="0">
                <a:solidFill>
                  <a:srgbClr val="172C45"/>
                </a:solidFill>
                <a:latin typeface="Arial"/>
              </a:defRPr>
            </a:pPr>
            <a:r>
              <a:t>Hybrid + energy</a:t>
            </a:r>
          </a:p>
        </p:txBody>
      </p:sp>
      <p:sp>
        <p:nvSpPr>
          <p:cNvPr id="17" name="TextBox 16"/>
          <p:cNvSpPr txBox="1"/>
          <p:nvPr/>
        </p:nvSpPr>
        <p:spPr>
          <a:xfrm>
            <a:off x="5486400" y="4892040"/>
            <a:ext cx="2560320" cy="457200"/>
          </a:xfrm>
          <a:prstGeom prst="rect">
            <a:avLst/>
          </a:prstGeom>
          <a:noFill/>
        </p:spPr>
        <p:txBody>
          <a:bodyPr wrap="square" lIns="9144" rIns="9144" tIns="0" bIns="0">
            <a:spAutoFit/>
          </a:bodyPr>
          <a:lstStyle/>
          <a:p>
            <a:pPr algn="l">
              <a:spcAft>
                <a:spcPts val="500"/>
              </a:spcAft>
              <a:defRPr sz="2200" b="1">
                <a:solidFill>
                  <a:srgbClr val="172C45"/>
                </a:solidFill>
                <a:latin typeface="Arial"/>
              </a:defRPr>
            </a:pPr>
            <a:r>
              <a:t>77.31%</a:t>
            </a:r>
          </a:p>
        </p:txBody>
      </p:sp>
      <p:sp>
        <p:nvSpPr>
          <p:cNvPr id="18" name="TextBox 17"/>
          <p:cNvSpPr txBox="1"/>
          <p:nvPr/>
        </p:nvSpPr>
        <p:spPr>
          <a:xfrm>
            <a:off x="8366760" y="4892040"/>
            <a:ext cx="2834640" cy="457200"/>
          </a:xfrm>
          <a:prstGeom prst="rect">
            <a:avLst/>
          </a:prstGeom>
          <a:noFill/>
        </p:spPr>
        <p:txBody>
          <a:bodyPr wrap="square" lIns="9144" rIns="9144" tIns="0" bIns="0">
            <a:spAutoFit/>
          </a:bodyPr>
          <a:lstStyle/>
          <a:p>
            <a:pPr algn="l">
              <a:spcAft>
                <a:spcPts val="500"/>
              </a:spcAft>
              <a:defRPr sz="2200" b="1">
                <a:solidFill>
                  <a:srgbClr val="172C45"/>
                </a:solidFill>
                <a:latin typeface="Arial"/>
              </a:defRPr>
            </a:pPr>
            <a:r>
              <a:t>1.4926</a:t>
            </a:r>
          </a:p>
        </p:txBody>
      </p:sp>
      <p:sp>
        <p:nvSpPr>
          <p:cNvPr id="19" name="TextBox 18"/>
          <p:cNvSpPr txBox="1"/>
          <p:nvPr/>
        </p:nvSpPr>
        <p:spPr>
          <a:xfrm>
            <a:off x="868680" y="5760720"/>
            <a:ext cx="10424160" cy="457200"/>
          </a:xfrm>
          <a:prstGeom prst="rect">
            <a:avLst/>
          </a:prstGeom>
          <a:noFill/>
        </p:spPr>
        <p:txBody>
          <a:bodyPr wrap="square" lIns="9144" rIns="9144" tIns="0" bIns="0">
            <a:spAutoFit/>
          </a:bodyPr>
          <a:lstStyle/>
          <a:p>
            <a:pPr algn="l">
              <a:spcAft>
                <a:spcPts val="500"/>
              </a:spcAft>
              <a:defRPr sz="2100" b="1">
                <a:solidFill>
                  <a:srgbClr val="D86A32"/>
                </a:solidFill>
                <a:latin typeface="Arial"/>
              </a:defRPr>
            </a:pPr>
            <a:r>
              <a:t>Frozen energy model: task accuracy is 36.63% with or without refinement.</a:t>
            </a:r>
          </a:p>
        </p:txBody>
      </p:sp>
      <p:sp>
        <p:nvSpPr>
          <p:cNvPr id="20" name="TextBox 19"/>
          <p:cNvSpPr txBox="1"/>
          <p:nvPr/>
        </p:nvSpPr>
        <p:spPr>
          <a:xfrm>
            <a:off x="502920" y="6473952"/>
            <a:ext cx="10561320" cy="219456"/>
          </a:xfrm>
          <a:prstGeom prst="rect">
            <a:avLst/>
          </a:prstGeom>
          <a:noFill/>
        </p:spPr>
        <p:txBody>
          <a:bodyPr wrap="square" lIns="9144" rIns="9144" tIns="0" bIns="0">
            <a:spAutoFit/>
          </a:bodyPr>
          <a:lstStyle/>
          <a:p>
            <a:pPr algn="l">
              <a:spcAft>
                <a:spcPts val="500"/>
              </a:spcAft>
              <a:defRPr sz="1000" b="0">
                <a:solidFill>
                  <a:srgbClr val="647282"/>
                </a:solidFill>
                <a:latin typeface="Arial"/>
              </a:defRPr>
            </a:pPr>
            <a:r>
              <a:t>Separate models measure training differences; disabling energy in one checkpoint measures inference contribution. Both matter.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Rectangle 1"/>
          <p:cNvSpPr/>
          <p:nvPr/>
        </p:nvSpPr>
        <p:spPr>
          <a:xfrm>
            <a:off x="502920" y="402336"/>
            <a:ext cx="347472" cy="64008"/>
          </a:xfrm>
          <a:prstGeom prst="rect">
            <a:avLst/>
          </a:prstGeom>
          <a:solidFill>
            <a:srgbClr val="087E80"/>
          </a:solidFill>
          <a:ln>
            <a:solidFill>
              <a:srgbClr val="087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50976" y="310896"/>
            <a:ext cx="10058400" cy="274320"/>
          </a:xfrm>
          <a:prstGeom prst="rect">
            <a:avLst/>
          </a:prstGeom>
          <a:noFill/>
        </p:spPr>
        <p:txBody>
          <a:bodyPr wrap="square" lIns="9144" rIns="9144" tIns="0" bIns="0">
            <a:spAutoFit/>
          </a:bodyPr>
          <a:lstStyle/>
          <a:p>
            <a:pPr algn="l">
              <a:spcAft>
                <a:spcPts val="500"/>
              </a:spcAft>
              <a:defRPr sz="1100" b="1">
                <a:solidFill>
                  <a:srgbClr val="087E80"/>
                </a:solidFill>
                <a:latin typeface="Arial"/>
              </a:defRPr>
            </a:pPr>
            <a:r>
              <a:t>APPENDIX C · REFERENCES</a:t>
            </a:r>
          </a:p>
        </p:txBody>
      </p:sp>
      <p:sp>
        <p:nvSpPr>
          <p:cNvPr id="4" name="TextBox 3"/>
          <p:cNvSpPr txBox="1"/>
          <p:nvPr/>
        </p:nvSpPr>
        <p:spPr>
          <a:xfrm>
            <a:off x="502920" y="841248"/>
            <a:ext cx="11155680" cy="841248"/>
          </a:xfrm>
          <a:prstGeom prst="rect">
            <a:avLst/>
          </a:prstGeom>
          <a:noFill/>
        </p:spPr>
        <p:txBody>
          <a:bodyPr wrap="square" lIns="9144" rIns="9144" tIns="0" bIns="0">
            <a:spAutoFit/>
          </a:bodyPr>
          <a:lstStyle/>
          <a:p>
            <a:pPr algn="l">
              <a:spcAft>
                <a:spcPts val="500"/>
              </a:spcAft>
              <a:defRPr sz="3200" b="1">
                <a:solidFill>
                  <a:srgbClr val="172C45"/>
                </a:solidFill>
                <a:latin typeface="Arial"/>
              </a:defRPr>
            </a:pPr>
            <a:r>
              <a:t>Ideas are credited; project results are local</a:t>
            </a:r>
          </a:p>
        </p:txBody>
      </p:sp>
      <p:sp>
        <p:nvSpPr>
          <p:cNvPr id="5" name="TextBox 4"/>
          <p:cNvSpPr txBox="1"/>
          <p:nvPr/>
        </p:nvSpPr>
        <p:spPr>
          <a:xfrm>
            <a:off x="11091672" y="6428232"/>
            <a:ext cx="548640" cy="274320"/>
          </a:xfrm>
          <a:prstGeom prst="rect">
            <a:avLst/>
          </a:prstGeom>
          <a:noFill/>
        </p:spPr>
        <p:txBody>
          <a:bodyPr wrap="square" lIns="9144" rIns="9144" tIns="0" bIns="0">
            <a:spAutoFit/>
          </a:bodyPr>
          <a:lstStyle/>
          <a:p>
            <a:pPr algn="r">
              <a:spcAft>
                <a:spcPts val="500"/>
              </a:spcAft>
              <a:defRPr sz="1100" b="0">
                <a:solidFill>
                  <a:srgbClr val="647282"/>
                </a:solidFill>
                <a:latin typeface="Arial"/>
              </a:defRPr>
            </a:pPr>
            <a:r>
              <a:t>15</a:t>
            </a:r>
          </a:p>
        </p:txBody>
      </p:sp>
      <p:sp>
        <p:nvSpPr>
          <p:cNvPr id="6" name="TextBox 5"/>
          <p:cNvSpPr txBox="1"/>
          <p:nvPr/>
        </p:nvSpPr>
        <p:spPr>
          <a:xfrm>
            <a:off x="777240" y="2395728"/>
            <a:ext cx="10652760" cy="502920"/>
          </a:xfrm>
          <a:prstGeom prst="rect">
            <a:avLst/>
          </a:prstGeom>
          <a:noFill/>
        </p:spPr>
        <p:txBody>
          <a:bodyPr wrap="square" lIns="9144" rIns="9144" tIns="0" bIns="0">
            <a:spAutoFit/>
          </a:bodyPr>
          <a:lstStyle/>
          <a:p>
            <a:pPr algn="l">
              <a:spcAft>
                <a:spcPts val="500"/>
              </a:spcAft>
              <a:defRPr sz="2100" b="0">
                <a:solidFill>
                  <a:srgbClr val="172C45"/>
                </a:solidFill>
                <a:latin typeface="Arial"/>
              </a:defRPr>
            </a:pPr>
            <a:r>
              <a:rPr>
                <a:hlinkClick r:id="rId3"/>
              </a:rPr>
              <a:t>Hoover et al. · Energy Transformer · 2023</a:t>
            </a:r>
          </a:p>
        </p:txBody>
      </p:sp>
      <p:sp>
        <p:nvSpPr>
          <p:cNvPr id="7" name="TextBox 6"/>
          <p:cNvSpPr txBox="1"/>
          <p:nvPr/>
        </p:nvSpPr>
        <p:spPr>
          <a:xfrm>
            <a:off x="777240" y="3054096"/>
            <a:ext cx="10652760" cy="502920"/>
          </a:xfrm>
          <a:prstGeom prst="rect">
            <a:avLst/>
          </a:prstGeom>
          <a:noFill/>
        </p:spPr>
        <p:txBody>
          <a:bodyPr wrap="square" lIns="9144" rIns="9144" tIns="0" bIns="0">
            <a:spAutoFit/>
          </a:bodyPr>
          <a:lstStyle/>
          <a:p>
            <a:pPr algn="l">
              <a:spcAft>
                <a:spcPts val="500"/>
              </a:spcAft>
              <a:defRPr sz="2100" b="0">
                <a:solidFill>
                  <a:srgbClr val="172C45"/>
                </a:solidFill>
                <a:latin typeface="Arial"/>
              </a:defRPr>
            </a:pPr>
            <a:r>
              <a:rPr>
                <a:hlinkClick r:id="rId2"/>
              </a:rPr>
              <a:t>Yang et al. · Gated Delta Networks · ICLR 2025</a:t>
            </a:r>
          </a:p>
        </p:txBody>
      </p:sp>
      <p:sp>
        <p:nvSpPr>
          <p:cNvPr id="8" name="TextBox 7"/>
          <p:cNvSpPr txBox="1"/>
          <p:nvPr/>
        </p:nvSpPr>
        <p:spPr>
          <a:xfrm>
            <a:off x="777240" y="3712464"/>
            <a:ext cx="10652760" cy="502920"/>
          </a:xfrm>
          <a:prstGeom prst="rect">
            <a:avLst/>
          </a:prstGeom>
          <a:noFill/>
        </p:spPr>
        <p:txBody>
          <a:bodyPr wrap="square" lIns="9144" rIns="9144" tIns="0" bIns="0">
            <a:spAutoFit/>
          </a:bodyPr>
          <a:lstStyle/>
          <a:p>
            <a:pPr algn="l">
              <a:spcAft>
                <a:spcPts val="500"/>
              </a:spcAft>
              <a:defRPr sz="2100" b="0">
                <a:solidFill>
                  <a:srgbClr val="172C45"/>
                </a:solidFill>
                <a:latin typeface="Arial"/>
              </a:defRPr>
            </a:pPr>
            <a:r>
              <a:rPr>
                <a:hlinkClick r:id="rId4"/>
              </a:rPr>
              <a:t>Liquid AI · LFM3-1.7B · pinned donor checkpoint</a:t>
            </a:r>
          </a:p>
        </p:txBody>
      </p:sp>
      <p:sp>
        <p:nvSpPr>
          <p:cNvPr id="9" name="TextBox 8"/>
          <p:cNvSpPr txBox="1"/>
          <p:nvPr/>
        </p:nvSpPr>
        <p:spPr>
          <a:xfrm>
            <a:off x="777240" y="4617720"/>
            <a:ext cx="10058400" cy="411480"/>
          </a:xfrm>
          <a:prstGeom prst="rect">
            <a:avLst/>
          </a:prstGeom>
          <a:noFill/>
        </p:spPr>
        <p:txBody>
          <a:bodyPr wrap="square" lIns="9144" rIns="9144" tIns="0" bIns="0">
            <a:spAutoFit/>
          </a:bodyPr>
          <a:lstStyle/>
          <a:p>
            <a:pPr algn="l">
              <a:spcAft>
                <a:spcPts val="500"/>
              </a:spcAft>
              <a:defRPr sz="2000" b="1">
                <a:solidFill>
                  <a:srgbClr val="087E80"/>
                </a:solidFill>
                <a:latin typeface="Arial"/>
              </a:defRPr>
            </a:pPr>
            <a:r>
              <a:t>Project evidence</a:t>
            </a:r>
          </a:p>
        </p:txBody>
      </p:sp>
      <p:sp>
        <p:nvSpPr>
          <p:cNvPr id="10" name="TextBox 9"/>
          <p:cNvSpPr txBox="1"/>
          <p:nvPr/>
        </p:nvSpPr>
        <p:spPr>
          <a:xfrm>
            <a:off x="777240" y="5193792"/>
            <a:ext cx="10698480" cy="868680"/>
          </a:xfrm>
          <a:prstGeom prst="rect">
            <a:avLst/>
          </a:prstGeom>
          <a:noFill/>
        </p:spPr>
        <p:txBody>
          <a:bodyPr wrap="square" lIns="9144" rIns="9144" tIns="0" bIns="0">
            <a:spAutoFit/>
          </a:bodyPr>
          <a:lstStyle/>
          <a:p>
            <a:pPr algn="l">
              <a:spcAft>
                <a:spcPts val="500"/>
              </a:spcAft>
              <a:defRPr sz="2100" b="0">
                <a:solidFill>
                  <a:srgbClr val="172C45"/>
                </a:solidFill>
                <a:latin typeface="Arial"/>
              </a:defRPr>
            </a:pPr>
            <a:r>
              <a:rPr>
                <a:hlinkClick r:id="rId6"/>
              </a:rPr>
              <a:t>Streaming comparison and decoder timings · October 26–27</a:t>
            </a:r>
          </a:p>
          <a:p>
            <a:pPr algn="l">
              <a:spcAft>
                <a:spcPts val="500"/>
              </a:spcAft>
              <a:defRPr sz="2100" b="0">
                <a:solidFill>
                  <a:srgbClr val="172C45"/>
                </a:solidFill>
                <a:latin typeface="Arial"/>
              </a:defRPr>
            </a:pPr>
            <a:r>
              <a:rPr>
                <a:hlinkClick r:id="rId6"/>
              </a:rPr>
              <a:t>LFM3 conversion, recovery and raw outputs · October 28</a:t>
            </a:r>
          </a:p>
        </p:txBody>
      </p:sp>
      <p:sp>
        <p:nvSpPr>
          <p:cNvPr id="11" name="TextBox 10"/>
          <p:cNvSpPr txBox="1"/>
          <p:nvPr/>
        </p:nvSpPr>
        <p:spPr>
          <a:xfrm>
            <a:off x="502920" y="6473952"/>
            <a:ext cx="10561320" cy="219456"/>
          </a:xfrm>
          <a:prstGeom prst="rect">
            <a:avLst/>
          </a:prstGeom>
          <a:noFill/>
        </p:spPr>
        <p:txBody>
          <a:bodyPr wrap="square" lIns="9144" rIns="9144" tIns="0" bIns="0">
            <a:spAutoFit/>
          </a:bodyPr>
          <a:lstStyle/>
          <a:p>
            <a:pPr algn="l">
              <a:spcAft>
                <a:spcPts val="500"/>
              </a:spcAft>
              <a:defRPr sz="1000" b="0">
                <a:solidFill>
                  <a:srgbClr val="647282"/>
                </a:solidFill>
                <a:latin typeface="Arial"/>
              </a:defRPr>
            </a:pPr>
            <a:r>
              <a:t>GitHub: kenjugmail/EnergyTransformer · reports/rewt_streaming_20261026 and reports/lfm3_capability_recovery_20261028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REWT: Compact Memory and Learned State Refinement</dc:title>
  <dc:subject>CSCI 635 research progress, October 28, 2026 — streaming, LFM3 conversion and partial recovery</dc:subject>
  <dc:creator>Kenju Tomita</dc:creator>
  <cp:keywords>REWT, energy-based models, recurrent memory, learned reasoning, controlled experiments</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