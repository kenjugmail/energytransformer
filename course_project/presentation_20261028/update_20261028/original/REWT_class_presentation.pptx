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25 seconds</a:t>
            </a:r>
          </a:p>
          <a:p/>
          <a:p>
            <a:r>
              <a:t>My project asks whether a model can improve an answer by revising its internal state before emitting it. REWT stands for Recurrent Energy Wave Transformer. I will explain energy and waves intuitively, then separate what the experiments establish from what is still unproven. The strongest results so far concern learned memory and a new repeated-read module.</a:t>
            </a:r>
          </a:p>
          <a:p/>
          <a:p>
            <a:r>
              <a:t>Sources / evidence:</a:t>
            </a:r>
          </a:p>
          <a:p>
            <a:r>
              <a:t>Project implementation: rewt/model.py, rewt/architecture.py, rewt/reasoning.py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40 seconds</a:t>
            </a:r>
          </a:p>
          <a:p/>
          <a:p>
            <a:r>
              <a:t>Suppose the input says A leads to B, B to C and C to D, with distractors and shuffled order. To move three times from A, the model needs to use B as its next query and then C. We can score both the intermediate sequence and the final answer. This is a deliberately narrow test of composition. It is useful because a correct-looking final answer cannot hide a wrong intermediate trace.</a:t>
            </a:r>
          </a:p>
          <a:p/>
          <a:p>
            <a:r>
              <a:t>Sources / evidence:</a:t>
            </a:r>
          </a:p>
          <a:p>
            <a:r>
              <a:t>Task generators: rewt/tasks.py, rewt/curriculum.py; new study: scripts/study_rewt_reasoning.py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55 seconds</a:t>
            </a:r>
          </a:p>
          <a:p/>
          <a:p>
            <a:r>
              <a:t>Energy here is just a scalar compatibility score, not physical energy. Imagine the current state as a ball on this landscape. A gradient tells it which direction lowers the score. Backtracking rejects a proposed update that raises the current energy. The landscape is learned, so a low valley can still represent a wrong answer. Also, gradient descent may reach a local valley rather than the global minimum. This drawing is a one-dimensional illustration; the actual joint state has many coordinates.</a:t>
            </a:r>
          </a:p>
          <a:p/>
          <a:p>
            <a:r>
              <a:t>Sources / evidence:</a:t>
            </a:r>
          </a:p>
          <a:p>
            <a:r>
              <a:t>Energy Transformer: https://arxiv.org/abs/2302.07253</a:t>
            </a:r>
          </a:p>
          <a:p>
            <a:r>
              <a:t>Implementation: rewt/model.py, energy(), gradient(), refine(). Plot is illustrative, generated locally.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55 seconds</a:t>
            </a:r>
          </a:p>
          <a:p/>
          <a:p>
            <a:r>
              <a:t>The language-model core has recurrent, attention, feedforward and output blocks. Proposal networks build the initial guess from observed context. One scalar energy then scores the joint workspace. Its positive quadratic term anchors the state, while learned cosine components can couple different blocks. A wave is simply a Fourier component over state coordinates. This is different from applying a Fourier transform across the token sequence. The implementation is a small research model; calling it energy-based does not imply that every useful behavior is caused by the wave term.</a:t>
            </a:r>
          </a:p>
          <a:p/>
          <a:p>
            <a:r>
              <a:t>Sources / evidence:</a:t>
            </a:r>
          </a:p>
          <a:p>
            <a:r>
              <a:t>Core implementation: rewt/model.py</a:t>
            </a:r>
          </a:p>
          <a:p>
            <a:r>
              <a:t>Derivations: reports/rewt_architecture_20261022/DESIGN.md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50 seconds</a:t>
            </a:r>
          </a:p>
          <a:p/>
          <a:p>
            <a:r>
              <a:t>There are two different optimization problems. During training, the loss compares predictions with labels and updates the parameters that define proposals and the energy landscape. During inference, those weights stay fixed. Only the candidate state changes. The state update uses the derivative of energy with respect to the state, not an optimizer step on the model weights. In the experiments I verify that inference leaves the checkpoint tensors unchanged. A separate numerical test checks the hand-derived state gradient against automatic differentiation.</a:t>
            </a:r>
          </a:p>
          <a:p/>
          <a:p>
            <a:r>
              <a:t>Sources / evidence:</a:t>
            </a:r>
          </a:p>
          <a:p>
            <a:r>
              <a:t>Training and inference: rewt/model.py, rewt/reasoning.py</a:t>
            </a:r>
          </a:p>
          <a:p>
            <a:r>
              <a:t>Verification: tests_rewt/test_reasoning.py; reports/rewt_reasoning_20261026/verification.json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40 seconds</a:t>
            </a:r>
          </a:p>
          <a:p/>
          <a:p>
            <a:r>
              <a:t>A numerical guarantee is not an accuracy result. I separately check descent, complete answers and cost. The studies keep semantic problem identities separate across training, validation and test, so changing the wording cannot turn a training problem into a test example. Checkpoints are selected on validation. The fresh tests run after the declared fits are complete. Three initialization seeds reveal some training variation, although three seeds and synthetic tasks are still a limited basis for general claims.</a:t>
            </a:r>
          </a:p>
          <a:p/>
          <a:p>
            <a:r>
              <a:t>Sources / evidence:</a:t>
            </a:r>
          </a:p>
          <a:p>
            <a:r>
              <a:t>Study plans and source/data checksums: reports/rewt_architecture_20261022/plan.json and reports/rewt_reasoning_20261026/plan.json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55 seconds</a:t>
            </a:r>
          </a:p>
          <a:p/>
          <a:p>
            <a:r>
              <a:t>The clearest earlier architectural success is persistent delta memory. The model sees a key written twice and must retrieve its latest value despite distractors. With explicit training of binding, copy and writes, delta memory reaches 95.7 percent, compared with 54.9 percent for the supervised local control. The local attention window is only sixteen bytes. At the longest 191-byte gap, the difference is 83.9 versus 9.4 percent. The delta model is slightly larger and uses an additional write-gate label. This supports that combined memory recipe within a narrow grammar, not unrestricted memory or general reasoning.</a:t>
            </a:r>
          </a:p>
          <a:p/>
          <a:p>
            <a:r>
              <a:t>Sources / evidence:</a:t>
            </a:r>
          </a:p>
          <a:p>
            <a:r>
              <a:t>Local results: reports/rewt_architecture_20261022/summary.json, memory_ablation and memory_ablation_groups</a:t>
            </a:r>
          </a:p>
          <a:p>
            <a:r>
              <a:t>Delta-rule background: https://arxiv.org/abs/2406.06484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50 seconds</a:t>
            </a:r>
          </a:p>
          <a:p/>
          <a:p>
            <a:r>
              <a:t>The core limitation was more revealing than an average score. On frozen checkpoints, removing refinement did not hurt complete-answer accuracy. For the GRU control, the zero-round policy was slightly better; for delta, it tied. Refinement did improve cross-entropy, but that is not the same as correcting whole answers. The landscape was conditioned once on the prefix. Extra optimization rounds did not perform another fact lookup. That observation motivated changing the information flow rather than simply adding more rounds. These figures are validation interventions, not new test scores.</a:t>
            </a:r>
          </a:p>
          <a:p/>
          <a:p>
            <a:r>
              <a:t>Sources / evidence:</a:t>
            </a:r>
          </a:p>
          <a:p>
            <a:r>
              <a:t>reports/rewt_architecture_20261022/refinement_contribution.json and FINDINGS.md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65 seconds</a:t>
            </a:r>
          </a:p>
          <a:p/>
          <a:p>
            <a:r>
              <a:t>The new module uses a learned extractor over raw bytes. It predicts fact keys and values, a starting query and the requested number of reads. The current query softly attends to memory. The predicted result becomes the next query. For the example, that is A to B, then B to C, then C to D. Energy refinement can operate inside each read, but changing the retrieved context creates a new energy; there is no single descent guarantee across the whole chain. This is a structured reasoning head. It decodes intermediate nodes and their length, then serializes the trace. It is not free-form language generation. Parsers and solutions are used only to supply training labels and score results afterward.</a:t>
            </a:r>
          </a:p>
          <a:p/>
          <a:p>
            <a:r>
              <a:t>Sources / evidence:</a:t>
            </a:r>
          </a:p>
          <a:p>
            <a:r>
              <a:t>rewt/reasoning.py; scripts/study_rewt_reasoning.py</a:t>
            </a:r>
          </a:p>
          <a:p>
            <a:r>
              <a:t>Illustrative flow, not a claim about this example’s measured prediction.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65 seconds</a:t>
            </a:r>
          </a:p>
          <a:p/>
          <a:p>
            <a:r>
              <a:t>The main fresh test contains 960 prompts, representing 480 underlying problems in familiar and two withheld phrasings. The fixed-query control averages 27.4 percent. Every repeated-read seed scores 100 percent, both with and without energy refinement. Both also solve all 480 extra prompts with eight distractor edges instead of the two used in training. The important attribution is that changing the query helps here; the waves show no accuracy advantage. Removing energy from the trained energy checkpoints also preserves the perfect score. These are matched ablations of a new structured head, not a comparison against a Transformer or the old autoregressive model.</a:t>
            </a:r>
          </a:p>
          <a:p/>
          <a:p>
            <a:r>
              <a:t>Sources / evidence:</a:t>
            </a:r>
          </a:p>
          <a:p>
            <a:r>
              <a:t>reports/rewt_reasoning_20261026/summary.json, test_results.json and test_plan.json</a:t>
            </a:r>
          </a:p>
          <a:p>
            <a:r>
              <a:t>All 18,720 model/condition output rows were rechecked against the saved tasks.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50 seconds</a:t>
            </a:r>
          </a:p>
          <a:p/>
          <a:p>
            <a:r>
              <a:t>One hundred percent needs its scope stated immediately. These are acyclic letter-rule chains with at most three steps, a known vocabulary and a small set of grammars. The model is strongly biased toward differentiable lookup and receives explicit intermediate supervision. It does not establish fluent text or improved arithmetic. Wording transfer remains fragile: mean validation accuracy is 71.6 percent on a split containing different withheld phrasings, even though the test phrasings happen to be easier for this architecture. The old language model is not silently replaced by this specialized head.</a:t>
            </a:r>
          </a:p>
          <a:p/>
          <a:p>
            <a:r>
              <a:t>Sources / evidence:</a:t>
            </a:r>
          </a:p>
          <a:p>
            <a:r>
              <a:t>Study scope and exact templates: scripts/study_rewt_reasoning.py; rewt/curriculum.py</a:t>
            </a:r>
          </a:p>
          <a:p>
            <a:r>
              <a:t>Validation outputs and selection scores: reports/rewt_reasoning_20261026/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50 seconds</a:t>
            </a:r>
          </a:p>
          <a:p/>
          <a:p>
            <a:r>
              <a:t>The next objective is to make refinement earn its cost. That means teaching it to repair an actual wrong answer, integrating the repeated-read mechanism into a general language model, and comparing quality at matched compute with strong Transformer controls. The current contribution is an implemented, audited research system with positive and negative evidence. Persistent memory and repeated reads work on bounded tasks. Energy descent is reliable numerically, but it is not by itself evidence of reasoning. That distinction is the main lesson I would like you to take away.</a:t>
            </a:r>
          </a:p>
          <a:p/>
          <a:p>
            <a:r>
              <a:t>Sources / evidence:</a:t>
            </a:r>
          </a:p>
          <a:p>
            <a:r>
              <a:t>Future directions grounded in reports/rewt_architecture_20261022/FINDINGS.md and reports/rewt_reasoning_20261026/FINDINGS.md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0 seconds</a:t>
            </a:r>
          </a:p>
          <a:p/>
          <a:p>
            <a:r>
              <a:t>Backup explanation: delta is the displacement from a new read’s anchor. Positive diagonal precision provides quadratic stabilization, and bounded Fourier modes add learned preferences. The analytic derivative is differentiated through during training. Candidate steps are checked under the same coefficients within each read. Since the next read changes those coefficients, numerical descent does not apply across reads. This formula describes the new head specifically; the older language-model energy also includes block-compatibility penalties.</a:t>
            </a:r>
          </a:p>
          <a:p/>
          <a:p>
            <a:r>
              <a:t>Sources / evidence:</a:t>
            </a:r>
          </a:p>
          <a:p>
            <a:r>
              <a:t>rewt/reasoning.py: energy(), gradient(), refine(). Numerical comparison: tests_rewt/test_reasoning.py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0 seconds</a:t>
            </a:r>
          </a:p>
          <a:p/>
          <a:p>
            <a:r>
              <a:t>Backup cost detail: the zero-energy arm has the same 68,502 allocated parameters, but 60,950 receive gradients. The energy-only parameters are inactive when no refinement is executed. Mean training process times include batch preparation and optimization, excluding validation, initialization and checkpoint I/O. The frozen-policy intervention uses the already trained energy models: turning off energy leaves all test answers correct, while freezing the query leaves only one-hop tasks correct. A zero-width bootstrap interval for the tied perfect scores must not be interpreted as proof of universal equality.</a:t>
            </a:r>
          </a:p>
          <a:p/>
          <a:p>
            <a:r>
              <a:t>Sources / evidence:</a:t>
            </a:r>
          </a:p>
          <a:p>
            <a:r>
              <a:t>reports/rewt_reasoning_20261026/summary.json</a:t>
            </a:r>
          </a:p>
          <a:p>
            <a:r>
              <a:t>Training CPU totals: 276.95 seconds over nine main fits; smoke runs and other work are additional.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0 seconds</a:t>
            </a:r>
          </a:p>
          <a:p/>
          <a:p>
            <a:r>
              <a:t>Background references are linked on this slide. The project’s numerical and quality results are from the local recorded experiments, not borrowed from those papers. The new repeated-read head is an explicitly constrained research extension and should not be presented as a reproduction of the published Energy Transformer or DeltaNet systems.</a:t>
            </a:r>
          </a:p>
          <a:p/>
          <a:p>
            <a:r>
              <a:t>Sources / evidence:</a:t>
            </a:r>
          </a:p>
          <a:p>
            <a:r>
              <a:t>https://arxiv.org/abs/1706.03762</a:t>
            </a:r>
          </a:p>
          <a:p>
            <a:r>
              <a:t>https://arxiv.org/abs/2302.07253</a:t>
            </a:r>
          </a:p>
          <a:p>
            <a:r>
              <a:t>https://arxiv.org/abs/2406.06484</a:t>
            </a:r>
          </a:p>
          <a:p>
            <a:r>
              <a:t>reports/rewt_architecture_20261022/FINDINGS.md</a:t>
            </a:r>
          </a:p>
          <a:p>
            <a:r>
              <a:t>reports/rewt_reasoning_20261026/FINDINGS.md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1706.03762" TargetMode="External"/><Relationship Id="rId3" Type="http://schemas.openxmlformats.org/officeDocument/2006/relationships/hyperlink" Target="https://arxiv.org/abs/2302.07253" TargetMode="External"/><Relationship Id="rId4" Type="http://schemas.openxmlformats.org/officeDocument/2006/relationships/hyperlink" Target="https://arxiv.org/abs/2406.06484" TargetMode="External"/><Relationship Id="rId5"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Rectangle 1"/>
          <p:cNvSpPr/>
          <p:nvPr/>
        </p:nvSpPr>
        <p:spPr>
          <a:xfrm>
            <a:off x="502920" y="402336"/>
            <a:ext cx="347472" cy="64008"/>
          </a:xfrm>
          <a:prstGeom prst="rect">
            <a:avLst/>
          </a:prstGeom>
          <a:solidFill>
            <a:srgbClr val="087E80"/>
          </a:solidFill>
          <a:ln>
            <a:solidFill>
              <a:srgbClr val="087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50976" y="310896"/>
            <a:ext cx="10058400" cy="274320"/>
          </a:xfrm>
          <a:prstGeom prst="rect">
            <a:avLst/>
          </a:prstGeom>
          <a:noFill/>
        </p:spPr>
        <p:txBody>
          <a:bodyPr wrap="square" lIns="9144" rIns="9144" tIns="0" bIns="0">
            <a:spAutoFit/>
          </a:bodyPr>
          <a:lstStyle/>
          <a:p>
            <a:pPr algn="l">
              <a:spcAft>
                <a:spcPts val="500"/>
              </a:spcAft>
              <a:defRPr sz="1100" b="1">
                <a:solidFill>
                  <a:srgbClr val="087E80"/>
                </a:solidFill>
                <a:latin typeface="Arial"/>
              </a:defRPr>
            </a:pPr>
            <a:r>
              <a:t>CSCI 635 · RESEARCH PROGRESS · OCTOBER 28, 2026</a:t>
            </a:r>
          </a:p>
        </p:txBody>
      </p:sp>
      <p:sp>
        <p:nvSpPr>
          <p:cNvPr id="4" name="TextBox 3"/>
          <p:cNvSpPr txBox="1"/>
          <p:nvPr/>
        </p:nvSpPr>
        <p:spPr>
          <a:xfrm>
            <a:off x="502920" y="841248"/>
            <a:ext cx="11155680" cy="841248"/>
          </a:xfrm>
          <a:prstGeom prst="rect">
            <a:avLst/>
          </a:prstGeom>
          <a:noFill/>
        </p:spPr>
        <p:txBody>
          <a:bodyPr wrap="square" lIns="9144" rIns="9144" tIns="0" bIns="0">
            <a:spAutoFit/>
          </a:bodyPr>
          <a:lstStyle/>
          <a:p>
            <a:pPr algn="l">
              <a:spcAft>
                <a:spcPts val="500"/>
              </a:spcAft>
              <a:defRPr sz="3200" b="1">
                <a:solidFill>
                  <a:srgbClr val="172C45"/>
                </a:solidFill>
                <a:latin typeface="Arial"/>
              </a:defRPr>
            </a:pPr>
          </a:p>
        </p:txBody>
      </p:sp>
      <p:sp>
        <p:nvSpPr>
          <p:cNvPr id="5" name="TextBox 4"/>
          <p:cNvSpPr txBox="1"/>
          <p:nvPr/>
        </p:nvSpPr>
        <p:spPr>
          <a:xfrm>
            <a:off x="11091672" y="6428232"/>
            <a:ext cx="548640" cy="274320"/>
          </a:xfrm>
          <a:prstGeom prst="rect">
            <a:avLst/>
          </a:prstGeom>
          <a:noFill/>
        </p:spPr>
        <p:txBody>
          <a:bodyPr wrap="square" lIns="9144" rIns="9144" tIns="0" bIns="0">
            <a:spAutoFit/>
          </a:bodyPr>
          <a:lstStyle/>
          <a:p>
            <a:pPr algn="r">
              <a:spcAft>
                <a:spcPts val="500"/>
              </a:spcAft>
              <a:defRPr sz="1100" b="0">
                <a:solidFill>
                  <a:srgbClr val="647282"/>
                </a:solidFill>
                <a:latin typeface="Arial"/>
              </a:defRPr>
            </a:pPr>
            <a:r>
              <a:t>01</a:t>
            </a:r>
          </a:p>
        </p:txBody>
      </p:sp>
      <p:sp>
        <p:nvSpPr>
          <p:cNvPr id="6" name="TextBox 5"/>
          <p:cNvSpPr txBox="1"/>
          <p:nvPr/>
        </p:nvSpPr>
        <p:spPr>
          <a:xfrm>
            <a:off x="566928" y="1143000"/>
            <a:ext cx="7315200" cy="1005840"/>
          </a:xfrm>
          <a:prstGeom prst="rect">
            <a:avLst/>
          </a:prstGeom>
          <a:noFill/>
        </p:spPr>
        <p:txBody>
          <a:bodyPr wrap="square" lIns="9144" rIns="9144" tIns="0" bIns="0">
            <a:spAutoFit/>
          </a:bodyPr>
          <a:lstStyle/>
          <a:p>
            <a:pPr algn="l">
              <a:spcAft>
                <a:spcPts val="500"/>
              </a:spcAft>
              <a:defRPr sz="6800" b="1">
                <a:solidFill>
                  <a:srgbClr val="172C45"/>
                </a:solidFill>
                <a:latin typeface="Arial"/>
              </a:defRPr>
            </a:pPr>
            <a:r>
              <a:t>REWT</a:t>
            </a:r>
          </a:p>
        </p:txBody>
      </p:sp>
      <p:sp>
        <p:nvSpPr>
          <p:cNvPr id="7" name="TextBox 6"/>
          <p:cNvSpPr txBox="1"/>
          <p:nvPr/>
        </p:nvSpPr>
        <p:spPr>
          <a:xfrm>
            <a:off x="594360" y="2331720"/>
            <a:ext cx="9875520" cy="1371600"/>
          </a:xfrm>
          <a:prstGeom prst="rect">
            <a:avLst/>
          </a:prstGeom>
          <a:noFill/>
        </p:spPr>
        <p:txBody>
          <a:bodyPr wrap="square" lIns="9144" rIns="9144" tIns="0" bIns="0">
            <a:spAutoFit/>
          </a:bodyPr>
          <a:lstStyle/>
          <a:p>
            <a:pPr algn="l">
              <a:spcAft>
                <a:spcPts val="500"/>
              </a:spcAft>
              <a:defRPr sz="3200" b="0">
                <a:solidFill>
                  <a:srgbClr val="172C45"/>
                </a:solidFill>
                <a:latin typeface="Arial"/>
              </a:defRPr>
            </a:pPr>
            <a:r>
              <a:t>Learning an energy landscape</a:t>
            </a:r>
          </a:p>
          <a:p>
            <a:pPr algn="l">
              <a:spcAft>
                <a:spcPts val="500"/>
              </a:spcAft>
              <a:defRPr sz="3200" b="0">
                <a:solidFill>
                  <a:srgbClr val="172C45"/>
                </a:solidFill>
                <a:latin typeface="Arial"/>
              </a:defRPr>
            </a:pPr>
            <a:r>
              <a:t>for state refinement</a:t>
            </a:r>
          </a:p>
        </p:txBody>
      </p:sp>
      <p:sp>
        <p:nvSpPr>
          <p:cNvPr id="8" name="TextBox 7"/>
          <p:cNvSpPr txBox="1"/>
          <p:nvPr/>
        </p:nvSpPr>
        <p:spPr>
          <a:xfrm>
            <a:off x="612648" y="4160520"/>
            <a:ext cx="10789920" cy="594360"/>
          </a:xfrm>
          <a:prstGeom prst="rect">
            <a:avLst/>
          </a:prstGeom>
          <a:noFill/>
        </p:spPr>
        <p:txBody>
          <a:bodyPr wrap="square" lIns="9144" rIns="9144" tIns="0" bIns="0">
            <a:spAutoFit/>
          </a:bodyPr>
          <a:lstStyle/>
          <a:p>
            <a:pPr algn="l">
              <a:spcAft>
                <a:spcPts val="500"/>
              </a:spcAft>
              <a:defRPr sz="2500" b="1">
                <a:solidFill>
                  <a:srgbClr val="087E80"/>
                </a:solidFill>
                <a:latin typeface="Arial"/>
              </a:defRPr>
            </a:pPr>
            <a:r>
              <a:t>Can revising an internal state improve an answer?</a:t>
            </a:r>
          </a:p>
        </p:txBody>
      </p:sp>
      <p:sp>
        <p:nvSpPr>
          <p:cNvPr id="9" name="TextBox 8"/>
          <p:cNvSpPr txBox="1"/>
          <p:nvPr/>
        </p:nvSpPr>
        <p:spPr>
          <a:xfrm>
            <a:off x="621792" y="5715000"/>
            <a:ext cx="10058400" cy="411480"/>
          </a:xfrm>
          <a:prstGeom prst="rect">
            <a:avLst/>
          </a:prstGeom>
          <a:noFill/>
        </p:spPr>
        <p:txBody>
          <a:bodyPr wrap="square" lIns="9144" rIns="9144" tIns="0" bIns="0">
            <a:spAutoFit/>
          </a:bodyPr>
          <a:lstStyle/>
          <a:p>
            <a:pPr algn="l">
              <a:spcAft>
                <a:spcPts val="500"/>
              </a:spcAft>
              <a:defRPr sz="1700" b="0">
                <a:solidFill>
                  <a:srgbClr val="647282"/>
                </a:solidFill>
                <a:latin typeface="Arial"/>
              </a:defRPr>
            </a:pPr>
            <a:r>
              <a:t>Kenju Tomita  ·  Rochester Institute of Technology</a:t>
            </a:r>
          </a:p>
        </p:txBody>
      </p:sp>
      <p:sp>
        <p:nvSpPr>
          <p:cNvPr id="10" name="Oval 9"/>
          <p:cNvSpPr/>
          <p:nvPr/>
        </p:nvSpPr>
        <p:spPr>
          <a:xfrm>
            <a:off x="10012680" y="1143000"/>
            <a:ext cx="1097280" cy="1097280"/>
          </a:xfrm>
          <a:prstGeom prst="ellipse">
            <a:avLst/>
          </a:prstGeom>
          <a:solidFill>
            <a:srgbClr val="08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12680" y="1362456"/>
            <a:ext cx="1097280" cy="768096"/>
          </a:xfrm>
          <a:prstGeom prst="rect">
            <a:avLst/>
          </a:prstGeom>
          <a:noFill/>
        </p:spPr>
        <p:txBody>
          <a:bodyPr wrap="square" lIns="9144" rIns="9144" tIns="0" bIns="0">
            <a:spAutoFit/>
          </a:bodyPr>
          <a:lstStyle/>
          <a:p>
            <a:pPr algn="ctr">
              <a:spcAft>
                <a:spcPts val="500"/>
              </a:spcAft>
              <a:defRPr sz="3000" b="1">
                <a:solidFill>
                  <a:srgbClr val="FFFFFF"/>
                </a:solidFill>
                <a:latin typeface="Arial"/>
              </a:defRPr>
            </a:pPr>
            <a:r>
              <a:t>?</a:t>
            </a:r>
          </a:p>
        </p:txBody>
      </p:sp>
      <p:sp>
        <p:nvSpPr>
          <p:cNvPr id="12" name="TextBox 11"/>
          <p:cNvSpPr txBox="1"/>
          <p:nvPr/>
        </p:nvSpPr>
        <p:spPr>
          <a:xfrm>
            <a:off x="502920" y="6473952"/>
            <a:ext cx="10561320" cy="219456"/>
          </a:xfrm>
          <a:prstGeom prst="rect">
            <a:avLst/>
          </a:prstGeom>
          <a:noFill/>
        </p:spPr>
        <p:txBody>
          <a:bodyPr wrap="square" lIns="9144" rIns="9144" tIns="0" bIns="0">
            <a:spAutoFit/>
          </a:bodyPr>
          <a:lstStyle/>
          <a:p>
            <a:pPr algn="l">
              <a:spcAft>
                <a:spcPts val="500"/>
              </a:spcAft>
              <a:defRPr sz="1000" b="0">
                <a:solidFill>
                  <a:srgbClr val="647282"/>
                </a:solidFill>
                <a:latin typeface="Arial"/>
              </a:defRPr>
            </a:pPr>
            <a:r>
              <a:t>Recurrent Energy Wave Transformer · Project evidence through October 26,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Rectangle 1"/>
          <p:cNvSpPr/>
          <p:nvPr/>
        </p:nvSpPr>
        <p:spPr>
          <a:xfrm>
            <a:off x="502920" y="402336"/>
            <a:ext cx="347472" cy="64008"/>
          </a:xfrm>
          <a:prstGeom prst="rect">
            <a:avLst/>
          </a:prstGeom>
          <a:solidFill>
            <a:srgbClr val="087E80"/>
          </a:solidFill>
          <a:ln>
            <a:solidFill>
              <a:srgbClr val="087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50976" y="310896"/>
            <a:ext cx="10058400" cy="274320"/>
          </a:xfrm>
          <a:prstGeom prst="rect">
            <a:avLst/>
          </a:prstGeom>
          <a:noFill/>
        </p:spPr>
        <p:txBody>
          <a:bodyPr wrap="square" lIns="9144" rIns="9144" tIns="0" bIns="0">
            <a:spAutoFit/>
          </a:bodyPr>
          <a:lstStyle/>
          <a:p>
            <a:pPr algn="l">
              <a:spcAft>
                <a:spcPts val="500"/>
              </a:spcAft>
              <a:defRPr sz="1100" b="1">
                <a:solidFill>
                  <a:srgbClr val="087E80"/>
                </a:solidFill>
                <a:latin typeface="Arial"/>
              </a:defRPr>
            </a:pPr>
            <a:r>
              <a:t>MOTIVATION</a:t>
            </a:r>
          </a:p>
        </p:txBody>
      </p:sp>
      <p:sp>
        <p:nvSpPr>
          <p:cNvPr id="4" name="TextBox 3"/>
          <p:cNvSpPr txBox="1"/>
          <p:nvPr/>
        </p:nvSpPr>
        <p:spPr>
          <a:xfrm>
            <a:off x="502920" y="841248"/>
            <a:ext cx="11155680" cy="841248"/>
          </a:xfrm>
          <a:prstGeom prst="rect">
            <a:avLst/>
          </a:prstGeom>
          <a:noFill/>
        </p:spPr>
        <p:txBody>
          <a:bodyPr wrap="square" lIns="9144" rIns="9144" tIns="0" bIns="0">
            <a:spAutoFit/>
          </a:bodyPr>
          <a:lstStyle/>
          <a:p>
            <a:pPr algn="l">
              <a:spcAft>
                <a:spcPts val="500"/>
              </a:spcAft>
              <a:defRPr sz="3200" b="1">
                <a:solidFill>
                  <a:srgbClr val="172C45"/>
                </a:solidFill>
                <a:latin typeface="Arial"/>
              </a:defRPr>
            </a:pPr>
            <a:r>
              <a:t>The goal: compose facts into an answer</a:t>
            </a:r>
          </a:p>
        </p:txBody>
      </p:sp>
      <p:sp>
        <p:nvSpPr>
          <p:cNvPr id="5" name="TextBox 4"/>
          <p:cNvSpPr txBox="1"/>
          <p:nvPr/>
        </p:nvSpPr>
        <p:spPr>
          <a:xfrm>
            <a:off x="521207" y="1783080"/>
            <a:ext cx="11064240" cy="502920"/>
          </a:xfrm>
          <a:prstGeom prst="rect">
            <a:avLst/>
          </a:prstGeom>
          <a:noFill/>
        </p:spPr>
        <p:txBody>
          <a:bodyPr wrap="square" lIns="9144" rIns="9144" tIns="0" bIns="0">
            <a:spAutoFit/>
          </a:bodyPr>
          <a:lstStyle/>
          <a:p>
            <a:pPr algn="l">
              <a:spcAft>
                <a:spcPts val="500"/>
              </a:spcAft>
              <a:defRPr sz="1800" b="0">
                <a:solidFill>
                  <a:srgbClr val="647282"/>
                </a:solidFill>
                <a:latin typeface="Arial"/>
              </a:defRPr>
            </a:pPr>
            <a:r>
              <a:t>A small rule task makes each reasoning step checkable.</a:t>
            </a:r>
          </a:p>
        </p:txBody>
      </p:sp>
      <p:sp>
        <p:nvSpPr>
          <p:cNvPr id="6" name="TextBox 5"/>
          <p:cNvSpPr txBox="1"/>
          <p:nvPr/>
        </p:nvSpPr>
        <p:spPr>
          <a:xfrm>
            <a:off x="11091672" y="6428232"/>
            <a:ext cx="548640" cy="274320"/>
          </a:xfrm>
          <a:prstGeom prst="rect">
            <a:avLst/>
          </a:prstGeom>
          <a:noFill/>
        </p:spPr>
        <p:txBody>
          <a:bodyPr wrap="square" lIns="9144" rIns="9144" tIns="0" bIns="0">
            <a:spAutoFit/>
          </a:bodyPr>
          <a:lstStyle/>
          <a:p>
            <a:pPr algn="r">
              <a:spcAft>
                <a:spcPts val="500"/>
              </a:spcAft>
              <a:defRPr sz="1100" b="0">
                <a:solidFill>
                  <a:srgbClr val="647282"/>
                </a:solidFill>
                <a:latin typeface="Arial"/>
              </a:defRPr>
            </a:pPr>
            <a:r>
              <a:t>02</a:t>
            </a:r>
          </a:p>
        </p:txBody>
      </p:sp>
      <p:sp>
        <p:nvSpPr>
          <p:cNvPr id="7" name="Rounded Rectangle 6"/>
          <p:cNvSpPr/>
          <p:nvPr/>
        </p:nvSpPr>
        <p:spPr>
          <a:xfrm>
            <a:off x="640080" y="2468880"/>
            <a:ext cx="10881360" cy="713232"/>
          </a:xfrm>
          <a:prstGeom prst="roundRect">
            <a:avLst>
              <a:gd name="adj" fmla="val 8000"/>
            </a:avLst>
          </a:prstGeom>
          <a:solidFill>
            <a:srgbClr val="172C45"/>
          </a:solidFill>
          <a:ln>
            <a:solidFill>
              <a:srgbClr val="172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2660904"/>
            <a:ext cx="10332720" cy="384048"/>
          </a:xfrm>
          <a:prstGeom prst="rect">
            <a:avLst/>
          </a:prstGeom>
          <a:noFill/>
        </p:spPr>
        <p:txBody>
          <a:bodyPr wrap="square" lIns="9144" rIns="9144" tIns="0" bIns="0">
            <a:spAutoFit/>
          </a:bodyPr>
          <a:lstStyle/>
          <a:p>
            <a:pPr algn="l">
              <a:spcAft>
                <a:spcPts val="500"/>
              </a:spcAft>
              <a:defRPr sz="2400" b="0">
                <a:solidFill>
                  <a:srgbClr val="FFFFFF"/>
                </a:solidFill>
                <a:latin typeface="DejaVu Sans Mono"/>
              </a:defRPr>
            </a:pPr>
            <a:r>
              <a:t>B&gt;C;  A&gt;B;  C&gt;D;  X&gt;Y;  from A go 3=?</a:t>
            </a:r>
          </a:p>
        </p:txBody>
      </p:sp>
      <p:sp>
        <p:nvSpPr>
          <p:cNvPr id="9" name="Oval 8"/>
          <p:cNvSpPr/>
          <p:nvPr/>
        </p:nvSpPr>
        <p:spPr>
          <a:xfrm>
            <a:off x="1325880" y="3794760"/>
            <a:ext cx="914400" cy="914400"/>
          </a:xfrm>
          <a:prstGeom prst="ellipse">
            <a:avLst/>
          </a:prstGeom>
          <a:solidFill>
            <a:srgbClr val="08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25880" y="3977640"/>
            <a:ext cx="914400" cy="640080"/>
          </a:xfrm>
          <a:prstGeom prst="rect">
            <a:avLst/>
          </a:prstGeom>
          <a:noFill/>
        </p:spPr>
        <p:txBody>
          <a:bodyPr wrap="square" lIns="9144" rIns="9144" tIns="0" bIns="0">
            <a:spAutoFit/>
          </a:bodyPr>
          <a:lstStyle/>
          <a:p>
            <a:pPr algn="ctr">
              <a:spcAft>
                <a:spcPts val="500"/>
              </a:spcAft>
              <a:defRPr sz="3000" b="1">
                <a:solidFill>
                  <a:srgbClr val="FFFFFF"/>
                </a:solidFill>
                <a:latin typeface="Arial"/>
              </a:defRPr>
            </a:pPr>
            <a:r>
              <a:t>A</a:t>
            </a:r>
          </a:p>
        </p:txBody>
      </p:sp>
      <p:sp>
        <p:nvSpPr>
          <p:cNvPr id="11" name="Right Arrow 10"/>
          <p:cNvSpPr/>
          <p:nvPr/>
        </p:nvSpPr>
        <p:spPr>
          <a:xfrm>
            <a:off x="2468880" y="4114800"/>
            <a:ext cx="1005840" cy="246888"/>
          </a:xfrm>
          <a:prstGeom prst="rightArrow">
            <a:avLst/>
          </a:prstGeom>
          <a:solidFill>
            <a:srgbClr val="08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77439" y="4599432"/>
            <a:ext cx="1188720" cy="320040"/>
          </a:xfrm>
          <a:prstGeom prst="rect">
            <a:avLst/>
          </a:prstGeom>
          <a:noFill/>
        </p:spPr>
        <p:txBody>
          <a:bodyPr wrap="square" lIns="9144" rIns="9144" tIns="0" bIns="0">
            <a:spAutoFit/>
          </a:bodyPr>
          <a:lstStyle/>
          <a:p>
            <a:pPr algn="ctr">
              <a:spcAft>
                <a:spcPts val="500"/>
              </a:spcAft>
              <a:defRPr sz="1500" b="0">
                <a:solidFill>
                  <a:srgbClr val="647282"/>
                </a:solidFill>
                <a:latin typeface="Arial"/>
              </a:defRPr>
            </a:pPr>
            <a:r>
              <a:t>read 1</a:t>
            </a:r>
          </a:p>
        </p:txBody>
      </p:sp>
      <p:sp>
        <p:nvSpPr>
          <p:cNvPr id="13" name="Oval 12"/>
          <p:cNvSpPr/>
          <p:nvPr/>
        </p:nvSpPr>
        <p:spPr>
          <a:xfrm>
            <a:off x="4069080" y="3794760"/>
            <a:ext cx="914400" cy="914400"/>
          </a:xfrm>
          <a:prstGeom prst="ellipse">
            <a:avLst/>
          </a:prstGeom>
          <a:solidFill>
            <a:srgbClr val="08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69080" y="3977640"/>
            <a:ext cx="914400" cy="640080"/>
          </a:xfrm>
          <a:prstGeom prst="rect">
            <a:avLst/>
          </a:prstGeom>
          <a:noFill/>
        </p:spPr>
        <p:txBody>
          <a:bodyPr wrap="square" lIns="9144" rIns="9144" tIns="0" bIns="0">
            <a:spAutoFit/>
          </a:bodyPr>
          <a:lstStyle/>
          <a:p>
            <a:pPr algn="ctr">
              <a:spcAft>
                <a:spcPts val="500"/>
              </a:spcAft>
              <a:defRPr sz="3000" b="1">
                <a:solidFill>
                  <a:srgbClr val="FFFFFF"/>
                </a:solidFill>
                <a:latin typeface="Arial"/>
              </a:defRPr>
            </a:pPr>
            <a:r>
              <a:t>B</a:t>
            </a:r>
          </a:p>
        </p:txBody>
      </p:sp>
      <p:sp>
        <p:nvSpPr>
          <p:cNvPr id="15" name="Right Arrow 14"/>
          <p:cNvSpPr/>
          <p:nvPr/>
        </p:nvSpPr>
        <p:spPr>
          <a:xfrm>
            <a:off x="5212080" y="4114800"/>
            <a:ext cx="1005840" cy="246888"/>
          </a:xfrm>
          <a:prstGeom prst="rightArrow">
            <a:avLst/>
          </a:prstGeom>
          <a:solidFill>
            <a:srgbClr val="08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20640" y="4599432"/>
            <a:ext cx="1188720" cy="320040"/>
          </a:xfrm>
          <a:prstGeom prst="rect">
            <a:avLst/>
          </a:prstGeom>
          <a:noFill/>
        </p:spPr>
        <p:txBody>
          <a:bodyPr wrap="square" lIns="9144" rIns="9144" tIns="0" bIns="0">
            <a:spAutoFit/>
          </a:bodyPr>
          <a:lstStyle/>
          <a:p>
            <a:pPr algn="ctr">
              <a:spcAft>
                <a:spcPts val="500"/>
              </a:spcAft>
              <a:defRPr sz="1500" b="0">
                <a:solidFill>
                  <a:srgbClr val="647282"/>
                </a:solidFill>
                <a:latin typeface="Arial"/>
              </a:defRPr>
            </a:pPr>
            <a:r>
              <a:t>read 2</a:t>
            </a:r>
          </a:p>
        </p:txBody>
      </p:sp>
      <p:sp>
        <p:nvSpPr>
          <p:cNvPr id="17" name="Oval 16"/>
          <p:cNvSpPr/>
          <p:nvPr/>
        </p:nvSpPr>
        <p:spPr>
          <a:xfrm>
            <a:off x="6812280" y="3794760"/>
            <a:ext cx="914400" cy="914400"/>
          </a:xfrm>
          <a:prstGeom prst="ellipse">
            <a:avLst/>
          </a:prstGeom>
          <a:solidFill>
            <a:srgbClr val="08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12280" y="3977640"/>
            <a:ext cx="914400" cy="640080"/>
          </a:xfrm>
          <a:prstGeom prst="rect">
            <a:avLst/>
          </a:prstGeom>
          <a:noFill/>
        </p:spPr>
        <p:txBody>
          <a:bodyPr wrap="square" lIns="9144" rIns="9144" tIns="0" bIns="0">
            <a:spAutoFit/>
          </a:bodyPr>
          <a:lstStyle/>
          <a:p>
            <a:pPr algn="ctr">
              <a:spcAft>
                <a:spcPts val="500"/>
              </a:spcAft>
              <a:defRPr sz="3000" b="1">
                <a:solidFill>
                  <a:srgbClr val="FFFFFF"/>
                </a:solidFill>
                <a:latin typeface="Arial"/>
              </a:defRPr>
            </a:pPr>
            <a:r>
              <a:t>C</a:t>
            </a:r>
          </a:p>
        </p:txBody>
      </p:sp>
      <p:sp>
        <p:nvSpPr>
          <p:cNvPr id="19" name="Right Arrow 18"/>
          <p:cNvSpPr/>
          <p:nvPr/>
        </p:nvSpPr>
        <p:spPr>
          <a:xfrm>
            <a:off x="7955279" y="4114800"/>
            <a:ext cx="1005840" cy="246888"/>
          </a:xfrm>
          <a:prstGeom prst="rightArrow">
            <a:avLst/>
          </a:prstGeom>
          <a:solidFill>
            <a:srgbClr val="08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63840" y="4599432"/>
            <a:ext cx="1188720" cy="320040"/>
          </a:xfrm>
          <a:prstGeom prst="rect">
            <a:avLst/>
          </a:prstGeom>
          <a:noFill/>
        </p:spPr>
        <p:txBody>
          <a:bodyPr wrap="square" lIns="9144" rIns="9144" tIns="0" bIns="0">
            <a:spAutoFit/>
          </a:bodyPr>
          <a:lstStyle/>
          <a:p>
            <a:pPr algn="ctr">
              <a:spcAft>
                <a:spcPts val="500"/>
              </a:spcAft>
              <a:defRPr sz="1500" b="0">
                <a:solidFill>
                  <a:srgbClr val="647282"/>
                </a:solidFill>
                <a:latin typeface="Arial"/>
              </a:defRPr>
            </a:pPr>
            <a:r>
              <a:t>read 3</a:t>
            </a:r>
          </a:p>
        </p:txBody>
      </p:sp>
      <p:sp>
        <p:nvSpPr>
          <p:cNvPr id="21" name="Oval 20"/>
          <p:cNvSpPr/>
          <p:nvPr/>
        </p:nvSpPr>
        <p:spPr>
          <a:xfrm>
            <a:off x="9555480" y="3794760"/>
            <a:ext cx="914400" cy="914400"/>
          </a:xfrm>
          <a:prstGeom prst="ellipse">
            <a:avLst/>
          </a:prstGeom>
          <a:solidFill>
            <a:srgbClr val="D86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55480" y="3977640"/>
            <a:ext cx="914400" cy="640080"/>
          </a:xfrm>
          <a:prstGeom prst="rect">
            <a:avLst/>
          </a:prstGeom>
          <a:noFill/>
        </p:spPr>
        <p:txBody>
          <a:bodyPr wrap="square" lIns="9144" rIns="9144" tIns="0" bIns="0">
            <a:spAutoFit/>
          </a:bodyPr>
          <a:lstStyle/>
          <a:p>
            <a:pPr algn="ctr">
              <a:spcAft>
                <a:spcPts val="500"/>
              </a:spcAft>
              <a:defRPr sz="3000" b="1">
                <a:solidFill>
                  <a:srgbClr val="FFFFFF"/>
                </a:solidFill>
                <a:latin typeface="Arial"/>
              </a:defRPr>
            </a:pPr>
            <a:r>
              <a:t>D</a:t>
            </a:r>
          </a:p>
        </p:txBody>
      </p:sp>
      <p:sp>
        <p:nvSpPr>
          <p:cNvPr id="23" name="TextBox 22"/>
          <p:cNvSpPr txBox="1"/>
          <p:nvPr/>
        </p:nvSpPr>
        <p:spPr>
          <a:xfrm>
            <a:off x="932688" y="5605272"/>
            <a:ext cx="10241280" cy="457200"/>
          </a:xfrm>
          <a:prstGeom prst="rect">
            <a:avLst/>
          </a:prstGeom>
          <a:noFill/>
        </p:spPr>
        <p:txBody>
          <a:bodyPr wrap="square" lIns="9144" rIns="9144" tIns="0" bIns="0">
            <a:spAutoFit/>
          </a:bodyPr>
          <a:lstStyle/>
          <a:p>
            <a:pPr algn="l">
              <a:spcAft>
                <a:spcPts val="500"/>
              </a:spcAft>
              <a:defRPr sz="2400" b="1">
                <a:solidFill>
                  <a:srgbClr val="172C45"/>
                </a:solidFill>
                <a:latin typeface="Arial"/>
              </a:defRPr>
            </a:pPr>
            <a:r>
              <a:t>Correct trace: B, C, D      Final answer: D</a:t>
            </a:r>
          </a:p>
        </p:txBody>
      </p:sp>
      <p:sp>
        <p:nvSpPr>
          <p:cNvPr id="24" name="TextBox 23"/>
          <p:cNvSpPr txBox="1"/>
          <p:nvPr/>
        </p:nvSpPr>
        <p:spPr>
          <a:xfrm>
            <a:off x="502920" y="6473952"/>
            <a:ext cx="10561320" cy="219456"/>
          </a:xfrm>
          <a:prstGeom prst="rect">
            <a:avLst/>
          </a:prstGeom>
          <a:noFill/>
        </p:spPr>
        <p:txBody>
          <a:bodyPr wrap="square" lIns="9144" rIns="9144" tIns="0" bIns="0">
            <a:spAutoFit/>
          </a:bodyPr>
          <a:lstStyle/>
          <a:p>
            <a:pPr algn="l">
              <a:spcAft>
                <a:spcPts val="500"/>
              </a:spcAft>
              <a:defRPr sz="1000" b="0">
                <a:solidFill>
                  <a:srgbClr val="647282"/>
                </a:solidFill>
                <a:latin typeface="Arial"/>
              </a:defRPr>
            </a:pPr>
            <a:r>
              <a:t>Illustrative task, not a benchmark sample. Actual tests use shuffled facts and disjoint semantic identities.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Rectangle 1"/>
          <p:cNvSpPr/>
          <p:nvPr/>
        </p:nvSpPr>
        <p:spPr>
          <a:xfrm>
            <a:off x="502920" y="402336"/>
            <a:ext cx="347472" cy="64008"/>
          </a:xfrm>
          <a:prstGeom prst="rect">
            <a:avLst/>
          </a:prstGeom>
          <a:solidFill>
            <a:srgbClr val="087E80"/>
          </a:solidFill>
          <a:ln>
            <a:solidFill>
              <a:srgbClr val="087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50976" y="310896"/>
            <a:ext cx="10058400" cy="274320"/>
          </a:xfrm>
          <a:prstGeom prst="rect">
            <a:avLst/>
          </a:prstGeom>
          <a:noFill/>
        </p:spPr>
        <p:txBody>
          <a:bodyPr wrap="square" lIns="9144" rIns="9144" tIns="0" bIns="0">
            <a:spAutoFit/>
          </a:bodyPr>
          <a:lstStyle/>
          <a:p>
            <a:pPr algn="l">
              <a:spcAft>
                <a:spcPts val="500"/>
              </a:spcAft>
              <a:defRPr sz="1100" b="1">
                <a:solidFill>
                  <a:srgbClr val="087E80"/>
                </a:solidFill>
                <a:latin typeface="Arial"/>
              </a:defRPr>
            </a:pPr>
            <a:r>
              <a:t>INTUITION</a:t>
            </a:r>
          </a:p>
        </p:txBody>
      </p:sp>
      <p:sp>
        <p:nvSpPr>
          <p:cNvPr id="4" name="TextBox 3"/>
          <p:cNvSpPr txBox="1"/>
          <p:nvPr/>
        </p:nvSpPr>
        <p:spPr>
          <a:xfrm>
            <a:off x="502920" y="841248"/>
            <a:ext cx="11155680" cy="841248"/>
          </a:xfrm>
          <a:prstGeom prst="rect">
            <a:avLst/>
          </a:prstGeom>
          <a:noFill/>
        </p:spPr>
        <p:txBody>
          <a:bodyPr wrap="square" lIns="9144" rIns="9144" tIns="0" bIns="0">
            <a:spAutoFit/>
          </a:bodyPr>
          <a:lstStyle/>
          <a:p>
            <a:pPr algn="l">
              <a:spcAft>
                <a:spcPts val="500"/>
              </a:spcAft>
              <a:defRPr sz="3200" b="1">
                <a:solidFill>
                  <a:srgbClr val="172C45"/>
                </a:solidFill>
                <a:latin typeface="Arial"/>
              </a:defRPr>
            </a:pPr>
            <a:r>
              <a:t>Energy is a learned compatibility score</a:t>
            </a:r>
          </a:p>
        </p:txBody>
      </p:sp>
      <p:sp>
        <p:nvSpPr>
          <p:cNvPr id="5" name="TextBox 4"/>
          <p:cNvSpPr txBox="1"/>
          <p:nvPr/>
        </p:nvSpPr>
        <p:spPr>
          <a:xfrm>
            <a:off x="521207" y="1783080"/>
            <a:ext cx="11064240" cy="502920"/>
          </a:xfrm>
          <a:prstGeom prst="rect">
            <a:avLst/>
          </a:prstGeom>
          <a:noFill/>
        </p:spPr>
        <p:txBody>
          <a:bodyPr wrap="square" lIns="9144" rIns="9144" tIns="0" bIns="0">
            <a:spAutoFit/>
          </a:bodyPr>
          <a:lstStyle/>
          <a:p>
            <a:pPr algn="l">
              <a:spcAft>
                <a:spcPts val="500"/>
              </a:spcAft>
              <a:defRPr sz="1800" b="0">
                <a:solidFill>
                  <a:srgbClr val="647282"/>
                </a:solidFill>
                <a:latin typeface="Arial"/>
              </a:defRPr>
            </a:pPr>
            <a:r>
              <a:t>Lower energy means the model prefers that state. It does not certify truth.</a:t>
            </a:r>
          </a:p>
        </p:txBody>
      </p:sp>
      <p:sp>
        <p:nvSpPr>
          <p:cNvPr id="6" name="TextBox 5"/>
          <p:cNvSpPr txBox="1"/>
          <p:nvPr/>
        </p:nvSpPr>
        <p:spPr>
          <a:xfrm>
            <a:off x="11091672" y="6428232"/>
            <a:ext cx="548640" cy="274320"/>
          </a:xfrm>
          <a:prstGeom prst="rect">
            <a:avLst/>
          </a:prstGeom>
          <a:noFill/>
        </p:spPr>
        <p:txBody>
          <a:bodyPr wrap="square" lIns="9144" rIns="9144" tIns="0" bIns="0">
            <a:spAutoFit/>
          </a:bodyPr>
          <a:lstStyle/>
          <a:p>
            <a:pPr algn="r">
              <a:spcAft>
                <a:spcPts val="500"/>
              </a:spcAft>
              <a:defRPr sz="1100" b="0">
                <a:solidFill>
                  <a:srgbClr val="647282"/>
                </a:solidFill>
                <a:latin typeface="Arial"/>
              </a:defRPr>
            </a:pPr>
            <a:r>
              <a:t>03</a:t>
            </a:r>
          </a:p>
        </p:txBody>
      </p:sp>
      <p:pic>
        <p:nvPicPr>
          <p:cNvPr id="7" name="Picture 6" descr="energy_landscape.png"/>
          <p:cNvPicPr>
            <a:picLocks noChangeAspect="1"/>
          </p:cNvPicPr>
          <p:nvPr/>
        </p:nvPicPr>
        <p:blipFill>
          <a:blip r:embed="rId2"/>
          <a:stretch>
            <a:fillRect/>
          </a:stretch>
        </p:blipFill>
        <p:spPr>
          <a:xfrm>
            <a:off x="658368" y="2487168"/>
            <a:ext cx="7863840" cy="3054096"/>
          </a:xfrm>
          <a:prstGeom prst="rect">
            <a:avLst/>
          </a:prstGeom>
        </p:spPr>
      </p:pic>
      <p:sp>
        <p:nvSpPr>
          <p:cNvPr id="8" name="TextBox 7"/>
          <p:cNvSpPr txBox="1"/>
          <p:nvPr/>
        </p:nvSpPr>
        <p:spPr>
          <a:xfrm>
            <a:off x="694944" y="2240280"/>
            <a:ext cx="914400" cy="320040"/>
          </a:xfrm>
          <a:prstGeom prst="rect">
            <a:avLst/>
          </a:prstGeom>
          <a:noFill/>
        </p:spPr>
        <p:txBody>
          <a:bodyPr wrap="square" lIns="9144" rIns="9144" tIns="0" bIns="0">
            <a:spAutoFit/>
          </a:bodyPr>
          <a:lstStyle/>
          <a:p>
            <a:pPr algn="l">
              <a:spcAft>
                <a:spcPts val="500"/>
              </a:spcAft>
              <a:defRPr sz="1700" b="0">
                <a:solidFill>
                  <a:srgbClr val="647282"/>
                </a:solidFill>
                <a:latin typeface="Arial"/>
              </a:defRPr>
            </a:pPr>
            <a:r>
              <a:t>energy</a:t>
            </a:r>
          </a:p>
        </p:txBody>
      </p:sp>
      <p:sp>
        <p:nvSpPr>
          <p:cNvPr id="9" name="TextBox 8"/>
          <p:cNvSpPr txBox="1"/>
          <p:nvPr/>
        </p:nvSpPr>
        <p:spPr>
          <a:xfrm>
            <a:off x="2011680" y="2240280"/>
            <a:ext cx="1371600" cy="292608"/>
          </a:xfrm>
          <a:prstGeom prst="rect">
            <a:avLst/>
          </a:prstGeom>
          <a:noFill/>
        </p:spPr>
        <p:txBody>
          <a:bodyPr wrap="square" lIns="9144" rIns="9144" tIns="0" bIns="0">
            <a:spAutoFit/>
          </a:bodyPr>
          <a:lstStyle/>
          <a:p>
            <a:pPr algn="l">
              <a:spcAft>
                <a:spcPts val="500"/>
              </a:spcAft>
              <a:defRPr sz="1500" b="0">
                <a:solidFill>
                  <a:srgbClr val="647282"/>
                </a:solidFill>
                <a:latin typeface="Arial"/>
              </a:defRPr>
            </a:pPr>
            <a:r>
              <a:t>Anchor</a:t>
            </a:r>
          </a:p>
        </p:txBody>
      </p:sp>
      <p:sp>
        <p:nvSpPr>
          <p:cNvPr id="10" name="TextBox 9"/>
          <p:cNvSpPr txBox="1"/>
          <p:nvPr/>
        </p:nvSpPr>
        <p:spPr>
          <a:xfrm>
            <a:off x="3474720" y="2240280"/>
            <a:ext cx="2286000" cy="292608"/>
          </a:xfrm>
          <a:prstGeom prst="rect">
            <a:avLst/>
          </a:prstGeom>
          <a:noFill/>
        </p:spPr>
        <p:txBody>
          <a:bodyPr wrap="square" lIns="9144" rIns="9144" tIns="0" bIns="0">
            <a:spAutoFit/>
          </a:bodyPr>
          <a:lstStyle/>
          <a:p>
            <a:pPr algn="l">
              <a:spcAft>
                <a:spcPts val="500"/>
              </a:spcAft>
              <a:defRPr sz="1500" b="1">
                <a:solidFill>
                  <a:srgbClr val="087E80"/>
                </a:solidFill>
                <a:latin typeface="Arial"/>
              </a:defRPr>
            </a:pPr>
            <a:r>
              <a:t>Anchor + waves</a:t>
            </a:r>
          </a:p>
        </p:txBody>
      </p:sp>
      <p:sp>
        <p:nvSpPr>
          <p:cNvPr id="11" name="TextBox 10"/>
          <p:cNvSpPr txBox="1"/>
          <p:nvPr/>
        </p:nvSpPr>
        <p:spPr>
          <a:xfrm>
            <a:off x="3429000" y="5504688"/>
            <a:ext cx="2743200" cy="347472"/>
          </a:xfrm>
          <a:prstGeom prst="rect">
            <a:avLst/>
          </a:prstGeom>
          <a:noFill/>
        </p:spPr>
        <p:txBody>
          <a:bodyPr wrap="square" lIns="9144" rIns="9144" tIns="0" bIns="0">
            <a:spAutoFit/>
          </a:bodyPr>
          <a:lstStyle/>
          <a:p>
            <a:pPr algn="l">
              <a:spcAft>
                <a:spcPts val="500"/>
              </a:spcAft>
              <a:defRPr sz="1700" b="0">
                <a:solidFill>
                  <a:srgbClr val="647282"/>
                </a:solidFill>
                <a:latin typeface="Arial"/>
              </a:defRPr>
            </a:pPr>
            <a:r>
              <a:t>candidate state</a:t>
            </a:r>
          </a:p>
        </p:txBody>
      </p:sp>
      <p:sp>
        <p:nvSpPr>
          <p:cNvPr id="12" name="Rounded Rectangle 11"/>
          <p:cNvSpPr/>
          <p:nvPr/>
        </p:nvSpPr>
        <p:spPr>
          <a:xfrm>
            <a:off x="8732520" y="2423160"/>
            <a:ext cx="2834640" cy="3291840"/>
          </a:xfrm>
          <a:prstGeom prst="roundRect">
            <a:avLst>
              <a:gd name="adj" fmla="val 8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42832" y="2624328"/>
            <a:ext cx="2414016" cy="365760"/>
          </a:xfrm>
          <a:prstGeom prst="rect">
            <a:avLst/>
          </a:prstGeom>
          <a:noFill/>
        </p:spPr>
        <p:txBody>
          <a:bodyPr wrap="square" lIns="9144" rIns="9144" tIns="0" bIns="0">
            <a:spAutoFit/>
          </a:bodyPr>
          <a:lstStyle/>
          <a:p>
            <a:pPr algn="l">
              <a:spcAft>
                <a:spcPts val="500"/>
              </a:spcAft>
              <a:defRPr sz="1300" b="1">
                <a:solidFill>
                  <a:srgbClr val="087E80"/>
                </a:solidFill>
                <a:latin typeface="Arial"/>
              </a:defRPr>
            </a:pPr>
            <a:r>
              <a:t>THE LOOP</a:t>
            </a:r>
          </a:p>
        </p:txBody>
      </p:sp>
      <p:sp>
        <p:nvSpPr>
          <p:cNvPr id="14" name="TextBox 13"/>
          <p:cNvSpPr txBox="1"/>
          <p:nvPr/>
        </p:nvSpPr>
        <p:spPr>
          <a:xfrm>
            <a:off x="8942832" y="3154680"/>
            <a:ext cx="2414016" cy="731520"/>
          </a:xfrm>
          <a:prstGeom prst="rect">
            <a:avLst/>
          </a:prstGeom>
          <a:noFill/>
        </p:spPr>
        <p:txBody>
          <a:bodyPr wrap="square" lIns="9144" rIns="9144" tIns="0" bIns="0">
            <a:spAutoFit/>
          </a:bodyPr>
          <a:lstStyle/>
          <a:p>
            <a:pPr algn="l">
              <a:spcAft>
                <a:spcPts val="500"/>
              </a:spcAft>
              <a:defRPr sz="2600" b="1">
                <a:solidFill>
                  <a:srgbClr val="172C45"/>
                </a:solidFill>
                <a:latin typeface="Arial"/>
              </a:defRPr>
            </a:pPr>
            <a:r>
              <a:t>Guess → revise</a:t>
            </a:r>
          </a:p>
        </p:txBody>
      </p:sp>
      <p:sp>
        <p:nvSpPr>
          <p:cNvPr id="15" name="TextBox 14"/>
          <p:cNvSpPr txBox="1"/>
          <p:nvPr/>
        </p:nvSpPr>
        <p:spPr>
          <a:xfrm>
            <a:off x="8942832" y="3995928"/>
            <a:ext cx="2414016" cy="1600200"/>
          </a:xfrm>
          <a:prstGeom prst="rect">
            <a:avLst/>
          </a:prstGeom>
          <a:noFill/>
        </p:spPr>
        <p:txBody>
          <a:bodyPr wrap="square" lIns="9144" rIns="9144" tIns="0" bIns="0">
            <a:spAutoFit/>
          </a:bodyPr>
          <a:lstStyle/>
          <a:p>
            <a:pPr algn="l">
              <a:spcAft>
                <a:spcPts val="500"/>
              </a:spcAft>
              <a:defRPr sz="1800" b="0">
                <a:solidFill>
                  <a:srgbClr val="647282"/>
                </a:solidFill>
                <a:latin typeface="Arial"/>
              </a:defRPr>
            </a:pPr>
            <a:r>
              <a:t>Follow the slope.</a:t>
            </a:r>
          </a:p>
          <a:p>
            <a:pPr algn="l">
              <a:spcAft>
                <a:spcPts val="500"/>
              </a:spcAft>
              <a:defRPr sz="1800" b="0">
                <a:solidFill>
                  <a:srgbClr val="647282"/>
                </a:solidFill>
                <a:latin typeface="Arial"/>
              </a:defRPr>
            </a:pPr>
            <a:r>
              <a:t>Accept a lower score.</a:t>
            </a:r>
          </a:p>
          <a:p>
            <a:pPr algn="l">
              <a:spcAft>
                <a:spcPts val="500"/>
              </a:spcAft>
              <a:defRPr sz="1800" b="0">
                <a:solidFill>
                  <a:srgbClr val="647282"/>
                </a:solidFill>
                <a:latin typeface="Arial"/>
              </a:defRPr>
            </a:pPr>
            <a:r>
              <a:t>Repeat with fixed weights.</a:t>
            </a:r>
          </a:p>
        </p:txBody>
      </p:sp>
      <p:sp>
        <p:nvSpPr>
          <p:cNvPr id="16" name="TextBox 15"/>
          <p:cNvSpPr txBox="1"/>
          <p:nvPr/>
        </p:nvSpPr>
        <p:spPr>
          <a:xfrm>
            <a:off x="941832" y="6007608"/>
            <a:ext cx="10698480" cy="365760"/>
          </a:xfrm>
          <a:prstGeom prst="rect">
            <a:avLst/>
          </a:prstGeom>
          <a:noFill/>
        </p:spPr>
        <p:txBody>
          <a:bodyPr wrap="square" lIns="9144" rIns="9144" tIns="0" bIns="0">
            <a:spAutoFit/>
          </a:bodyPr>
          <a:lstStyle/>
          <a:p>
            <a:pPr algn="l">
              <a:spcAft>
                <a:spcPts val="500"/>
              </a:spcAft>
              <a:defRPr sz="1900" b="1">
                <a:solidFill>
                  <a:srgbClr val="D86A32"/>
                </a:solidFill>
                <a:latin typeface="Arial"/>
              </a:defRPr>
            </a:pPr>
            <a:r>
              <a:t>A lower local valley can still correspond to a wrong answer.</a:t>
            </a:r>
          </a:p>
        </p:txBody>
      </p:sp>
      <p:sp>
        <p:nvSpPr>
          <p:cNvPr id="17" name="TextBox 16"/>
          <p:cNvSpPr txBox="1"/>
          <p:nvPr/>
        </p:nvSpPr>
        <p:spPr>
          <a:xfrm>
            <a:off x="502920" y="6473952"/>
            <a:ext cx="10561320" cy="219456"/>
          </a:xfrm>
          <a:prstGeom prst="rect">
            <a:avLst/>
          </a:prstGeom>
          <a:noFill/>
        </p:spPr>
        <p:txBody>
          <a:bodyPr wrap="square" lIns="9144" rIns="9144" tIns="0" bIns="0">
            <a:spAutoFit/>
          </a:bodyPr>
          <a:lstStyle/>
          <a:p>
            <a:pPr algn="l">
              <a:spcAft>
                <a:spcPts val="500"/>
              </a:spcAft>
              <a:defRPr sz="1000" b="0">
                <a:solidFill>
                  <a:srgbClr val="647282"/>
                </a:solidFill>
                <a:latin typeface="Arial"/>
              </a:defRPr>
            </a:pPr>
            <a:r>
              <a:t>Illustrative one-dimensional landscape; the implemented state is high-dimensional. Background: Hoover et al., 2023.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Rectangle 1"/>
          <p:cNvSpPr/>
          <p:nvPr/>
        </p:nvSpPr>
        <p:spPr>
          <a:xfrm>
            <a:off x="502920" y="402336"/>
            <a:ext cx="347472" cy="64008"/>
          </a:xfrm>
          <a:prstGeom prst="rect">
            <a:avLst/>
          </a:prstGeom>
          <a:solidFill>
            <a:srgbClr val="087E80"/>
          </a:solidFill>
          <a:ln>
            <a:solidFill>
              <a:srgbClr val="087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50976" y="310896"/>
            <a:ext cx="10058400" cy="274320"/>
          </a:xfrm>
          <a:prstGeom prst="rect">
            <a:avLst/>
          </a:prstGeom>
          <a:noFill/>
        </p:spPr>
        <p:txBody>
          <a:bodyPr wrap="square" lIns="9144" rIns="9144" tIns="0" bIns="0">
            <a:spAutoFit/>
          </a:bodyPr>
          <a:lstStyle/>
          <a:p>
            <a:pPr algn="l">
              <a:spcAft>
                <a:spcPts val="500"/>
              </a:spcAft>
              <a:defRPr sz="1100" b="1">
                <a:solidFill>
                  <a:srgbClr val="087E80"/>
                </a:solidFill>
                <a:latin typeface="Arial"/>
              </a:defRPr>
            </a:pPr>
            <a:r>
              <a:t>ARCHITECTURE</a:t>
            </a:r>
          </a:p>
        </p:txBody>
      </p:sp>
      <p:sp>
        <p:nvSpPr>
          <p:cNvPr id="4" name="TextBox 3"/>
          <p:cNvSpPr txBox="1"/>
          <p:nvPr/>
        </p:nvSpPr>
        <p:spPr>
          <a:xfrm>
            <a:off x="502920" y="841248"/>
            <a:ext cx="11155680" cy="841248"/>
          </a:xfrm>
          <a:prstGeom prst="rect">
            <a:avLst/>
          </a:prstGeom>
          <a:noFill/>
        </p:spPr>
        <p:txBody>
          <a:bodyPr wrap="square" lIns="9144" rIns="9144" tIns="0" bIns="0">
            <a:spAutoFit/>
          </a:bodyPr>
          <a:lstStyle/>
          <a:p>
            <a:pPr algn="l">
              <a:spcAft>
                <a:spcPts val="500"/>
              </a:spcAft>
              <a:defRPr sz="3200" b="1">
                <a:solidFill>
                  <a:srgbClr val="172C45"/>
                </a:solidFill>
                <a:latin typeface="Arial"/>
              </a:defRPr>
            </a:pPr>
            <a:r>
              <a:t>One energy couples several state blocks</a:t>
            </a:r>
          </a:p>
        </p:txBody>
      </p:sp>
      <p:sp>
        <p:nvSpPr>
          <p:cNvPr id="5" name="TextBox 4"/>
          <p:cNvSpPr txBox="1"/>
          <p:nvPr/>
        </p:nvSpPr>
        <p:spPr>
          <a:xfrm>
            <a:off x="521207" y="1783080"/>
            <a:ext cx="11064240" cy="502920"/>
          </a:xfrm>
          <a:prstGeom prst="rect">
            <a:avLst/>
          </a:prstGeom>
          <a:noFill/>
        </p:spPr>
        <p:txBody>
          <a:bodyPr wrap="square" lIns="9144" rIns="9144" tIns="0" bIns="0">
            <a:spAutoFit/>
          </a:bodyPr>
          <a:lstStyle/>
          <a:p>
            <a:pPr algn="l">
              <a:spcAft>
                <a:spcPts val="500"/>
              </a:spcAft>
              <a:defRPr sz="1800" b="0">
                <a:solidFill>
                  <a:srgbClr val="647282"/>
                </a:solidFill>
                <a:latin typeface="Arial"/>
              </a:defRPr>
            </a:pPr>
            <a:r>
              <a:t>Observed text proposes an initial state; refinement updates the joint workspace.</a:t>
            </a:r>
          </a:p>
        </p:txBody>
      </p:sp>
      <p:sp>
        <p:nvSpPr>
          <p:cNvPr id="6" name="TextBox 5"/>
          <p:cNvSpPr txBox="1"/>
          <p:nvPr/>
        </p:nvSpPr>
        <p:spPr>
          <a:xfrm>
            <a:off x="11091672" y="6428232"/>
            <a:ext cx="548640" cy="274320"/>
          </a:xfrm>
          <a:prstGeom prst="rect">
            <a:avLst/>
          </a:prstGeom>
          <a:noFill/>
        </p:spPr>
        <p:txBody>
          <a:bodyPr wrap="square" lIns="9144" rIns="9144" tIns="0" bIns="0">
            <a:spAutoFit/>
          </a:bodyPr>
          <a:lstStyle/>
          <a:p>
            <a:pPr algn="r">
              <a:spcAft>
                <a:spcPts val="500"/>
              </a:spcAft>
              <a:defRPr sz="1100" b="0">
                <a:solidFill>
                  <a:srgbClr val="647282"/>
                </a:solidFill>
                <a:latin typeface="Arial"/>
              </a:defRPr>
            </a:pPr>
            <a:r>
              <a:t>04</a:t>
            </a:r>
          </a:p>
        </p:txBody>
      </p:sp>
      <p:sp>
        <p:nvSpPr>
          <p:cNvPr id="7" name="Rounded Rectangle 6"/>
          <p:cNvSpPr/>
          <p:nvPr/>
        </p:nvSpPr>
        <p:spPr>
          <a:xfrm>
            <a:off x="612648" y="2560320"/>
            <a:ext cx="2606040" cy="1234440"/>
          </a:xfrm>
          <a:prstGeom prst="roundRect">
            <a:avLst>
              <a:gd name="adj" fmla="val 8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 y="2752344"/>
            <a:ext cx="2386584" cy="365760"/>
          </a:xfrm>
          <a:prstGeom prst="rect">
            <a:avLst/>
          </a:prstGeom>
          <a:noFill/>
        </p:spPr>
        <p:txBody>
          <a:bodyPr wrap="square" lIns="9144" rIns="9144" tIns="0" bIns="0">
            <a:spAutoFit/>
          </a:bodyPr>
          <a:lstStyle/>
          <a:p>
            <a:pPr algn="ctr">
              <a:spcAft>
                <a:spcPts val="500"/>
              </a:spcAft>
              <a:defRPr sz="2200" b="1">
                <a:solidFill>
                  <a:srgbClr val="172C45"/>
                </a:solidFill>
                <a:latin typeface="Arial"/>
              </a:defRPr>
            </a:pPr>
            <a:r>
              <a:t>Recurrent</a:t>
            </a:r>
          </a:p>
        </p:txBody>
      </p:sp>
      <p:sp>
        <p:nvSpPr>
          <p:cNvPr id="9" name="TextBox 8"/>
          <p:cNvSpPr txBox="1"/>
          <p:nvPr/>
        </p:nvSpPr>
        <p:spPr>
          <a:xfrm>
            <a:off x="722376" y="3264408"/>
            <a:ext cx="2386584" cy="274320"/>
          </a:xfrm>
          <a:prstGeom prst="rect">
            <a:avLst/>
          </a:prstGeom>
          <a:noFill/>
        </p:spPr>
        <p:txBody>
          <a:bodyPr wrap="square" lIns="9144" rIns="9144" tIns="0" bIns="0">
            <a:spAutoFit/>
          </a:bodyPr>
          <a:lstStyle/>
          <a:p>
            <a:pPr algn="ctr">
              <a:spcAft>
                <a:spcPts val="500"/>
              </a:spcAft>
              <a:defRPr sz="1600" b="0">
                <a:solidFill>
                  <a:srgbClr val="647282"/>
                </a:solidFill>
                <a:latin typeface="Arial"/>
              </a:defRPr>
            </a:pPr>
            <a:r>
              <a:t>past context</a:t>
            </a:r>
          </a:p>
        </p:txBody>
      </p:sp>
      <p:cxnSp>
        <p:nvCxnSpPr>
          <p:cNvPr id="10" name="Connector 9"/>
          <p:cNvCxnSpPr/>
          <p:nvPr/>
        </p:nvCxnSpPr>
        <p:spPr>
          <a:xfrm>
            <a:off x="1915668" y="3803904"/>
            <a:ext cx="0" cy="539496"/>
          </a:xfrm>
          <a:prstGeom prst="line">
            <a:avLst/>
          </a:prstGeom>
          <a:ln w="25400">
            <a:solidFill>
              <a:srgbClr val="087E80"/>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520440" y="2560320"/>
            <a:ext cx="2606040" cy="1234440"/>
          </a:xfrm>
          <a:prstGeom prst="roundRect">
            <a:avLst>
              <a:gd name="adj" fmla="val 8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30168" y="2752344"/>
            <a:ext cx="2386584" cy="365760"/>
          </a:xfrm>
          <a:prstGeom prst="rect">
            <a:avLst/>
          </a:prstGeom>
          <a:noFill/>
        </p:spPr>
        <p:txBody>
          <a:bodyPr wrap="square" lIns="9144" rIns="9144" tIns="0" bIns="0">
            <a:spAutoFit/>
          </a:bodyPr>
          <a:lstStyle/>
          <a:p>
            <a:pPr algn="ctr">
              <a:spcAft>
                <a:spcPts val="500"/>
              </a:spcAft>
              <a:defRPr sz="2200" b="1">
                <a:solidFill>
                  <a:srgbClr val="172C45"/>
                </a:solidFill>
                <a:latin typeface="Arial"/>
              </a:defRPr>
            </a:pPr>
            <a:r>
              <a:t>Attention</a:t>
            </a:r>
          </a:p>
        </p:txBody>
      </p:sp>
      <p:sp>
        <p:nvSpPr>
          <p:cNvPr id="13" name="TextBox 12"/>
          <p:cNvSpPr txBox="1"/>
          <p:nvPr/>
        </p:nvSpPr>
        <p:spPr>
          <a:xfrm>
            <a:off x="3630168" y="3264408"/>
            <a:ext cx="2386584" cy="274320"/>
          </a:xfrm>
          <a:prstGeom prst="rect">
            <a:avLst/>
          </a:prstGeom>
          <a:noFill/>
        </p:spPr>
        <p:txBody>
          <a:bodyPr wrap="square" lIns="9144" rIns="9144" tIns="0" bIns="0">
            <a:spAutoFit/>
          </a:bodyPr>
          <a:lstStyle/>
          <a:p>
            <a:pPr algn="ctr">
              <a:spcAft>
                <a:spcPts val="500"/>
              </a:spcAft>
              <a:defRPr sz="1600" b="0">
                <a:solidFill>
                  <a:srgbClr val="647282"/>
                </a:solidFill>
                <a:latin typeface="Arial"/>
              </a:defRPr>
            </a:pPr>
            <a:r>
              <a:t>retrieved facts</a:t>
            </a:r>
          </a:p>
        </p:txBody>
      </p:sp>
      <p:cxnSp>
        <p:nvCxnSpPr>
          <p:cNvPr id="14" name="Connector 13"/>
          <p:cNvCxnSpPr/>
          <p:nvPr/>
        </p:nvCxnSpPr>
        <p:spPr>
          <a:xfrm>
            <a:off x="4823460" y="3803904"/>
            <a:ext cx="0" cy="539496"/>
          </a:xfrm>
          <a:prstGeom prst="line">
            <a:avLst/>
          </a:prstGeom>
          <a:ln w="25400">
            <a:solidFill>
              <a:srgbClr val="087E80"/>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428232" y="2560320"/>
            <a:ext cx="2606040" cy="1234440"/>
          </a:xfrm>
          <a:prstGeom prst="roundRect">
            <a:avLst>
              <a:gd name="adj" fmla="val 8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2752344"/>
            <a:ext cx="2386584" cy="365760"/>
          </a:xfrm>
          <a:prstGeom prst="rect">
            <a:avLst/>
          </a:prstGeom>
          <a:noFill/>
        </p:spPr>
        <p:txBody>
          <a:bodyPr wrap="square" lIns="9144" rIns="9144" tIns="0" bIns="0">
            <a:spAutoFit/>
          </a:bodyPr>
          <a:lstStyle/>
          <a:p>
            <a:pPr algn="ctr">
              <a:spcAft>
                <a:spcPts val="500"/>
              </a:spcAft>
              <a:defRPr sz="2200" b="1">
                <a:solidFill>
                  <a:srgbClr val="172C45"/>
                </a:solidFill>
                <a:latin typeface="Arial"/>
              </a:defRPr>
            </a:pPr>
            <a:r>
              <a:t>Feedforward</a:t>
            </a:r>
          </a:p>
        </p:txBody>
      </p:sp>
      <p:sp>
        <p:nvSpPr>
          <p:cNvPr id="17" name="TextBox 16"/>
          <p:cNvSpPr txBox="1"/>
          <p:nvPr/>
        </p:nvSpPr>
        <p:spPr>
          <a:xfrm>
            <a:off x="6537960" y="3264408"/>
            <a:ext cx="2386584" cy="274320"/>
          </a:xfrm>
          <a:prstGeom prst="rect">
            <a:avLst/>
          </a:prstGeom>
          <a:noFill/>
        </p:spPr>
        <p:txBody>
          <a:bodyPr wrap="square" lIns="9144" rIns="9144" tIns="0" bIns="0">
            <a:spAutoFit/>
          </a:bodyPr>
          <a:lstStyle/>
          <a:p>
            <a:pPr algn="ctr">
              <a:spcAft>
                <a:spcPts val="500"/>
              </a:spcAft>
              <a:defRPr sz="1600" b="0">
                <a:solidFill>
                  <a:srgbClr val="647282"/>
                </a:solidFill>
                <a:latin typeface="Arial"/>
              </a:defRPr>
            </a:pPr>
            <a:r>
              <a:t>local proposal</a:t>
            </a:r>
          </a:p>
        </p:txBody>
      </p:sp>
      <p:cxnSp>
        <p:nvCxnSpPr>
          <p:cNvPr id="18" name="Connector 17"/>
          <p:cNvCxnSpPr/>
          <p:nvPr/>
        </p:nvCxnSpPr>
        <p:spPr>
          <a:xfrm>
            <a:off x="7731252" y="3803904"/>
            <a:ext cx="0" cy="539496"/>
          </a:xfrm>
          <a:prstGeom prst="line">
            <a:avLst/>
          </a:prstGeom>
          <a:ln w="25400">
            <a:solidFill>
              <a:srgbClr val="087E80"/>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336024" y="2560320"/>
            <a:ext cx="2606040" cy="1234440"/>
          </a:xfrm>
          <a:prstGeom prst="roundRect">
            <a:avLst>
              <a:gd name="adj" fmla="val 8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45752" y="2752344"/>
            <a:ext cx="2386584" cy="365760"/>
          </a:xfrm>
          <a:prstGeom prst="rect">
            <a:avLst/>
          </a:prstGeom>
          <a:noFill/>
        </p:spPr>
        <p:txBody>
          <a:bodyPr wrap="square" lIns="9144" rIns="9144" tIns="0" bIns="0">
            <a:spAutoFit/>
          </a:bodyPr>
          <a:lstStyle/>
          <a:p>
            <a:pPr algn="ctr">
              <a:spcAft>
                <a:spcPts val="500"/>
              </a:spcAft>
              <a:defRPr sz="2200" b="1">
                <a:solidFill>
                  <a:srgbClr val="172C45"/>
                </a:solidFill>
                <a:latin typeface="Arial"/>
              </a:defRPr>
            </a:pPr>
            <a:r>
              <a:t>Output</a:t>
            </a:r>
          </a:p>
        </p:txBody>
      </p:sp>
      <p:sp>
        <p:nvSpPr>
          <p:cNvPr id="21" name="TextBox 20"/>
          <p:cNvSpPr txBox="1"/>
          <p:nvPr/>
        </p:nvSpPr>
        <p:spPr>
          <a:xfrm>
            <a:off x="9445752" y="3264408"/>
            <a:ext cx="2386584" cy="274320"/>
          </a:xfrm>
          <a:prstGeom prst="rect">
            <a:avLst/>
          </a:prstGeom>
          <a:noFill/>
        </p:spPr>
        <p:txBody>
          <a:bodyPr wrap="square" lIns="9144" rIns="9144" tIns="0" bIns="0">
            <a:spAutoFit/>
          </a:bodyPr>
          <a:lstStyle/>
          <a:p>
            <a:pPr algn="ctr">
              <a:spcAft>
                <a:spcPts val="500"/>
              </a:spcAft>
              <a:defRPr sz="1600" b="0">
                <a:solidFill>
                  <a:srgbClr val="647282"/>
                </a:solidFill>
                <a:latin typeface="Arial"/>
              </a:defRPr>
            </a:pPr>
            <a:r>
              <a:t>next-byte logits</a:t>
            </a:r>
          </a:p>
        </p:txBody>
      </p:sp>
      <p:cxnSp>
        <p:nvCxnSpPr>
          <p:cNvPr id="22" name="Connector 21"/>
          <p:cNvCxnSpPr/>
          <p:nvPr/>
        </p:nvCxnSpPr>
        <p:spPr>
          <a:xfrm>
            <a:off x="10639044" y="3803904"/>
            <a:ext cx="0" cy="539496"/>
          </a:xfrm>
          <a:prstGeom prst="line">
            <a:avLst/>
          </a:prstGeom>
          <a:ln w="25400">
            <a:solidFill>
              <a:srgbClr val="087E8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915668" y="4343400"/>
            <a:ext cx="8723376" cy="0"/>
          </a:xfrm>
          <a:prstGeom prst="line">
            <a:avLst/>
          </a:prstGeom>
          <a:ln w="25400">
            <a:solidFill>
              <a:srgbClr val="087E80"/>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1920240" y="4572000"/>
            <a:ext cx="8732520" cy="658368"/>
          </a:xfrm>
          <a:prstGeom prst="roundRect">
            <a:avLst>
              <a:gd name="adj" fmla="val 8000"/>
            </a:avLst>
          </a:prstGeom>
          <a:solidFill>
            <a:srgbClr val="087E80"/>
          </a:solidFill>
          <a:ln>
            <a:solidFill>
              <a:srgbClr val="087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039112" y="4745736"/>
            <a:ext cx="8494776" cy="347472"/>
          </a:xfrm>
          <a:prstGeom prst="rect">
            <a:avLst/>
          </a:prstGeom>
          <a:noFill/>
        </p:spPr>
        <p:txBody>
          <a:bodyPr wrap="square" lIns="9144" rIns="9144" tIns="0" bIns="0">
            <a:spAutoFit/>
          </a:bodyPr>
          <a:lstStyle/>
          <a:p>
            <a:pPr algn="ctr">
              <a:spcAft>
                <a:spcPts val="500"/>
              </a:spcAft>
              <a:defRPr sz="2200" b="1">
                <a:solidFill>
                  <a:srgbClr val="FFFFFF"/>
                </a:solidFill>
                <a:latin typeface="Arial"/>
              </a:defRPr>
            </a:pPr>
            <a:r>
              <a:t>Energy = stabilizing quadratic + learned cosine waves</a:t>
            </a:r>
          </a:p>
        </p:txBody>
      </p:sp>
      <p:sp>
        <p:nvSpPr>
          <p:cNvPr id="26" name="TextBox 25"/>
          <p:cNvSpPr txBox="1"/>
          <p:nvPr/>
        </p:nvSpPr>
        <p:spPr>
          <a:xfrm>
            <a:off x="777240" y="5669280"/>
            <a:ext cx="10652760" cy="640080"/>
          </a:xfrm>
          <a:prstGeom prst="rect">
            <a:avLst/>
          </a:prstGeom>
          <a:noFill/>
        </p:spPr>
        <p:txBody>
          <a:bodyPr wrap="square" lIns="9144" rIns="9144" tIns="0" bIns="0">
            <a:spAutoFit/>
          </a:bodyPr>
          <a:lstStyle/>
          <a:p>
            <a:pPr algn="l">
              <a:spcAft>
                <a:spcPts val="500"/>
              </a:spcAft>
              <a:defRPr sz="2000" b="0">
                <a:solidFill>
                  <a:srgbClr val="172C45"/>
                </a:solidFill>
                <a:latin typeface="Arial"/>
              </a:defRPr>
            </a:pPr>
            <a:r>
              <a:t>Quadratic: stay near a context-informed proposal.   Waves: learn coupled preferences.</a:t>
            </a:r>
          </a:p>
        </p:txBody>
      </p:sp>
      <p:sp>
        <p:nvSpPr>
          <p:cNvPr id="27" name="TextBox 26"/>
          <p:cNvSpPr txBox="1"/>
          <p:nvPr/>
        </p:nvSpPr>
        <p:spPr>
          <a:xfrm>
            <a:off x="502920" y="6473952"/>
            <a:ext cx="10561320" cy="219456"/>
          </a:xfrm>
          <a:prstGeom prst="rect">
            <a:avLst/>
          </a:prstGeom>
          <a:noFill/>
        </p:spPr>
        <p:txBody>
          <a:bodyPr wrap="square" lIns="9144" rIns="9144" tIns="0" bIns="0">
            <a:spAutoFit/>
          </a:bodyPr>
          <a:lstStyle/>
          <a:p>
            <a:pPr algn="l">
              <a:spcAft>
                <a:spcPts val="500"/>
              </a:spcAft>
              <a:defRPr sz="1000" b="0">
                <a:solidFill>
                  <a:srgbClr val="647282"/>
                </a:solidFill>
                <a:latin typeface="Arial"/>
              </a:defRPr>
            </a:pPr>
            <a:r>
              <a:t>Implemented language-model core. “Wave” means Fourier components in state space, not sound or a quantum mechanism.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Rectangle 1"/>
          <p:cNvSpPr/>
          <p:nvPr/>
        </p:nvSpPr>
        <p:spPr>
          <a:xfrm>
            <a:off x="502920" y="402336"/>
            <a:ext cx="347472" cy="64008"/>
          </a:xfrm>
          <a:prstGeom prst="rect">
            <a:avLst/>
          </a:prstGeom>
          <a:solidFill>
            <a:srgbClr val="087E80"/>
          </a:solidFill>
          <a:ln>
            <a:solidFill>
              <a:srgbClr val="087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50976" y="310896"/>
            <a:ext cx="10058400" cy="274320"/>
          </a:xfrm>
          <a:prstGeom prst="rect">
            <a:avLst/>
          </a:prstGeom>
          <a:noFill/>
        </p:spPr>
        <p:txBody>
          <a:bodyPr wrap="square" lIns="9144" rIns="9144" tIns="0" bIns="0">
            <a:spAutoFit/>
          </a:bodyPr>
          <a:lstStyle/>
          <a:p>
            <a:pPr algn="l">
              <a:spcAft>
                <a:spcPts val="500"/>
              </a:spcAft>
              <a:defRPr sz="1100" b="1">
                <a:solidFill>
                  <a:srgbClr val="087E80"/>
                </a:solidFill>
                <a:latin typeface="Arial"/>
              </a:defRPr>
            </a:pPr>
            <a:r>
              <a:t>LEARNING</a:t>
            </a:r>
          </a:p>
        </p:txBody>
      </p:sp>
      <p:sp>
        <p:nvSpPr>
          <p:cNvPr id="4" name="TextBox 3"/>
          <p:cNvSpPr txBox="1"/>
          <p:nvPr/>
        </p:nvSpPr>
        <p:spPr>
          <a:xfrm>
            <a:off x="502920" y="841248"/>
            <a:ext cx="11155680" cy="841248"/>
          </a:xfrm>
          <a:prstGeom prst="rect">
            <a:avLst/>
          </a:prstGeom>
          <a:noFill/>
        </p:spPr>
        <p:txBody>
          <a:bodyPr wrap="square" lIns="9144" rIns="9144" tIns="0" bIns="0">
            <a:spAutoFit/>
          </a:bodyPr>
          <a:lstStyle/>
          <a:p>
            <a:pPr algn="l">
              <a:spcAft>
                <a:spcPts val="500"/>
              </a:spcAft>
              <a:defRPr sz="3200" b="1">
                <a:solidFill>
                  <a:srgbClr val="172C45"/>
                </a:solidFill>
                <a:latin typeface="Arial"/>
              </a:defRPr>
            </a:pPr>
            <a:r>
              <a:t>Training shapes the landscape. Inference moves the state.</a:t>
            </a:r>
          </a:p>
        </p:txBody>
      </p:sp>
      <p:sp>
        <p:nvSpPr>
          <p:cNvPr id="5" name="TextBox 4"/>
          <p:cNvSpPr txBox="1"/>
          <p:nvPr/>
        </p:nvSpPr>
        <p:spPr>
          <a:xfrm>
            <a:off x="11091672" y="6428232"/>
            <a:ext cx="548640" cy="274320"/>
          </a:xfrm>
          <a:prstGeom prst="rect">
            <a:avLst/>
          </a:prstGeom>
          <a:noFill/>
        </p:spPr>
        <p:txBody>
          <a:bodyPr wrap="square" lIns="9144" rIns="9144" tIns="0" bIns="0">
            <a:spAutoFit/>
          </a:bodyPr>
          <a:lstStyle/>
          <a:p>
            <a:pPr algn="r">
              <a:spcAft>
                <a:spcPts val="500"/>
              </a:spcAft>
              <a:defRPr sz="1100" b="0">
                <a:solidFill>
                  <a:srgbClr val="647282"/>
                </a:solidFill>
                <a:latin typeface="Arial"/>
              </a:defRPr>
            </a:pPr>
            <a:r>
              <a:t>05</a:t>
            </a:r>
          </a:p>
        </p:txBody>
      </p:sp>
      <p:sp>
        <p:nvSpPr>
          <p:cNvPr id="6" name="Rounded Rectangle 5"/>
          <p:cNvSpPr/>
          <p:nvPr/>
        </p:nvSpPr>
        <p:spPr>
          <a:xfrm>
            <a:off x="685800" y="2331720"/>
            <a:ext cx="5212080" cy="3154680"/>
          </a:xfrm>
          <a:prstGeom prst="roundRect">
            <a:avLst>
              <a:gd name="adj" fmla="val 8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2532888"/>
            <a:ext cx="4791456" cy="365760"/>
          </a:xfrm>
          <a:prstGeom prst="rect">
            <a:avLst/>
          </a:prstGeom>
          <a:noFill/>
        </p:spPr>
        <p:txBody>
          <a:bodyPr wrap="square" lIns="9144" rIns="9144" tIns="0" bIns="0">
            <a:spAutoFit/>
          </a:bodyPr>
          <a:lstStyle/>
          <a:p>
            <a:pPr algn="l">
              <a:spcAft>
                <a:spcPts val="500"/>
              </a:spcAft>
              <a:defRPr sz="1300" b="1">
                <a:solidFill>
                  <a:srgbClr val="087E80"/>
                </a:solidFill>
                <a:latin typeface="Arial"/>
              </a:defRPr>
            </a:pPr>
            <a:r>
              <a:t>TRAINING</a:t>
            </a:r>
          </a:p>
        </p:txBody>
      </p:sp>
      <p:sp>
        <p:nvSpPr>
          <p:cNvPr id="8" name="TextBox 7"/>
          <p:cNvSpPr txBox="1"/>
          <p:nvPr/>
        </p:nvSpPr>
        <p:spPr>
          <a:xfrm>
            <a:off x="896112" y="3063239"/>
            <a:ext cx="4791456" cy="731520"/>
          </a:xfrm>
          <a:prstGeom prst="rect">
            <a:avLst/>
          </a:prstGeom>
          <a:noFill/>
        </p:spPr>
        <p:txBody>
          <a:bodyPr wrap="square" lIns="9144" rIns="9144" tIns="0" bIns="0">
            <a:spAutoFit/>
          </a:bodyPr>
          <a:lstStyle/>
          <a:p>
            <a:pPr algn="l">
              <a:spcAft>
                <a:spcPts val="500"/>
              </a:spcAft>
              <a:defRPr sz="2600" b="1">
                <a:solidFill>
                  <a:srgbClr val="172C45"/>
                </a:solidFill>
                <a:latin typeface="Arial"/>
              </a:defRPr>
            </a:pPr>
            <a:r>
              <a:t>Change parameters θ</a:t>
            </a:r>
          </a:p>
        </p:txBody>
      </p:sp>
      <p:sp>
        <p:nvSpPr>
          <p:cNvPr id="9" name="TextBox 8"/>
          <p:cNvSpPr txBox="1"/>
          <p:nvPr/>
        </p:nvSpPr>
        <p:spPr>
          <a:xfrm>
            <a:off x="896112" y="3904487"/>
            <a:ext cx="4791456" cy="1463040"/>
          </a:xfrm>
          <a:prstGeom prst="rect">
            <a:avLst/>
          </a:prstGeom>
          <a:noFill/>
        </p:spPr>
        <p:txBody>
          <a:bodyPr wrap="square" lIns="9144" rIns="9144" tIns="0" bIns="0">
            <a:spAutoFit/>
          </a:bodyPr>
          <a:lstStyle/>
          <a:p>
            <a:pPr algn="l">
              <a:spcAft>
                <a:spcPts val="500"/>
              </a:spcAft>
              <a:defRPr sz="1800" b="0">
                <a:solidFill>
                  <a:srgbClr val="647282"/>
                </a:solidFill>
                <a:latin typeface="Arial"/>
              </a:defRPr>
            </a:pPr>
            <a:r>
              <a:t>Use labeled examples.</a:t>
            </a:r>
          </a:p>
          <a:p>
            <a:pPr algn="l">
              <a:spcAft>
                <a:spcPts val="500"/>
              </a:spcAft>
              <a:defRPr sz="1800" b="0">
                <a:solidFill>
                  <a:srgbClr val="647282"/>
                </a:solidFill>
                <a:latin typeface="Arial"/>
              </a:defRPr>
            </a:pPr>
            <a:r>
              <a:t>Differentiate through refinement.</a:t>
            </a:r>
          </a:p>
          <a:p>
            <a:pPr algn="l">
              <a:spcAft>
                <a:spcPts val="500"/>
              </a:spcAft>
              <a:defRPr sz="1800" b="0">
                <a:solidFill>
                  <a:srgbClr val="647282"/>
                </a:solidFill>
                <a:latin typeface="Arial"/>
              </a:defRPr>
            </a:pPr>
            <a:r>
              <a:t>Update weights with AdamW.</a:t>
            </a:r>
          </a:p>
        </p:txBody>
      </p:sp>
      <p:sp>
        <p:nvSpPr>
          <p:cNvPr id="10" name="Rounded Rectangle 9"/>
          <p:cNvSpPr/>
          <p:nvPr/>
        </p:nvSpPr>
        <p:spPr>
          <a:xfrm>
            <a:off x="6263640" y="2331720"/>
            <a:ext cx="5212080" cy="3154680"/>
          </a:xfrm>
          <a:prstGeom prst="roundRect">
            <a:avLst>
              <a:gd name="adj" fmla="val 8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2532888"/>
            <a:ext cx="4791456" cy="365760"/>
          </a:xfrm>
          <a:prstGeom prst="rect">
            <a:avLst/>
          </a:prstGeom>
          <a:noFill/>
        </p:spPr>
        <p:txBody>
          <a:bodyPr wrap="square" lIns="9144" rIns="9144" tIns="0" bIns="0">
            <a:spAutoFit/>
          </a:bodyPr>
          <a:lstStyle/>
          <a:p>
            <a:pPr algn="l">
              <a:spcAft>
                <a:spcPts val="500"/>
              </a:spcAft>
              <a:defRPr sz="1300" b="1">
                <a:solidFill>
                  <a:srgbClr val="D86A32"/>
                </a:solidFill>
                <a:latin typeface="Arial"/>
              </a:defRPr>
            </a:pPr>
            <a:r>
              <a:t>INFERENCE</a:t>
            </a:r>
          </a:p>
        </p:txBody>
      </p:sp>
      <p:sp>
        <p:nvSpPr>
          <p:cNvPr id="12" name="TextBox 11"/>
          <p:cNvSpPr txBox="1"/>
          <p:nvPr/>
        </p:nvSpPr>
        <p:spPr>
          <a:xfrm>
            <a:off x="6473952" y="3063239"/>
            <a:ext cx="4791456" cy="731520"/>
          </a:xfrm>
          <a:prstGeom prst="rect">
            <a:avLst/>
          </a:prstGeom>
          <a:noFill/>
        </p:spPr>
        <p:txBody>
          <a:bodyPr wrap="square" lIns="9144" rIns="9144" tIns="0" bIns="0">
            <a:spAutoFit/>
          </a:bodyPr>
          <a:lstStyle/>
          <a:p>
            <a:pPr algn="l">
              <a:spcAft>
                <a:spcPts val="500"/>
              </a:spcAft>
              <a:defRPr sz="2600" b="1">
                <a:solidFill>
                  <a:srgbClr val="172C45"/>
                </a:solidFill>
                <a:latin typeface="Arial"/>
              </a:defRPr>
            </a:pPr>
            <a:r>
              <a:t>Change candidate state s</a:t>
            </a:r>
          </a:p>
        </p:txBody>
      </p:sp>
      <p:sp>
        <p:nvSpPr>
          <p:cNvPr id="13" name="TextBox 12"/>
          <p:cNvSpPr txBox="1"/>
          <p:nvPr/>
        </p:nvSpPr>
        <p:spPr>
          <a:xfrm>
            <a:off x="6473952" y="3904487"/>
            <a:ext cx="4791456" cy="1463040"/>
          </a:xfrm>
          <a:prstGeom prst="rect">
            <a:avLst/>
          </a:prstGeom>
          <a:noFill/>
        </p:spPr>
        <p:txBody>
          <a:bodyPr wrap="square" lIns="9144" rIns="9144" tIns="0" bIns="0">
            <a:spAutoFit/>
          </a:bodyPr>
          <a:lstStyle/>
          <a:p>
            <a:pPr algn="l">
              <a:spcAft>
                <a:spcPts val="500"/>
              </a:spcAft>
              <a:defRPr sz="1800" b="0">
                <a:solidFill>
                  <a:srgbClr val="647282"/>
                </a:solidFill>
                <a:latin typeface="Arial"/>
              </a:defRPr>
            </a:pPr>
            <a:r>
              <a:t>Read the supplied context.</a:t>
            </a:r>
          </a:p>
          <a:p>
            <a:pPr algn="l">
              <a:spcAft>
                <a:spcPts val="500"/>
              </a:spcAft>
              <a:defRPr sz="1800" b="0">
                <a:solidFill>
                  <a:srgbClr val="647282"/>
                </a:solidFill>
                <a:latin typeface="Arial"/>
              </a:defRPr>
            </a:pPr>
            <a:r>
              <a:t>Take accepted state updates.</a:t>
            </a:r>
          </a:p>
          <a:p>
            <a:pPr algn="l">
              <a:spcAft>
                <a:spcPts val="500"/>
              </a:spcAft>
              <a:defRPr sz="1800" b="0">
                <a:solidFill>
                  <a:srgbClr val="647282"/>
                </a:solidFill>
                <a:latin typeface="Arial"/>
              </a:defRPr>
            </a:pPr>
            <a:r>
              <a:t>Keep learned weights fixed.</a:t>
            </a:r>
          </a:p>
        </p:txBody>
      </p:sp>
      <p:sp>
        <p:nvSpPr>
          <p:cNvPr id="14" name="TextBox 13"/>
          <p:cNvSpPr txBox="1"/>
          <p:nvPr/>
        </p:nvSpPr>
        <p:spPr>
          <a:xfrm>
            <a:off x="2743200" y="5715000"/>
            <a:ext cx="6766560" cy="548640"/>
          </a:xfrm>
          <a:prstGeom prst="rect">
            <a:avLst/>
          </a:prstGeom>
          <a:noFill/>
        </p:spPr>
        <p:txBody>
          <a:bodyPr wrap="square" lIns="9144" rIns="9144" tIns="0" bIns="0">
            <a:spAutoFit/>
          </a:bodyPr>
          <a:lstStyle/>
          <a:p>
            <a:pPr algn="ctr">
              <a:spcAft>
                <a:spcPts val="500"/>
              </a:spcAft>
              <a:defRPr sz="2900" b="1">
                <a:solidFill>
                  <a:srgbClr val="172C45"/>
                </a:solidFill>
                <a:latin typeface="Arial"/>
              </a:defRPr>
            </a:pPr>
            <a:r>
              <a:t>s ← s − η ∇Eθ(context, s)</a:t>
            </a:r>
          </a:p>
        </p:txBody>
      </p:sp>
      <p:sp>
        <p:nvSpPr>
          <p:cNvPr id="15" name="TextBox 14"/>
          <p:cNvSpPr txBox="1"/>
          <p:nvPr/>
        </p:nvSpPr>
        <p:spPr>
          <a:xfrm>
            <a:off x="502920" y="6473952"/>
            <a:ext cx="10561320" cy="219456"/>
          </a:xfrm>
          <a:prstGeom prst="rect">
            <a:avLst/>
          </a:prstGeom>
          <a:noFill/>
        </p:spPr>
        <p:txBody>
          <a:bodyPr wrap="square" lIns="9144" rIns="9144" tIns="0" bIns="0">
            <a:spAutoFit/>
          </a:bodyPr>
          <a:lstStyle/>
          <a:p>
            <a:pPr algn="l">
              <a:spcAft>
                <a:spcPts val="500"/>
              </a:spcAft>
              <a:defRPr sz="1000" b="0">
                <a:solidFill>
                  <a:srgbClr val="647282"/>
                </a:solidFill>
                <a:latin typeface="Arial"/>
              </a:defRPr>
            </a:pPr>
            <a:r>
              <a:t>State optimization and parameter optimization are separate. Fixed-weight and analytic-gradient checks are automated.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Rectangle 1"/>
          <p:cNvSpPr/>
          <p:nvPr/>
        </p:nvSpPr>
        <p:spPr>
          <a:xfrm>
            <a:off x="502920" y="402336"/>
            <a:ext cx="347472" cy="64008"/>
          </a:xfrm>
          <a:prstGeom prst="rect">
            <a:avLst/>
          </a:prstGeom>
          <a:solidFill>
            <a:srgbClr val="087E80"/>
          </a:solidFill>
          <a:ln>
            <a:solidFill>
              <a:srgbClr val="087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50976" y="310896"/>
            <a:ext cx="10058400" cy="274320"/>
          </a:xfrm>
          <a:prstGeom prst="rect">
            <a:avLst/>
          </a:prstGeom>
          <a:noFill/>
        </p:spPr>
        <p:txBody>
          <a:bodyPr wrap="square" lIns="9144" rIns="9144" tIns="0" bIns="0">
            <a:spAutoFit/>
          </a:bodyPr>
          <a:lstStyle/>
          <a:p>
            <a:pPr algn="l">
              <a:spcAft>
                <a:spcPts val="500"/>
              </a:spcAft>
              <a:defRPr sz="1100" b="1">
                <a:solidFill>
                  <a:srgbClr val="087E80"/>
                </a:solidFill>
                <a:latin typeface="Arial"/>
              </a:defRPr>
            </a:pPr>
            <a:r>
              <a:t>EVALUATION</a:t>
            </a:r>
          </a:p>
        </p:txBody>
      </p:sp>
      <p:sp>
        <p:nvSpPr>
          <p:cNvPr id="4" name="TextBox 3"/>
          <p:cNvSpPr txBox="1"/>
          <p:nvPr/>
        </p:nvSpPr>
        <p:spPr>
          <a:xfrm>
            <a:off x="502920" y="841248"/>
            <a:ext cx="11155680" cy="841248"/>
          </a:xfrm>
          <a:prstGeom prst="rect">
            <a:avLst/>
          </a:prstGeom>
          <a:noFill/>
        </p:spPr>
        <p:txBody>
          <a:bodyPr wrap="square" lIns="9144" rIns="9144" tIns="0" bIns="0">
            <a:spAutoFit/>
          </a:bodyPr>
          <a:lstStyle/>
          <a:p>
            <a:pPr algn="l">
              <a:spcAft>
                <a:spcPts val="500"/>
              </a:spcAft>
              <a:defRPr sz="3200" b="1">
                <a:solidFill>
                  <a:srgbClr val="172C45"/>
                </a:solidFill>
                <a:latin typeface="Arial"/>
              </a:defRPr>
            </a:pPr>
            <a:r>
              <a:t>Three questions need three different measurements</a:t>
            </a:r>
          </a:p>
        </p:txBody>
      </p:sp>
      <p:sp>
        <p:nvSpPr>
          <p:cNvPr id="5" name="TextBox 4"/>
          <p:cNvSpPr txBox="1"/>
          <p:nvPr/>
        </p:nvSpPr>
        <p:spPr>
          <a:xfrm>
            <a:off x="11091672" y="6428232"/>
            <a:ext cx="548640" cy="274320"/>
          </a:xfrm>
          <a:prstGeom prst="rect">
            <a:avLst/>
          </a:prstGeom>
          <a:noFill/>
        </p:spPr>
        <p:txBody>
          <a:bodyPr wrap="square" lIns="9144" rIns="9144" tIns="0" bIns="0">
            <a:spAutoFit/>
          </a:bodyPr>
          <a:lstStyle/>
          <a:p>
            <a:pPr algn="r">
              <a:spcAft>
                <a:spcPts val="500"/>
              </a:spcAft>
              <a:defRPr sz="1100" b="0">
                <a:solidFill>
                  <a:srgbClr val="647282"/>
                </a:solidFill>
                <a:latin typeface="Arial"/>
              </a:defRPr>
            </a:pPr>
            <a:r>
              <a:t>06</a:t>
            </a:r>
          </a:p>
        </p:txBody>
      </p:sp>
      <p:sp>
        <p:nvSpPr>
          <p:cNvPr id="6" name="Rounded Rectangle 5"/>
          <p:cNvSpPr/>
          <p:nvPr/>
        </p:nvSpPr>
        <p:spPr>
          <a:xfrm>
            <a:off x="640080" y="2377440"/>
            <a:ext cx="3474720" cy="2971800"/>
          </a:xfrm>
          <a:prstGeom prst="roundRect">
            <a:avLst>
              <a:gd name="adj" fmla="val 8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2578608"/>
            <a:ext cx="3054096" cy="365760"/>
          </a:xfrm>
          <a:prstGeom prst="rect">
            <a:avLst/>
          </a:prstGeom>
          <a:noFill/>
        </p:spPr>
        <p:txBody>
          <a:bodyPr wrap="square" lIns="9144" rIns="9144" tIns="0" bIns="0">
            <a:spAutoFit/>
          </a:bodyPr>
          <a:lstStyle/>
          <a:p>
            <a:pPr algn="l">
              <a:spcAft>
                <a:spcPts val="500"/>
              </a:spcAft>
              <a:defRPr sz="1300" b="1">
                <a:solidFill>
                  <a:srgbClr val="087E80"/>
                </a:solidFill>
                <a:latin typeface="Arial"/>
              </a:defRPr>
            </a:pPr>
            <a:r>
              <a:t>01 · NUMERICS</a:t>
            </a:r>
          </a:p>
        </p:txBody>
      </p:sp>
      <p:sp>
        <p:nvSpPr>
          <p:cNvPr id="8" name="TextBox 7"/>
          <p:cNvSpPr txBox="1"/>
          <p:nvPr/>
        </p:nvSpPr>
        <p:spPr>
          <a:xfrm>
            <a:off x="850392" y="3108960"/>
            <a:ext cx="3054096" cy="731520"/>
          </a:xfrm>
          <a:prstGeom prst="rect">
            <a:avLst/>
          </a:prstGeom>
          <a:noFill/>
        </p:spPr>
        <p:txBody>
          <a:bodyPr wrap="square" lIns="9144" rIns="9144" tIns="0" bIns="0">
            <a:spAutoFit/>
          </a:bodyPr>
          <a:lstStyle/>
          <a:p>
            <a:pPr algn="l">
              <a:spcAft>
                <a:spcPts val="500"/>
              </a:spcAft>
              <a:defRPr sz="2600" b="1">
                <a:solidFill>
                  <a:srgbClr val="172C45"/>
                </a:solidFill>
                <a:latin typeface="Arial"/>
              </a:defRPr>
            </a:pPr>
            <a:r>
              <a:t>Does energy fall?</a:t>
            </a:r>
          </a:p>
        </p:txBody>
      </p:sp>
      <p:sp>
        <p:nvSpPr>
          <p:cNvPr id="9" name="TextBox 8"/>
          <p:cNvSpPr txBox="1"/>
          <p:nvPr/>
        </p:nvSpPr>
        <p:spPr>
          <a:xfrm>
            <a:off x="850392" y="3950208"/>
            <a:ext cx="3054096" cy="1280160"/>
          </a:xfrm>
          <a:prstGeom prst="rect">
            <a:avLst/>
          </a:prstGeom>
          <a:noFill/>
        </p:spPr>
        <p:txBody>
          <a:bodyPr wrap="square" lIns="9144" rIns="9144" tIns="0" bIns="0">
            <a:spAutoFit/>
          </a:bodyPr>
          <a:lstStyle/>
          <a:p>
            <a:pPr algn="l">
              <a:spcAft>
                <a:spcPts val="500"/>
              </a:spcAft>
              <a:defRPr sz="1800" b="0">
                <a:solidFill>
                  <a:srgbClr val="647282"/>
                </a:solidFill>
                <a:latin typeface="Arial"/>
              </a:defRPr>
            </a:pPr>
            <a:r>
              <a:t>Check accepted updates and</a:t>
            </a:r>
          </a:p>
          <a:p>
            <a:pPr algn="l">
              <a:spcAft>
                <a:spcPts val="500"/>
              </a:spcAft>
              <a:defRPr sz="1800" b="0">
                <a:solidFill>
                  <a:srgbClr val="647282"/>
                </a:solidFill>
                <a:latin typeface="Arial"/>
              </a:defRPr>
            </a:pPr>
            <a:r>
              <a:t>analytic gradients.</a:t>
            </a:r>
          </a:p>
        </p:txBody>
      </p:sp>
      <p:sp>
        <p:nvSpPr>
          <p:cNvPr id="10" name="Rounded Rectangle 9"/>
          <p:cNvSpPr/>
          <p:nvPr/>
        </p:nvSpPr>
        <p:spPr>
          <a:xfrm>
            <a:off x="4361688" y="2377440"/>
            <a:ext cx="3474720" cy="2971800"/>
          </a:xfrm>
          <a:prstGeom prst="roundRect">
            <a:avLst>
              <a:gd name="adj" fmla="val 8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2578608"/>
            <a:ext cx="3054096" cy="365760"/>
          </a:xfrm>
          <a:prstGeom prst="rect">
            <a:avLst/>
          </a:prstGeom>
          <a:noFill/>
        </p:spPr>
        <p:txBody>
          <a:bodyPr wrap="square" lIns="9144" rIns="9144" tIns="0" bIns="0">
            <a:spAutoFit/>
          </a:bodyPr>
          <a:lstStyle/>
          <a:p>
            <a:pPr algn="l">
              <a:spcAft>
                <a:spcPts val="500"/>
              </a:spcAft>
              <a:defRPr sz="1300" b="1">
                <a:solidFill>
                  <a:srgbClr val="087E80"/>
                </a:solidFill>
                <a:latin typeface="Arial"/>
              </a:defRPr>
            </a:pPr>
            <a:r>
              <a:t>02 · QUALITY</a:t>
            </a:r>
          </a:p>
        </p:txBody>
      </p:sp>
      <p:sp>
        <p:nvSpPr>
          <p:cNvPr id="12" name="TextBox 11"/>
          <p:cNvSpPr txBox="1"/>
          <p:nvPr/>
        </p:nvSpPr>
        <p:spPr>
          <a:xfrm>
            <a:off x="4572000" y="3108960"/>
            <a:ext cx="3054096" cy="731520"/>
          </a:xfrm>
          <a:prstGeom prst="rect">
            <a:avLst/>
          </a:prstGeom>
          <a:noFill/>
        </p:spPr>
        <p:txBody>
          <a:bodyPr wrap="square" lIns="9144" rIns="9144" tIns="0" bIns="0">
            <a:spAutoFit/>
          </a:bodyPr>
          <a:lstStyle/>
          <a:p>
            <a:pPr algn="l">
              <a:spcAft>
                <a:spcPts val="500"/>
              </a:spcAft>
              <a:defRPr sz="2600" b="1">
                <a:solidFill>
                  <a:srgbClr val="172C45"/>
                </a:solidFill>
                <a:latin typeface="Arial"/>
              </a:defRPr>
            </a:pPr>
            <a:r>
              <a:t>Is the answer right?</a:t>
            </a:r>
          </a:p>
        </p:txBody>
      </p:sp>
      <p:sp>
        <p:nvSpPr>
          <p:cNvPr id="13" name="TextBox 12"/>
          <p:cNvSpPr txBox="1"/>
          <p:nvPr/>
        </p:nvSpPr>
        <p:spPr>
          <a:xfrm>
            <a:off x="4572000" y="3950208"/>
            <a:ext cx="3054096" cy="1280160"/>
          </a:xfrm>
          <a:prstGeom prst="rect">
            <a:avLst/>
          </a:prstGeom>
          <a:noFill/>
        </p:spPr>
        <p:txBody>
          <a:bodyPr wrap="square" lIns="9144" rIns="9144" tIns="0" bIns="0">
            <a:spAutoFit/>
          </a:bodyPr>
          <a:lstStyle/>
          <a:p>
            <a:pPr algn="l">
              <a:spcAft>
                <a:spcPts val="500"/>
              </a:spcAft>
              <a:defRPr sz="1800" b="0">
                <a:solidFill>
                  <a:srgbClr val="647282"/>
                </a:solidFill>
                <a:latin typeface="Arial"/>
              </a:defRPr>
            </a:pPr>
            <a:r>
              <a:t>Score the complete trace</a:t>
            </a:r>
          </a:p>
          <a:p>
            <a:pPr algn="l">
              <a:spcAft>
                <a:spcPts val="500"/>
              </a:spcAft>
              <a:defRPr sz="1800" b="0">
                <a:solidFill>
                  <a:srgbClr val="647282"/>
                </a:solidFill>
                <a:latin typeface="Arial"/>
              </a:defRPr>
            </a:pPr>
            <a:r>
              <a:t>and final answer.</a:t>
            </a:r>
          </a:p>
        </p:txBody>
      </p:sp>
      <p:sp>
        <p:nvSpPr>
          <p:cNvPr id="14" name="Rounded Rectangle 13"/>
          <p:cNvSpPr/>
          <p:nvPr/>
        </p:nvSpPr>
        <p:spPr>
          <a:xfrm>
            <a:off x="8083296" y="2377440"/>
            <a:ext cx="3474720" cy="2971800"/>
          </a:xfrm>
          <a:prstGeom prst="roundRect">
            <a:avLst>
              <a:gd name="adj" fmla="val 8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93608" y="2578608"/>
            <a:ext cx="3054096" cy="365760"/>
          </a:xfrm>
          <a:prstGeom prst="rect">
            <a:avLst/>
          </a:prstGeom>
          <a:noFill/>
        </p:spPr>
        <p:txBody>
          <a:bodyPr wrap="square" lIns="9144" rIns="9144" tIns="0" bIns="0">
            <a:spAutoFit/>
          </a:bodyPr>
          <a:lstStyle/>
          <a:p>
            <a:pPr algn="l">
              <a:spcAft>
                <a:spcPts val="500"/>
              </a:spcAft>
              <a:defRPr sz="1300" b="1">
                <a:solidFill>
                  <a:srgbClr val="087E80"/>
                </a:solidFill>
                <a:latin typeface="Arial"/>
              </a:defRPr>
            </a:pPr>
            <a:r>
              <a:t>03 · COST</a:t>
            </a:r>
          </a:p>
        </p:txBody>
      </p:sp>
      <p:sp>
        <p:nvSpPr>
          <p:cNvPr id="16" name="TextBox 15"/>
          <p:cNvSpPr txBox="1"/>
          <p:nvPr/>
        </p:nvSpPr>
        <p:spPr>
          <a:xfrm>
            <a:off x="8293608" y="3108960"/>
            <a:ext cx="3054096" cy="731520"/>
          </a:xfrm>
          <a:prstGeom prst="rect">
            <a:avLst/>
          </a:prstGeom>
          <a:noFill/>
        </p:spPr>
        <p:txBody>
          <a:bodyPr wrap="square" lIns="9144" rIns="9144" tIns="0" bIns="0">
            <a:spAutoFit/>
          </a:bodyPr>
          <a:lstStyle/>
          <a:p>
            <a:pPr algn="l">
              <a:spcAft>
                <a:spcPts val="500"/>
              </a:spcAft>
              <a:defRPr sz="2600" b="1">
                <a:solidFill>
                  <a:srgbClr val="172C45"/>
                </a:solidFill>
                <a:latin typeface="Arial"/>
              </a:defRPr>
            </a:pPr>
            <a:r>
              <a:t>What does it cost?</a:t>
            </a:r>
          </a:p>
        </p:txBody>
      </p:sp>
      <p:sp>
        <p:nvSpPr>
          <p:cNvPr id="17" name="TextBox 16"/>
          <p:cNvSpPr txBox="1"/>
          <p:nvPr/>
        </p:nvSpPr>
        <p:spPr>
          <a:xfrm>
            <a:off x="8293608" y="3950208"/>
            <a:ext cx="3054096" cy="1280160"/>
          </a:xfrm>
          <a:prstGeom prst="rect">
            <a:avLst/>
          </a:prstGeom>
          <a:noFill/>
        </p:spPr>
        <p:txBody>
          <a:bodyPr wrap="square" lIns="9144" rIns="9144" tIns="0" bIns="0">
            <a:spAutoFit/>
          </a:bodyPr>
          <a:lstStyle/>
          <a:p>
            <a:pPr algn="l">
              <a:spcAft>
                <a:spcPts val="500"/>
              </a:spcAft>
              <a:defRPr sz="1800" b="0">
                <a:solidFill>
                  <a:srgbClr val="647282"/>
                </a:solidFill>
                <a:latin typeface="Arial"/>
              </a:defRPr>
            </a:pPr>
            <a:r>
              <a:t>Measure training and inference;</a:t>
            </a:r>
          </a:p>
          <a:p>
            <a:pPr algn="l">
              <a:spcAft>
                <a:spcPts val="500"/>
              </a:spcAft>
              <a:defRPr sz="1800" b="0">
                <a:solidFill>
                  <a:srgbClr val="647282"/>
                </a:solidFill>
                <a:latin typeface="Arial"/>
              </a:defRPr>
            </a:pPr>
            <a:r>
              <a:t>keep compute budgets visible.</a:t>
            </a:r>
          </a:p>
        </p:txBody>
      </p:sp>
      <p:sp>
        <p:nvSpPr>
          <p:cNvPr id="18" name="Rounded Rectangle 17"/>
          <p:cNvSpPr/>
          <p:nvPr/>
        </p:nvSpPr>
        <p:spPr>
          <a:xfrm>
            <a:off x="777240" y="5687568"/>
            <a:ext cx="10652760" cy="530352"/>
          </a:xfrm>
          <a:prstGeom prst="roundRect">
            <a:avLst>
              <a:gd name="adj" fmla="val 8000"/>
            </a:avLst>
          </a:prstGeom>
          <a:solidFill>
            <a:srgbClr val="E6EBEB"/>
          </a:solidFill>
          <a:ln>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824728"/>
            <a:ext cx="10378440" cy="274320"/>
          </a:xfrm>
          <a:prstGeom prst="rect">
            <a:avLst/>
          </a:prstGeom>
          <a:noFill/>
        </p:spPr>
        <p:txBody>
          <a:bodyPr wrap="square" lIns="9144" rIns="9144" tIns="0" bIns="0">
            <a:spAutoFit/>
          </a:bodyPr>
          <a:lstStyle/>
          <a:p>
            <a:pPr algn="ctr">
              <a:spcAft>
                <a:spcPts val="500"/>
              </a:spcAft>
              <a:defRPr sz="1700" b="1">
                <a:solidFill>
                  <a:srgbClr val="172C45"/>
                </a:solidFill>
                <a:latin typeface="Arial"/>
              </a:defRPr>
            </a:pPr>
            <a:r>
              <a:t>Disjoint problem identities  ·  Validation selection  ·  Three seeds  ·  Frozen test models</a:t>
            </a:r>
          </a:p>
        </p:txBody>
      </p:sp>
      <p:sp>
        <p:nvSpPr>
          <p:cNvPr id="20" name="TextBox 19"/>
          <p:cNvSpPr txBox="1"/>
          <p:nvPr/>
        </p:nvSpPr>
        <p:spPr>
          <a:xfrm>
            <a:off x="502920" y="6473952"/>
            <a:ext cx="10561320" cy="219456"/>
          </a:xfrm>
          <a:prstGeom prst="rect">
            <a:avLst/>
          </a:prstGeom>
          <a:noFill/>
        </p:spPr>
        <p:txBody>
          <a:bodyPr wrap="square" lIns="9144" rIns="9144" tIns="0" bIns="0">
            <a:spAutoFit/>
          </a:bodyPr>
          <a:lstStyle/>
          <a:p>
            <a:pPr algn="l">
              <a:spcAft>
                <a:spcPts val="500"/>
              </a:spcAft>
              <a:defRPr sz="1000" b="0">
                <a:solidFill>
                  <a:srgbClr val="647282"/>
                </a:solidFill>
                <a:latin typeface="Arial"/>
              </a:defRPr>
            </a:pPr>
            <a:r>
              <a:t>Protocols and complete outputs are saved in reports/rewt_architecture_20261022 and reports/rewt_reasoning_20261026.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Rectangle 1"/>
          <p:cNvSpPr/>
          <p:nvPr/>
        </p:nvSpPr>
        <p:spPr>
          <a:xfrm>
            <a:off x="502920" y="402336"/>
            <a:ext cx="347472" cy="64008"/>
          </a:xfrm>
          <a:prstGeom prst="rect">
            <a:avLst/>
          </a:prstGeom>
          <a:solidFill>
            <a:srgbClr val="087E80"/>
          </a:solidFill>
          <a:ln>
            <a:solidFill>
              <a:srgbClr val="087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50976" y="310896"/>
            <a:ext cx="10058400" cy="274320"/>
          </a:xfrm>
          <a:prstGeom prst="rect">
            <a:avLst/>
          </a:prstGeom>
          <a:noFill/>
        </p:spPr>
        <p:txBody>
          <a:bodyPr wrap="square" lIns="9144" rIns="9144" tIns="0" bIns="0">
            <a:spAutoFit/>
          </a:bodyPr>
          <a:lstStyle/>
          <a:p>
            <a:pPr algn="l">
              <a:spcAft>
                <a:spcPts val="500"/>
              </a:spcAft>
              <a:defRPr sz="1100" b="1">
                <a:solidFill>
                  <a:srgbClr val="087E80"/>
                </a:solidFill>
                <a:latin typeface="Arial"/>
              </a:defRPr>
            </a:pPr>
            <a:r>
              <a:t>EARLIER RESULT · PERSISTENT MEMORY</a:t>
            </a:r>
          </a:p>
        </p:txBody>
      </p:sp>
      <p:sp>
        <p:nvSpPr>
          <p:cNvPr id="4" name="TextBox 3"/>
          <p:cNvSpPr txBox="1"/>
          <p:nvPr/>
        </p:nvSpPr>
        <p:spPr>
          <a:xfrm>
            <a:off x="502920" y="841248"/>
            <a:ext cx="11155680" cy="841248"/>
          </a:xfrm>
          <a:prstGeom prst="rect">
            <a:avLst/>
          </a:prstGeom>
          <a:noFill/>
        </p:spPr>
        <p:txBody>
          <a:bodyPr wrap="square" lIns="9144" rIns="9144" tIns="0" bIns="0">
            <a:spAutoFit/>
          </a:bodyPr>
          <a:lstStyle/>
          <a:p>
            <a:pPr algn="l">
              <a:spcAft>
                <a:spcPts val="500"/>
              </a:spcAft>
              <a:defRPr sz="3200" b="1">
                <a:solidFill>
                  <a:srgbClr val="172C45"/>
                </a:solidFill>
                <a:latin typeface="Arial"/>
              </a:defRPr>
            </a:pPr>
            <a:r>
              <a:t>Learned overwrite memory survives longer gaps</a:t>
            </a:r>
          </a:p>
        </p:txBody>
      </p:sp>
      <p:sp>
        <p:nvSpPr>
          <p:cNvPr id="5" name="TextBox 4"/>
          <p:cNvSpPr txBox="1"/>
          <p:nvPr/>
        </p:nvSpPr>
        <p:spPr>
          <a:xfrm>
            <a:off x="521207" y="1783080"/>
            <a:ext cx="11064240" cy="502920"/>
          </a:xfrm>
          <a:prstGeom prst="rect">
            <a:avLst/>
          </a:prstGeom>
          <a:noFill/>
        </p:spPr>
        <p:txBody>
          <a:bodyPr wrap="square" lIns="9144" rIns="9144" tIns="0" bIns="0">
            <a:spAutoFit/>
          </a:bodyPr>
          <a:lstStyle/>
          <a:p>
            <a:pPr algn="l">
              <a:spcAft>
                <a:spcPts val="500"/>
              </a:spcAft>
              <a:defRPr sz="1800" b="0">
                <a:solidFill>
                  <a:srgbClr val="647282"/>
                </a:solidFill>
                <a:latin typeface="Arial"/>
              </a:defRPr>
            </a:pPr>
            <a:r>
              <a:t>Return the latest value after a key has been written twice.</a:t>
            </a:r>
          </a:p>
        </p:txBody>
      </p:sp>
      <p:sp>
        <p:nvSpPr>
          <p:cNvPr id="6" name="TextBox 5"/>
          <p:cNvSpPr txBox="1"/>
          <p:nvPr/>
        </p:nvSpPr>
        <p:spPr>
          <a:xfrm>
            <a:off x="11091672" y="6428232"/>
            <a:ext cx="548640" cy="274320"/>
          </a:xfrm>
          <a:prstGeom prst="rect">
            <a:avLst/>
          </a:prstGeom>
          <a:noFill/>
        </p:spPr>
        <p:txBody>
          <a:bodyPr wrap="square" lIns="9144" rIns="9144" tIns="0" bIns="0">
            <a:spAutoFit/>
          </a:bodyPr>
          <a:lstStyle/>
          <a:p>
            <a:pPr algn="r">
              <a:spcAft>
                <a:spcPts val="500"/>
              </a:spcAft>
              <a:defRPr sz="1100" b="0">
                <a:solidFill>
                  <a:srgbClr val="647282"/>
                </a:solidFill>
                <a:latin typeface="Arial"/>
              </a:defRPr>
            </a:pPr>
            <a:r>
              <a:t>07</a:t>
            </a:r>
          </a:p>
        </p:txBody>
      </p:sp>
      <p:sp>
        <p:nvSpPr>
          <p:cNvPr id="7" name="TextBox 6"/>
          <p:cNvSpPr txBox="1"/>
          <p:nvPr/>
        </p:nvSpPr>
        <p:spPr>
          <a:xfrm>
            <a:off x="914400" y="2395728"/>
            <a:ext cx="10241280" cy="548640"/>
          </a:xfrm>
          <a:prstGeom prst="rect">
            <a:avLst/>
          </a:prstGeom>
          <a:noFill/>
        </p:spPr>
        <p:txBody>
          <a:bodyPr wrap="square" lIns="9144" rIns="9144" tIns="0" bIns="0">
            <a:spAutoFit/>
          </a:bodyPr>
          <a:lstStyle/>
          <a:p>
            <a:pPr algn="ctr">
              <a:spcAft>
                <a:spcPts val="500"/>
              </a:spcAft>
              <a:defRPr sz="2700" b="1">
                <a:solidFill>
                  <a:srgbClr val="172C45"/>
                </a:solidFill>
                <a:latin typeface="Arial"/>
              </a:defRPr>
            </a:pPr>
            <a:r>
              <a:t>K=2   …   K=9   …   query K → 9</a:t>
            </a:r>
          </a:p>
        </p:txBody>
      </p:sp>
      <p:sp>
        <p:nvSpPr>
          <p:cNvPr id="8" name="TextBox 7"/>
          <p:cNvSpPr txBox="1"/>
          <p:nvPr/>
        </p:nvSpPr>
        <p:spPr>
          <a:xfrm>
            <a:off x="777240" y="3429000"/>
            <a:ext cx="4114800" cy="384048"/>
          </a:xfrm>
          <a:prstGeom prst="rect">
            <a:avLst/>
          </a:prstGeom>
          <a:noFill/>
        </p:spPr>
        <p:txBody>
          <a:bodyPr wrap="square" lIns="9144" rIns="9144" tIns="0" bIns="0">
            <a:spAutoFit/>
          </a:bodyPr>
          <a:lstStyle/>
          <a:p>
            <a:pPr algn="l">
              <a:spcAft>
                <a:spcPts val="500"/>
              </a:spcAft>
              <a:defRPr sz="2100" b="0">
                <a:solidFill>
                  <a:srgbClr val="172C45"/>
                </a:solidFill>
                <a:latin typeface="Arial"/>
              </a:defRPr>
            </a:pPr>
            <a:r>
              <a:t>Local + binding/copy</a:t>
            </a:r>
          </a:p>
        </p:txBody>
      </p:sp>
      <p:sp>
        <p:nvSpPr>
          <p:cNvPr id="9" name="Rounded Rectangle 8"/>
          <p:cNvSpPr/>
          <p:nvPr/>
        </p:nvSpPr>
        <p:spPr>
          <a:xfrm>
            <a:off x="4937760" y="3429000"/>
            <a:ext cx="5029200" cy="402336"/>
          </a:xfrm>
          <a:prstGeom prst="roundRect">
            <a:avLst>
              <a:gd name="adj" fmla="val 8000"/>
            </a:avLst>
          </a:prstGeom>
          <a:solidFill>
            <a:srgbClr val="E6EBEB"/>
          </a:solidFill>
          <a:ln>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37760" y="3429000"/>
            <a:ext cx="2763440" cy="402336"/>
          </a:xfrm>
          <a:prstGeom prst="roundRect">
            <a:avLst>
              <a:gd name="adj" fmla="val 8000"/>
            </a:avLst>
          </a:prstGeom>
          <a:solidFill>
            <a:srgbClr val="647282"/>
          </a:solidFill>
          <a:ln>
            <a:solidFill>
              <a:srgbClr val="6472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68128" y="3410712"/>
            <a:ext cx="1280160" cy="457200"/>
          </a:xfrm>
          <a:prstGeom prst="rect">
            <a:avLst/>
          </a:prstGeom>
          <a:noFill/>
        </p:spPr>
        <p:txBody>
          <a:bodyPr wrap="square" lIns="9144" rIns="9144" tIns="0" bIns="0">
            <a:spAutoFit/>
          </a:bodyPr>
          <a:lstStyle/>
          <a:p>
            <a:pPr algn="l">
              <a:spcAft>
                <a:spcPts val="500"/>
              </a:spcAft>
              <a:defRPr sz="2500" b="1">
                <a:solidFill>
                  <a:srgbClr val="647282"/>
                </a:solidFill>
                <a:latin typeface="Arial"/>
              </a:defRPr>
            </a:pPr>
            <a:r>
              <a:t>54.9%</a:t>
            </a:r>
          </a:p>
        </p:txBody>
      </p:sp>
      <p:sp>
        <p:nvSpPr>
          <p:cNvPr id="12" name="TextBox 11"/>
          <p:cNvSpPr txBox="1"/>
          <p:nvPr/>
        </p:nvSpPr>
        <p:spPr>
          <a:xfrm>
            <a:off x="777240" y="4526280"/>
            <a:ext cx="4114800" cy="384048"/>
          </a:xfrm>
          <a:prstGeom prst="rect">
            <a:avLst/>
          </a:prstGeom>
          <a:noFill/>
        </p:spPr>
        <p:txBody>
          <a:bodyPr wrap="square" lIns="9144" rIns="9144" tIns="0" bIns="0">
            <a:spAutoFit/>
          </a:bodyPr>
          <a:lstStyle/>
          <a:p>
            <a:pPr algn="l">
              <a:spcAft>
                <a:spcPts val="500"/>
              </a:spcAft>
              <a:defRPr sz="2100" b="0">
                <a:solidFill>
                  <a:srgbClr val="172C45"/>
                </a:solidFill>
                <a:latin typeface="Arial"/>
              </a:defRPr>
            </a:pPr>
            <a:r>
              <a:t>Delta + binding/copy/write</a:t>
            </a:r>
          </a:p>
        </p:txBody>
      </p:sp>
      <p:sp>
        <p:nvSpPr>
          <p:cNvPr id="13" name="Rounded Rectangle 12"/>
          <p:cNvSpPr/>
          <p:nvPr/>
        </p:nvSpPr>
        <p:spPr>
          <a:xfrm>
            <a:off x="4937760" y="4526280"/>
            <a:ext cx="5029200" cy="402336"/>
          </a:xfrm>
          <a:prstGeom prst="roundRect">
            <a:avLst>
              <a:gd name="adj" fmla="val 8000"/>
            </a:avLst>
          </a:prstGeom>
          <a:solidFill>
            <a:srgbClr val="E6EBEB"/>
          </a:solidFill>
          <a:ln>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937760" y="4526280"/>
            <a:ext cx="4815284" cy="402336"/>
          </a:xfrm>
          <a:prstGeom prst="roundRect">
            <a:avLst>
              <a:gd name="adj" fmla="val 8000"/>
            </a:avLst>
          </a:prstGeom>
          <a:solidFill>
            <a:srgbClr val="087E80"/>
          </a:solidFill>
          <a:ln>
            <a:solidFill>
              <a:srgbClr val="087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68128" y="4507992"/>
            <a:ext cx="1280160" cy="457200"/>
          </a:xfrm>
          <a:prstGeom prst="rect">
            <a:avLst/>
          </a:prstGeom>
          <a:noFill/>
        </p:spPr>
        <p:txBody>
          <a:bodyPr wrap="square" lIns="9144" rIns="9144" tIns="0" bIns="0">
            <a:spAutoFit/>
          </a:bodyPr>
          <a:lstStyle/>
          <a:p>
            <a:pPr algn="l">
              <a:spcAft>
                <a:spcPts val="500"/>
              </a:spcAft>
              <a:defRPr sz="2500" b="1">
                <a:solidFill>
                  <a:srgbClr val="087E80"/>
                </a:solidFill>
                <a:latin typeface="Arial"/>
              </a:defRPr>
            </a:pPr>
            <a:r>
              <a:t>95.7%</a:t>
            </a:r>
          </a:p>
        </p:txBody>
      </p:sp>
      <p:sp>
        <p:nvSpPr>
          <p:cNvPr id="16" name="TextBox 15"/>
          <p:cNvSpPr txBox="1"/>
          <p:nvPr/>
        </p:nvSpPr>
        <p:spPr>
          <a:xfrm>
            <a:off x="914400" y="5623560"/>
            <a:ext cx="10332720" cy="457200"/>
          </a:xfrm>
          <a:prstGeom prst="rect">
            <a:avLst/>
          </a:prstGeom>
          <a:noFill/>
        </p:spPr>
        <p:txBody>
          <a:bodyPr wrap="square" lIns="9144" rIns="9144" tIns="0" bIns="0">
            <a:spAutoFit/>
          </a:bodyPr>
          <a:lstStyle/>
          <a:p>
            <a:pPr algn="l">
              <a:spcAft>
                <a:spcPts val="500"/>
              </a:spcAft>
              <a:defRPr sz="2200" b="1">
                <a:solidFill>
                  <a:srgbClr val="087E80"/>
                </a:solidFill>
                <a:latin typeface="Arial"/>
              </a:defRPr>
            </a:pPr>
            <a:r>
              <a:t>At a 191-byte gap: 9.4% local → 83.9% delta</a:t>
            </a:r>
          </a:p>
        </p:txBody>
      </p:sp>
      <p:sp>
        <p:nvSpPr>
          <p:cNvPr id="17" name="TextBox 16"/>
          <p:cNvSpPr txBox="1"/>
          <p:nvPr/>
        </p:nvSpPr>
        <p:spPr>
          <a:xfrm>
            <a:off x="502920" y="6473952"/>
            <a:ext cx="10561320" cy="219456"/>
          </a:xfrm>
          <a:prstGeom prst="rect">
            <a:avLst/>
          </a:prstGeom>
          <a:noFill/>
        </p:spPr>
        <p:txBody>
          <a:bodyPr wrap="square" lIns="9144" rIns="9144" tIns="0" bIns="0">
            <a:spAutoFit/>
          </a:bodyPr>
          <a:lstStyle/>
          <a:p>
            <a:pPr algn="l">
              <a:spcAft>
                <a:spcPts val="500"/>
              </a:spcAft>
              <a:defRPr sz="1000" b="0">
                <a:solidFill>
                  <a:srgbClr val="647282"/>
                </a:solidFill>
                <a:latin typeface="Arial"/>
              </a:defRPr>
            </a:pPr>
            <a:r>
              <a:t>Oct. 22 matched ablation: 3 seeds, 384 prompts, 1,536 updates; 32,752 vs 34,321 parameters. Narrow key/value grammar.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Rectangle 1"/>
          <p:cNvSpPr/>
          <p:nvPr/>
        </p:nvSpPr>
        <p:spPr>
          <a:xfrm>
            <a:off x="502920" y="402336"/>
            <a:ext cx="347472" cy="64008"/>
          </a:xfrm>
          <a:prstGeom prst="rect">
            <a:avLst/>
          </a:prstGeom>
          <a:solidFill>
            <a:srgbClr val="087E80"/>
          </a:solidFill>
          <a:ln>
            <a:solidFill>
              <a:srgbClr val="087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50976" y="310896"/>
            <a:ext cx="10058400" cy="274320"/>
          </a:xfrm>
          <a:prstGeom prst="rect">
            <a:avLst/>
          </a:prstGeom>
          <a:noFill/>
        </p:spPr>
        <p:txBody>
          <a:bodyPr wrap="square" lIns="9144" rIns="9144" tIns="0" bIns="0">
            <a:spAutoFit/>
          </a:bodyPr>
          <a:lstStyle/>
          <a:p>
            <a:pPr algn="l">
              <a:spcAft>
                <a:spcPts val="500"/>
              </a:spcAft>
              <a:defRPr sz="1100" b="1">
                <a:solidFill>
                  <a:srgbClr val="087E80"/>
                </a:solidFill>
                <a:latin typeface="Arial"/>
              </a:defRPr>
            </a:pPr>
            <a:r>
              <a:t>EARLIER RESULT · REFINEMENT BOTTLENECK</a:t>
            </a:r>
          </a:p>
        </p:txBody>
      </p:sp>
      <p:sp>
        <p:nvSpPr>
          <p:cNvPr id="4" name="TextBox 3"/>
          <p:cNvSpPr txBox="1"/>
          <p:nvPr/>
        </p:nvSpPr>
        <p:spPr>
          <a:xfrm>
            <a:off x="502920" y="841248"/>
            <a:ext cx="11155680" cy="841248"/>
          </a:xfrm>
          <a:prstGeom prst="rect">
            <a:avLst/>
          </a:prstGeom>
          <a:noFill/>
        </p:spPr>
        <p:txBody>
          <a:bodyPr wrap="square" lIns="9144" rIns="9144" tIns="0" bIns="0">
            <a:spAutoFit/>
          </a:bodyPr>
          <a:lstStyle/>
          <a:p>
            <a:pPr algn="l">
              <a:spcAft>
                <a:spcPts val="500"/>
              </a:spcAft>
              <a:defRPr sz="3200" b="1">
                <a:solidFill>
                  <a:srgbClr val="172C45"/>
                </a:solidFill>
                <a:latin typeface="Arial"/>
              </a:defRPr>
            </a:pPr>
            <a:r>
              <a:t>Lower energy did not reliably fix wrong answers</a:t>
            </a:r>
          </a:p>
        </p:txBody>
      </p:sp>
      <p:sp>
        <p:nvSpPr>
          <p:cNvPr id="5" name="TextBox 4"/>
          <p:cNvSpPr txBox="1"/>
          <p:nvPr/>
        </p:nvSpPr>
        <p:spPr>
          <a:xfrm>
            <a:off x="521207" y="1783080"/>
            <a:ext cx="11064240" cy="502920"/>
          </a:xfrm>
          <a:prstGeom prst="rect">
            <a:avLst/>
          </a:prstGeom>
          <a:noFill/>
        </p:spPr>
        <p:txBody>
          <a:bodyPr wrap="square" lIns="9144" rIns="9144" tIns="0" bIns="0">
            <a:spAutoFit/>
          </a:bodyPr>
          <a:lstStyle/>
          <a:p>
            <a:pPr algn="l">
              <a:spcAft>
                <a:spcPts val="500"/>
              </a:spcAft>
              <a:defRPr sz="1800" b="0">
                <a:solidFill>
                  <a:srgbClr val="647282"/>
                </a:solidFill>
                <a:latin typeface="Arial"/>
              </a:defRPr>
            </a:pPr>
            <a:r>
              <a:t>Removing refinement from frozen language-model checkpoints did not reduce complete-answer accuracy.</a:t>
            </a:r>
          </a:p>
        </p:txBody>
      </p:sp>
      <p:sp>
        <p:nvSpPr>
          <p:cNvPr id="6" name="TextBox 5"/>
          <p:cNvSpPr txBox="1"/>
          <p:nvPr/>
        </p:nvSpPr>
        <p:spPr>
          <a:xfrm>
            <a:off x="11091672" y="6428232"/>
            <a:ext cx="548640" cy="274320"/>
          </a:xfrm>
          <a:prstGeom prst="rect">
            <a:avLst/>
          </a:prstGeom>
          <a:noFill/>
        </p:spPr>
        <p:txBody>
          <a:bodyPr wrap="square" lIns="9144" rIns="9144" tIns="0" bIns="0">
            <a:spAutoFit/>
          </a:bodyPr>
          <a:lstStyle/>
          <a:p>
            <a:pPr algn="r">
              <a:spcAft>
                <a:spcPts val="500"/>
              </a:spcAft>
              <a:defRPr sz="1100" b="0">
                <a:solidFill>
                  <a:srgbClr val="647282"/>
                </a:solidFill>
                <a:latin typeface="Arial"/>
              </a:defRPr>
            </a:pPr>
            <a:r>
              <a:t>08</a:t>
            </a:r>
          </a:p>
        </p:txBody>
      </p:sp>
      <p:sp>
        <p:nvSpPr>
          <p:cNvPr id="7" name="TextBox 6"/>
          <p:cNvSpPr txBox="1"/>
          <p:nvPr/>
        </p:nvSpPr>
        <p:spPr>
          <a:xfrm>
            <a:off x="731520" y="2468880"/>
            <a:ext cx="4709160" cy="411480"/>
          </a:xfrm>
          <a:prstGeom prst="rect">
            <a:avLst/>
          </a:prstGeom>
          <a:noFill/>
        </p:spPr>
        <p:txBody>
          <a:bodyPr wrap="square" lIns="9144" rIns="9144" tIns="0" bIns="0">
            <a:spAutoFit/>
          </a:bodyPr>
          <a:lstStyle/>
          <a:p>
            <a:pPr algn="l">
              <a:spcAft>
                <a:spcPts val="500"/>
              </a:spcAft>
              <a:defRPr sz="2000" b="1">
                <a:solidFill>
                  <a:srgbClr val="172C45"/>
                </a:solidFill>
                <a:latin typeface="Arial"/>
              </a:defRPr>
            </a:pPr>
            <a:r>
              <a:t>Complete-answer accuracy</a:t>
            </a:r>
          </a:p>
        </p:txBody>
      </p:sp>
      <p:sp>
        <p:nvSpPr>
          <p:cNvPr id="8" name="TextBox 7"/>
          <p:cNvSpPr txBox="1"/>
          <p:nvPr/>
        </p:nvSpPr>
        <p:spPr>
          <a:xfrm>
            <a:off x="5715000" y="2487168"/>
            <a:ext cx="2560320" cy="384048"/>
          </a:xfrm>
          <a:prstGeom prst="rect">
            <a:avLst/>
          </a:prstGeom>
          <a:noFill/>
        </p:spPr>
        <p:txBody>
          <a:bodyPr wrap="square" lIns="9144" rIns="9144" tIns="0" bIns="0">
            <a:spAutoFit/>
          </a:bodyPr>
          <a:lstStyle/>
          <a:p>
            <a:pPr algn="l">
              <a:spcAft>
                <a:spcPts val="500"/>
              </a:spcAft>
              <a:defRPr sz="1800" b="1">
                <a:solidFill>
                  <a:srgbClr val="087E80"/>
                </a:solidFill>
                <a:latin typeface="Arial"/>
              </a:defRPr>
            </a:pPr>
            <a:r>
              <a:t>Normal rounds</a:t>
            </a:r>
          </a:p>
        </p:txBody>
      </p:sp>
      <p:sp>
        <p:nvSpPr>
          <p:cNvPr id="9" name="TextBox 8"/>
          <p:cNvSpPr txBox="1"/>
          <p:nvPr/>
        </p:nvSpPr>
        <p:spPr>
          <a:xfrm>
            <a:off x="8823960" y="2487168"/>
            <a:ext cx="2560320" cy="384048"/>
          </a:xfrm>
          <a:prstGeom prst="rect">
            <a:avLst/>
          </a:prstGeom>
          <a:noFill/>
        </p:spPr>
        <p:txBody>
          <a:bodyPr wrap="square" lIns="9144" rIns="9144" tIns="0" bIns="0">
            <a:spAutoFit/>
          </a:bodyPr>
          <a:lstStyle/>
          <a:p>
            <a:pPr algn="l">
              <a:spcAft>
                <a:spcPts val="500"/>
              </a:spcAft>
              <a:defRPr sz="1800" b="1">
                <a:solidFill>
                  <a:srgbClr val="647282"/>
                </a:solidFill>
                <a:latin typeface="Arial"/>
              </a:defRPr>
            </a:pPr>
            <a:r>
              <a:t>Zero rounds</a:t>
            </a:r>
          </a:p>
        </p:txBody>
      </p:sp>
      <p:sp>
        <p:nvSpPr>
          <p:cNvPr id="10" name="TextBox 9"/>
          <p:cNvSpPr txBox="1"/>
          <p:nvPr/>
        </p:nvSpPr>
        <p:spPr>
          <a:xfrm>
            <a:off x="822960" y="3246120"/>
            <a:ext cx="4114800" cy="457200"/>
          </a:xfrm>
          <a:prstGeom prst="rect">
            <a:avLst/>
          </a:prstGeom>
          <a:noFill/>
        </p:spPr>
        <p:txBody>
          <a:bodyPr wrap="square" lIns="9144" rIns="9144" tIns="0" bIns="0">
            <a:spAutoFit/>
          </a:bodyPr>
          <a:lstStyle/>
          <a:p>
            <a:pPr algn="l">
              <a:spcAft>
                <a:spcPts val="500"/>
              </a:spcAft>
              <a:defRPr sz="2500" b="0">
                <a:solidFill>
                  <a:srgbClr val="172C45"/>
                </a:solidFill>
                <a:latin typeface="Arial"/>
              </a:defRPr>
            </a:pPr>
            <a:r>
              <a:t>GRU control</a:t>
            </a:r>
          </a:p>
        </p:txBody>
      </p:sp>
      <p:sp>
        <p:nvSpPr>
          <p:cNvPr id="11" name="TextBox 10"/>
          <p:cNvSpPr txBox="1"/>
          <p:nvPr/>
        </p:nvSpPr>
        <p:spPr>
          <a:xfrm>
            <a:off x="5715000" y="3246120"/>
            <a:ext cx="2560320" cy="457200"/>
          </a:xfrm>
          <a:prstGeom prst="rect">
            <a:avLst/>
          </a:prstGeom>
          <a:noFill/>
        </p:spPr>
        <p:txBody>
          <a:bodyPr wrap="square" lIns="9144" rIns="9144" tIns="0" bIns="0">
            <a:spAutoFit/>
          </a:bodyPr>
          <a:lstStyle/>
          <a:p>
            <a:pPr algn="l">
              <a:spcAft>
                <a:spcPts val="500"/>
              </a:spcAft>
              <a:defRPr sz="2700" b="1">
                <a:solidFill>
                  <a:srgbClr val="087E80"/>
                </a:solidFill>
                <a:latin typeface="Arial"/>
              </a:defRPr>
            </a:pPr>
            <a:r>
              <a:t>34.16%</a:t>
            </a:r>
          </a:p>
        </p:txBody>
      </p:sp>
      <p:sp>
        <p:nvSpPr>
          <p:cNvPr id="12" name="TextBox 11"/>
          <p:cNvSpPr txBox="1"/>
          <p:nvPr/>
        </p:nvSpPr>
        <p:spPr>
          <a:xfrm>
            <a:off x="8823960" y="3246120"/>
            <a:ext cx="2560320" cy="457200"/>
          </a:xfrm>
          <a:prstGeom prst="rect">
            <a:avLst/>
          </a:prstGeom>
          <a:noFill/>
        </p:spPr>
        <p:txBody>
          <a:bodyPr wrap="square" lIns="9144" rIns="9144" tIns="0" bIns="0">
            <a:spAutoFit/>
          </a:bodyPr>
          <a:lstStyle/>
          <a:p>
            <a:pPr algn="l">
              <a:spcAft>
                <a:spcPts val="500"/>
              </a:spcAft>
              <a:defRPr sz="2700" b="1">
                <a:solidFill>
                  <a:srgbClr val="647282"/>
                </a:solidFill>
                <a:latin typeface="Arial"/>
              </a:defRPr>
            </a:pPr>
            <a:r>
              <a:t>34.98%</a:t>
            </a:r>
          </a:p>
        </p:txBody>
      </p:sp>
      <p:sp>
        <p:nvSpPr>
          <p:cNvPr id="13" name="TextBox 12"/>
          <p:cNvSpPr txBox="1"/>
          <p:nvPr/>
        </p:nvSpPr>
        <p:spPr>
          <a:xfrm>
            <a:off x="822960" y="4160520"/>
            <a:ext cx="4114800" cy="457200"/>
          </a:xfrm>
          <a:prstGeom prst="rect">
            <a:avLst/>
          </a:prstGeom>
          <a:noFill/>
        </p:spPr>
        <p:txBody>
          <a:bodyPr wrap="square" lIns="9144" rIns="9144" tIns="0" bIns="0">
            <a:spAutoFit/>
          </a:bodyPr>
          <a:lstStyle/>
          <a:p>
            <a:pPr algn="l">
              <a:spcAft>
                <a:spcPts val="500"/>
              </a:spcAft>
              <a:defRPr sz="2500" b="0">
                <a:solidFill>
                  <a:srgbClr val="172C45"/>
                </a:solidFill>
                <a:latin typeface="Arial"/>
              </a:defRPr>
            </a:pPr>
            <a:r>
              <a:t>Delta variant</a:t>
            </a:r>
          </a:p>
        </p:txBody>
      </p:sp>
      <p:sp>
        <p:nvSpPr>
          <p:cNvPr id="14" name="TextBox 13"/>
          <p:cNvSpPr txBox="1"/>
          <p:nvPr/>
        </p:nvSpPr>
        <p:spPr>
          <a:xfrm>
            <a:off x="5715000" y="4160520"/>
            <a:ext cx="2560320" cy="457200"/>
          </a:xfrm>
          <a:prstGeom prst="rect">
            <a:avLst/>
          </a:prstGeom>
          <a:noFill/>
        </p:spPr>
        <p:txBody>
          <a:bodyPr wrap="square" lIns="9144" rIns="9144" tIns="0" bIns="0">
            <a:spAutoFit/>
          </a:bodyPr>
          <a:lstStyle/>
          <a:p>
            <a:pPr algn="l">
              <a:spcAft>
                <a:spcPts val="500"/>
              </a:spcAft>
              <a:defRPr sz="2700" b="1">
                <a:solidFill>
                  <a:srgbClr val="087E80"/>
                </a:solidFill>
                <a:latin typeface="Arial"/>
              </a:defRPr>
            </a:pPr>
            <a:r>
              <a:t>35.39%</a:t>
            </a:r>
          </a:p>
        </p:txBody>
      </p:sp>
      <p:sp>
        <p:nvSpPr>
          <p:cNvPr id="15" name="TextBox 14"/>
          <p:cNvSpPr txBox="1"/>
          <p:nvPr/>
        </p:nvSpPr>
        <p:spPr>
          <a:xfrm>
            <a:off x="8823960" y="4160520"/>
            <a:ext cx="2560320" cy="457200"/>
          </a:xfrm>
          <a:prstGeom prst="rect">
            <a:avLst/>
          </a:prstGeom>
          <a:noFill/>
        </p:spPr>
        <p:txBody>
          <a:bodyPr wrap="square" lIns="9144" rIns="9144" tIns="0" bIns="0">
            <a:spAutoFit/>
          </a:bodyPr>
          <a:lstStyle/>
          <a:p>
            <a:pPr algn="l">
              <a:spcAft>
                <a:spcPts val="500"/>
              </a:spcAft>
              <a:defRPr sz="2700" b="1">
                <a:solidFill>
                  <a:srgbClr val="647282"/>
                </a:solidFill>
                <a:latin typeface="Arial"/>
              </a:defRPr>
            </a:pPr>
            <a:r>
              <a:t>35.39%</a:t>
            </a:r>
          </a:p>
        </p:txBody>
      </p:sp>
      <p:sp>
        <p:nvSpPr>
          <p:cNvPr id="16" name="Rounded Rectangle 15"/>
          <p:cNvSpPr/>
          <p:nvPr/>
        </p:nvSpPr>
        <p:spPr>
          <a:xfrm>
            <a:off x="822960" y="5257800"/>
            <a:ext cx="10515600" cy="731520"/>
          </a:xfrm>
          <a:prstGeom prst="roundRect">
            <a:avLst>
              <a:gd name="adj" fmla="val 8000"/>
            </a:avLst>
          </a:prstGeom>
          <a:solidFill>
            <a:srgbClr val="172C45"/>
          </a:solidFill>
          <a:ln>
            <a:solidFill>
              <a:srgbClr val="172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5468112"/>
            <a:ext cx="10113264" cy="365760"/>
          </a:xfrm>
          <a:prstGeom prst="rect">
            <a:avLst/>
          </a:prstGeom>
          <a:noFill/>
        </p:spPr>
        <p:txBody>
          <a:bodyPr wrap="square" lIns="9144" rIns="9144" tIns="0" bIns="0">
            <a:spAutoFit/>
          </a:bodyPr>
          <a:lstStyle/>
          <a:p>
            <a:pPr algn="ctr">
              <a:spcAft>
                <a:spcPts val="500"/>
              </a:spcAft>
              <a:defRPr sz="2100" b="1">
                <a:solidFill>
                  <a:srgbClr val="FFFFFF"/>
                </a:solidFill>
                <a:latin typeface="Arial"/>
              </a:defRPr>
            </a:pPr>
            <a:r>
              <a:t>The old loop optimizes the same landscape without rereading the facts.</a:t>
            </a:r>
          </a:p>
        </p:txBody>
      </p:sp>
      <p:sp>
        <p:nvSpPr>
          <p:cNvPr id="18" name="TextBox 17"/>
          <p:cNvSpPr txBox="1"/>
          <p:nvPr/>
        </p:nvSpPr>
        <p:spPr>
          <a:xfrm>
            <a:off x="502920" y="6473952"/>
            <a:ext cx="10561320" cy="219456"/>
          </a:xfrm>
          <a:prstGeom prst="rect">
            <a:avLst/>
          </a:prstGeom>
          <a:noFill/>
        </p:spPr>
        <p:txBody>
          <a:bodyPr wrap="square" lIns="9144" rIns="9144" tIns="0" bIns="0">
            <a:spAutoFit/>
          </a:bodyPr>
          <a:lstStyle/>
          <a:p>
            <a:pPr algn="l">
              <a:spcAft>
                <a:spcPts val="500"/>
              </a:spcAft>
              <a:defRPr sz="1000" b="0">
                <a:solidFill>
                  <a:srgbClr val="647282"/>
                </a:solidFill>
                <a:latin typeface="Arial"/>
              </a:defRPr>
            </a:pPr>
            <a:r>
              <a:t>Oct. 22 validation-only intervention: 3 seeds per variant, 162 prompts/model; includes arithmetic, rules and recall.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Rectangle 1"/>
          <p:cNvSpPr/>
          <p:nvPr/>
        </p:nvSpPr>
        <p:spPr>
          <a:xfrm>
            <a:off x="502920" y="402336"/>
            <a:ext cx="347472" cy="64008"/>
          </a:xfrm>
          <a:prstGeom prst="rect">
            <a:avLst/>
          </a:prstGeom>
          <a:solidFill>
            <a:srgbClr val="087E80"/>
          </a:solidFill>
          <a:ln>
            <a:solidFill>
              <a:srgbClr val="087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50976" y="310896"/>
            <a:ext cx="10058400" cy="274320"/>
          </a:xfrm>
          <a:prstGeom prst="rect">
            <a:avLst/>
          </a:prstGeom>
          <a:noFill/>
        </p:spPr>
        <p:txBody>
          <a:bodyPr wrap="square" lIns="9144" rIns="9144" tIns="0" bIns="0">
            <a:spAutoFit/>
          </a:bodyPr>
          <a:lstStyle/>
          <a:p>
            <a:pPr algn="l">
              <a:spcAft>
                <a:spcPts val="500"/>
              </a:spcAft>
              <a:defRPr sz="1100" b="1">
                <a:solidFill>
                  <a:srgbClr val="087E80"/>
                </a:solidFill>
                <a:latin typeface="Arial"/>
              </a:defRPr>
            </a:pPr>
            <a:r>
              <a:t>NEW ARCHITECTURE · OPT-IN STRUCTURED HEAD</a:t>
            </a:r>
          </a:p>
        </p:txBody>
      </p:sp>
      <p:sp>
        <p:nvSpPr>
          <p:cNvPr id="4" name="TextBox 3"/>
          <p:cNvSpPr txBox="1"/>
          <p:nvPr/>
        </p:nvSpPr>
        <p:spPr>
          <a:xfrm>
            <a:off x="502920" y="841248"/>
            <a:ext cx="11155680" cy="841248"/>
          </a:xfrm>
          <a:prstGeom prst="rect">
            <a:avLst/>
          </a:prstGeom>
          <a:noFill/>
        </p:spPr>
        <p:txBody>
          <a:bodyPr wrap="square" lIns="9144" rIns="9144" tIns="0" bIns="0">
            <a:spAutoFit/>
          </a:bodyPr>
          <a:lstStyle/>
          <a:p>
            <a:pPr algn="l">
              <a:spcAft>
                <a:spcPts val="500"/>
              </a:spcAft>
              <a:defRPr sz="3200" b="1">
                <a:solidFill>
                  <a:srgbClr val="172C45"/>
                </a:solidFill>
                <a:latin typeface="Arial"/>
              </a:defRPr>
            </a:pPr>
            <a:r>
              <a:t>Each predicted state drives another memory read</a:t>
            </a:r>
          </a:p>
        </p:txBody>
      </p:sp>
      <p:sp>
        <p:nvSpPr>
          <p:cNvPr id="5" name="TextBox 4"/>
          <p:cNvSpPr txBox="1"/>
          <p:nvPr/>
        </p:nvSpPr>
        <p:spPr>
          <a:xfrm>
            <a:off x="521207" y="1783080"/>
            <a:ext cx="11064240" cy="502920"/>
          </a:xfrm>
          <a:prstGeom prst="rect">
            <a:avLst/>
          </a:prstGeom>
          <a:noFill/>
        </p:spPr>
        <p:txBody>
          <a:bodyPr wrap="square" lIns="9144" rIns="9144" tIns="0" bIns="0">
            <a:spAutoFit/>
          </a:bodyPr>
          <a:lstStyle/>
          <a:p>
            <a:pPr algn="l">
              <a:spcAft>
                <a:spcPts val="500"/>
              </a:spcAft>
              <a:defRPr sz="1800" b="0">
                <a:solidFill>
                  <a:srgbClr val="647282"/>
                </a:solidFill>
                <a:latin typeface="Arial"/>
              </a:defRPr>
            </a:pPr>
            <a:r>
              <a:t>A learned byte encoder supplies keys, values, the starting query and the read count.</a:t>
            </a:r>
          </a:p>
        </p:txBody>
      </p:sp>
      <p:sp>
        <p:nvSpPr>
          <p:cNvPr id="6" name="TextBox 5"/>
          <p:cNvSpPr txBox="1"/>
          <p:nvPr/>
        </p:nvSpPr>
        <p:spPr>
          <a:xfrm>
            <a:off x="11091672" y="6428232"/>
            <a:ext cx="548640" cy="274320"/>
          </a:xfrm>
          <a:prstGeom prst="rect">
            <a:avLst/>
          </a:prstGeom>
          <a:noFill/>
        </p:spPr>
        <p:txBody>
          <a:bodyPr wrap="square" lIns="9144" rIns="9144" tIns="0" bIns="0">
            <a:spAutoFit/>
          </a:bodyPr>
          <a:lstStyle/>
          <a:p>
            <a:pPr algn="r">
              <a:spcAft>
                <a:spcPts val="500"/>
              </a:spcAft>
              <a:defRPr sz="1100" b="0">
                <a:solidFill>
                  <a:srgbClr val="647282"/>
                </a:solidFill>
                <a:latin typeface="Arial"/>
              </a:defRPr>
            </a:pPr>
            <a:r>
              <a:t>09</a:t>
            </a:r>
          </a:p>
        </p:txBody>
      </p:sp>
      <p:sp>
        <p:nvSpPr>
          <p:cNvPr id="7" name="Rounded Rectangle 6"/>
          <p:cNvSpPr/>
          <p:nvPr/>
        </p:nvSpPr>
        <p:spPr>
          <a:xfrm>
            <a:off x="731520" y="2560320"/>
            <a:ext cx="3291840" cy="2194560"/>
          </a:xfrm>
          <a:prstGeom prst="roundRect">
            <a:avLst>
              <a:gd name="adj" fmla="val 8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761488"/>
            <a:ext cx="2926080" cy="274320"/>
          </a:xfrm>
          <a:prstGeom prst="rect">
            <a:avLst/>
          </a:prstGeom>
          <a:noFill/>
        </p:spPr>
        <p:txBody>
          <a:bodyPr wrap="square" lIns="9144" rIns="9144" tIns="0" bIns="0">
            <a:spAutoFit/>
          </a:bodyPr>
          <a:lstStyle/>
          <a:p>
            <a:pPr algn="l">
              <a:spcAft>
                <a:spcPts val="500"/>
              </a:spcAft>
              <a:defRPr sz="1300" b="1">
                <a:solidFill>
                  <a:srgbClr val="087E80"/>
                </a:solidFill>
                <a:latin typeface="Arial"/>
              </a:defRPr>
            </a:pPr>
            <a:r>
              <a:t>READ 1</a:t>
            </a:r>
          </a:p>
        </p:txBody>
      </p:sp>
      <p:sp>
        <p:nvSpPr>
          <p:cNvPr id="9" name="TextBox 8"/>
          <p:cNvSpPr txBox="1"/>
          <p:nvPr/>
        </p:nvSpPr>
        <p:spPr>
          <a:xfrm>
            <a:off x="914400" y="3337560"/>
            <a:ext cx="2926080" cy="457200"/>
          </a:xfrm>
          <a:prstGeom prst="rect">
            <a:avLst/>
          </a:prstGeom>
          <a:noFill/>
        </p:spPr>
        <p:txBody>
          <a:bodyPr wrap="square" lIns="9144" rIns="9144" tIns="0" bIns="0">
            <a:spAutoFit/>
          </a:bodyPr>
          <a:lstStyle/>
          <a:p>
            <a:pPr algn="ctr">
              <a:spcAft>
                <a:spcPts val="500"/>
              </a:spcAft>
              <a:defRPr sz="2200" b="1">
                <a:solidFill>
                  <a:srgbClr val="172C45"/>
                </a:solidFill>
                <a:latin typeface="Arial"/>
              </a:defRPr>
            </a:pPr>
            <a:r>
              <a:t>query A → retrieve B</a:t>
            </a:r>
          </a:p>
        </p:txBody>
      </p:sp>
      <p:sp>
        <p:nvSpPr>
          <p:cNvPr id="10" name="TextBox 9"/>
          <p:cNvSpPr txBox="1"/>
          <p:nvPr/>
        </p:nvSpPr>
        <p:spPr>
          <a:xfrm>
            <a:off x="896112" y="4096512"/>
            <a:ext cx="2962656" cy="365760"/>
          </a:xfrm>
          <a:prstGeom prst="rect">
            <a:avLst/>
          </a:prstGeom>
          <a:noFill/>
        </p:spPr>
        <p:txBody>
          <a:bodyPr wrap="square" lIns="9144" rIns="9144" tIns="0" bIns="0">
            <a:spAutoFit/>
          </a:bodyPr>
          <a:lstStyle/>
          <a:p>
            <a:pPr algn="ctr">
              <a:spcAft>
                <a:spcPts val="500"/>
              </a:spcAft>
              <a:defRPr sz="1700" b="0">
                <a:solidFill>
                  <a:srgbClr val="647282"/>
                </a:solidFill>
                <a:latin typeface="Arial"/>
              </a:defRPr>
            </a:pPr>
            <a:r>
              <a:t>refine this read’s state</a:t>
            </a:r>
          </a:p>
        </p:txBody>
      </p:sp>
      <p:sp>
        <p:nvSpPr>
          <p:cNvPr id="11" name="Right Arrow 10"/>
          <p:cNvSpPr/>
          <p:nvPr/>
        </p:nvSpPr>
        <p:spPr>
          <a:xfrm>
            <a:off x="4114800" y="3511296"/>
            <a:ext cx="365760" cy="228600"/>
          </a:xfrm>
          <a:prstGeom prst="rightArrow">
            <a:avLst/>
          </a:prstGeom>
          <a:solidFill>
            <a:srgbClr val="08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72000" y="2560320"/>
            <a:ext cx="3291840" cy="2194560"/>
          </a:xfrm>
          <a:prstGeom prst="roundRect">
            <a:avLst>
              <a:gd name="adj" fmla="val 8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0" y="2761488"/>
            <a:ext cx="2926080" cy="274320"/>
          </a:xfrm>
          <a:prstGeom prst="rect">
            <a:avLst/>
          </a:prstGeom>
          <a:noFill/>
        </p:spPr>
        <p:txBody>
          <a:bodyPr wrap="square" lIns="9144" rIns="9144" tIns="0" bIns="0">
            <a:spAutoFit/>
          </a:bodyPr>
          <a:lstStyle/>
          <a:p>
            <a:pPr algn="l">
              <a:spcAft>
                <a:spcPts val="500"/>
              </a:spcAft>
              <a:defRPr sz="1300" b="1">
                <a:solidFill>
                  <a:srgbClr val="087E80"/>
                </a:solidFill>
                <a:latin typeface="Arial"/>
              </a:defRPr>
            </a:pPr>
            <a:r>
              <a:t>READ 2</a:t>
            </a:r>
          </a:p>
        </p:txBody>
      </p:sp>
      <p:sp>
        <p:nvSpPr>
          <p:cNvPr id="14" name="TextBox 13"/>
          <p:cNvSpPr txBox="1"/>
          <p:nvPr/>
        </p:nvSpPr>
        <p:spPr>
          <a:xfrm>
            <a:off x="4754880" y="3337560"/>
            <a:ext cx="2926080" cy="457200"/>
          </a:xfrm>
          <a:prstGeom prst="rect">
            <a:avLst/>
          </a:prstGeom>
          <a:noFill/>
        </p:spPr>
        <p:txBody>
          <a:bodyPr wrap="square" lIns="9144" rIns="9144" tIns="0" bIns="0">
            <a:spAutoFit/>
          </a:bodyPr>
          <a:lstStyle/>
          <a:p>
            <a:pPr algn="ctr">
              <a:spcAft>
                <a:spcPts val="500"/>
              </a:spcAft>
              <a:defRPr sz="2200" b="1">
                <a:solidFill>
                  <a:srgbClr val="172C45"/>
                </a:solidFill>
                <a:latin typeface="Arial"/>
              </a:defRPr>
            </a:pPr>
            <a:r>
              <a:t>query B → retrieve C</a:t>
            </a:r>
          </a:p>
        </p:txBody>
      </p:sp>
      <p:sp>
        <p:nvSpPr>
          <p:cNvPr id="15" name="TextBox 14"/>
          <p:cNvSpPr txBox="1"/>
          <p:nvPr/>
        </p:nvSpPr>
        <p:spPr>
          <a:xfrm>
            <a:off x="4736592" y="4096512"/>
            <a:ext cx="2962656" cy="365760"/>
          </a:xfrm>
          <a:prstGeom prst="rect">
            <a:avLst/>
          </a:prstGeom>
          <a:noFill/>
        </p:spPr>
        <p:txBody>
          <a:bodyPr wrap="square" lIns="9144" rIns="9144" tIns="0" bIns="0">
            <a:spAutoFit/>
          </a:bodyPr>
          <a:lstStyle/>
          <a:p>
            <a:pPr algn="ctr">
              <a:spcAft>
                <a:spcPts val="500"/>
              </a:spcAft>
              <a:defRPr sz="1700" b="0">
                <a:solidFill>
                  <a:srgbClr val="647282"/>
                </a:solidFill>
                <a:latin typeface="Arial"/>
              </a:defRPr>
            </a:pPr>
            <a:r>
              <a:t>refine this read’s state</a:t>
            </a:r>
          </a:p>
        </p:txBody>
      </p:sp>
      <p:sp>
        <p:nvSpPr>
          <p:cNvPr id="16" name="Right Arrow 15"/>
          <p:cNvSpPr/>
          <p:nvPr/>
        </p:nvSpPr>
        <p:spPr>
          <a:xfrm>
            <a:off x="7955279" y="3511296"/>
            <a:ext cx="365760" cy="228600"/>
          </a:xfrm>
          <a:prstGeom prst="rightArrow">
            <a:avLst/>
          </a:prstGeom>
          <a:solidFill>
            <a:srgbClr val="08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412480" y="2560320"/>
            <a:ext cx="3291840" cy="2194560"/>
          </a:xfrm>
          <a:prstGeom prst="roundRect">
            <a:avLst>
              <a:gd name="adj" fmla="val 8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0" y="2761488"/>
            <a:ext cx="2926080" cy="274320"/>
          </a:xfrm>
          <a:prstGeom prst="rect">
            <a:avLst/>
          </a:prstGeom>
          <a:noFill/>
        </p:spPr>
        <p:txBody>
          <a:bodyPr wrap="square" lIns="9144" rIns="9144" tIns="0" bIns="0">
            <a:spAutoFit/>
          </a:bodyPr>
          <a:lstStyle/>
          <a:p>
            <a:pPr algn="l">
              <a:spcAft>
                <a:spcPts val="500"/>
              </a:spcAft>
              <a:defRPr sz="1300" b="1">
                <a:solidFill>
                  <a:srgbClr val="087E80"/>
                </a:solidFill>
                <a:latin typeface="Arial"/>
              </a:defRPr>
            </a:pPr>
            <a:r>
              <a:t>READ 3</a:t>
            </a:r>
          </a:p>
        </p:txBody>
      </p:sp>
      <p:sp>
        <p:nvSpPr>
          <p:cNvPr id="19" name="TextBox 18"/>
          <p:cNvSpPr txBox="1"/>
          <p:nvPr/>
        </p:nvSpPr>
        <p:spPr>
          <a:xfrm>
            <a:off x="8595360" y="3337560"/>
            <a:ext cx="2926080" cy="457200"/>
          </a:xfrm>
          <a:prstGeom prst="rect">
            <a:avLst/>
          </a:prstGeom>
          <a:noFill/>
        </p:spPr>
        <p:txBody>
          <a:bodyPr wrap="square" lIns="9144" rIns="9144" tIns="0" bIns="0">
            <a:spAutoFit/>
          </a:bodyPr>
          <a:lstStyle/>
          <a:p>
            <a:pPr algn="ctr">
              <a:spcAft>
                <a:spcPts val="500"/>
              </a:spcAft>
              <a:defRPr sz="2200" b="1">
                <a:solidFill>
                  <a:srgbClr val="172C45"/>
                </a:solidFill>
                <a:latin typeface="Arial"/>
              </a:defRPr>
            </a:pPr>
            <a:r>
              <a:t>query C → retrieve D</a:t>
            </a:r>
          </a:p>
        </p:txBody>
      </p:sp>
      <p:sp>
        <p:nvSpPr>
          <p:cNvPr id="20" name="TextBox 19"/>
          <p:cNvSpPr txBox="1"/>
          <p:nvPr/>
        </p:nvSpPr>
        <p:spPr>
          <a:xfrm>
            <a:off x="8577072" y="4096512"/>
            <a:ext cx="2962656" cy="365760"/>
          </a:xfrm>
          <a:prstGeom prst="rect">
            <a:avLst/>
          </a:prstGeom>
          <a:noFill/>
        </p:spPr>
        <p:txBody>
          <a:bodyPr wrap="square" lIns="9144" rIns="9144" tIns="0" bIns="0">
            <a:spAutoFit/>
          </a:bodyPr>
          <a:lstStyle/>
          <a:p>
            <a:pPr algn="ctr">
              <a:spcAft>
                <a:spcPts val="500"/>
              </a:spcAft>
              <a:defRPr sz="1700" b="0">
                <a:solidFill>
                  <a:srgbClr val="647282"/>
                </a:solidFill>
                <a:latin typeface="Arial"/>
              </a:defRPr>
            </a:pPr>
            <a:r>
              <a:t>refine this read’s state</a:t>
            </a:r>
          </a:p>
        </p:txBody>
      </p:sp>
      <p:sp>
        <p:nvSpPr>
          <p:cNvPr id="21" name="Rounded Rectangle 20"/>
          <p:cNvSpPr/>
          <p:nvPr/>
        </p:nvSpPr>
        <p:spPr>
          <a:xfrm>
            <a:off x="868680" y="5166360"/>
            <a:ext cx="10424160" cy="777240"/>
          </a:xfrm>
          <a:prstGeom prst="roundRect">
            <a:avLst>
              <a:gd name="adj" fmla="val 8000"/>
            </a:avLst>
          </a:prstGeom>
          <a:solidFill>
            <a:srgbClr val="E6EBEB"/>
          </a:solidFill>
          <a:ln>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8992" y="5340096"/>
            <a:ext cx="10003536" cy="411480"/>
          </a:xfrm>
          <a:prstGeom prst="rect">
            <a:avLst/>
          </a:prstGeom>
          <a:noFill/>
        </p:spPr>
        <p:txBody>
          <a:bodyPr wrap="square" lIns="9144" rIns="9144" tIns="0" bIns="0">
            <a:spAutoFit/>
          </a:bodyPr>
          <a:lstStyle/>
          <a:p>
            <a:pPr algn="ctr">
              <a:spcAft>
                <a:spcPts val="500"/>
              </a:spcAft>
              <a:defRPr sz="2200" b="1">
                <a:solidFill>
                  <a:srgbClr val="172C45"/>
                </a:solidFill>
                <a:latin typeface="Arial"/>
              </a:defRPr>
            </a:pPr>
            <a:r>
              <a:t>Input: raw bytes     Output: predicted nodes + predicted length</a:t>
            </a:r>
          </a:p>
        </p:txBody>
      </p:sp>
      <p:sp>
        <p:nvSpPr>
          <p:cNvPr id="23" name="TextBox 22"/>
          <p:cNvSpPr txBox="1"/>
          <p:nvPr/>
        </p:nvSpPr>
        <p:spPr>
          <a:xfrm>
            <a:off x="502920" y="6473952"/>
            <a:ext cx="10561320" cy="219456"/>
          </a:xfrm>
          <a:prstGeom prst="rect">
            <a:avLst/>
          </a:prstGeom>
          <a:noFill/>
        </p:spPr>
        <p:txBody>
          <a:bodyPr wrap="square" lIns="9144" rIns="9144" tIns="0" bIns="0">
            <a:spAutoFit/>
          </a:bodyPr>
          <a:lstStyle/>
          <a:p>
            <a:pPr algn="l">
              <a:spcAft>
                <a:spcPts val="500"/>
              </a:spcAft>
              <a:defRPr sz="1000" b="0">
                <a:solidFill>
                  <a:srgbClr val="647282"/>
                </a:solidFill>
                <a:latin typeface="Arial"/>
              </a:defRPr>
            </a:pPr>
            <a:r>
              <a:t>No symbolic parser or solver at inference. Each read defines a new energy; descent is guaranteed only within that read.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Rectangle 1"/>
          <p:cNvSpPr/>
          <p:nvPr/>
        </p:nvSpPr>
        <p:spPr>
          <a:xfrm>
            <a:off x="502920" y="402336"/>
            <a:ext cx="347472" cy="64008"/>
          </a:xfrm>
          <a:prstGeom prst="rect">
            <a:avLst/>
          </a:prstGeom>
          <a:solidFill>
            <a:srgbClr val="087E80"/>
          </a:solidFill>
          <a:ln>
            <a:solidFill>
              <a:srgbClr val="087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50976" y="310896"/>
            <a:ext cx="10058400" cy="274320"/>
          </a:xfrm>
          <a:prstGeom prst="rect">
            <a:avLst/>
          </a:prstGeom>
          <a:noFill/>
        </p:spPr>
        <p:txBody>
          <a:bodyPr wrap="square" lIns="9144" rIns="9144" tIns="0" bIns="0">
            <a:spAutoFit/>
          </a:bodyPr>
          <a:lstStyle/>
          <a:p>
            <a:pPr algn="l">
              <a:spcAft>
                <a:spcPts val="500"/>
              </a:spcAft>
              <a:defRPr sz="1100" b="1">
                <a:solidFill>
                  <a:srgbClr val="087E80"/>
                </a:solidFill>
                <a:latin typeface="Arial"/>
              </a:defRPr>
            </a:pPr>
            <a:r>
              <a:t>FRESH RESULTS · OCTOBER 26</a:t>
            </a:r>
          </a:p>
        </p:txBody>
      </p:sp>
      <p:sp>
        <p:nvSpPr>
          <p:cNvPr id="4" name="TextBox 3"/>
          <p:cNvSpPr txBox="1"/>
          <p:nvPr/>
        </p:nvSpPr>
        <p:spPr>
          <a:xfrm>
            <a:off x="502920" y="841248"/>
            <a:ext cx="11155680" cy="841248"/>
          </a:xfrm>
          <a:prstGeom prst="rect">
            <a:avLst/>
          </a:prstGeom>
          <a:noFill/>
        </p:spPr>
        <p:txBody>
          <a:bodyPr wrap="square" lIns="9144" rIns="9144" tIns="0" bIns="0">
            <a:spAutoFit/>
          </a:bodyPr>
          <a:lstStyle/>
          <a:p>
            <a:pPr algn="l">
              <a:spcAft>
                <a:spcPts val="500"/>
              </a:spcAft>
              <a:defRPr sz="3200" b="1">
                <a:solidFill>
                  <a:srgbClr val="172C45"/>
                </a:solidFill>
                <a:latin typeface="Arial"/>
              </a:defRPr>
            </a:pPr>
            <a:r>
              <a:t>Repeated reads help; the wave benefit is still unproven</a:t>
            </a:r>
          </a:p>
        </p:txBody>
      </p:sp>
      <p:sp>
        <p:nvSpPr>
          <p:cNvPr id="5" name="TextBox 4"/>
          <p:cNvSpPr txBox="1"/>
          <p:nvPr/>
        </p:nvSpPr>
        <p:spPr>
          <a:xfrm>
            <a:off x="521207" y="1783080"/>
            <a:ext cx="11064240" cy="502920"/>
          </a:xfrm>
          <a:prstGeom prst="rect">
            <a:avLst/>
          </a:prstGeom>
          <a:noFill/>
        </p:spPr>
        <p:txBody>
          <a:bodyPr wrap="square" lIns="9144" rIns="9144" tIns="0" bIns="0">
            <a:spAutoFit/>
          </a:bodyPr>
          <a:lstStyle/>
          <a:p>
            <a:pPr algn="l">
              <a:spcAft>
                <a:spcPts val="500"/>
              </a:spcAft>
              <a:defRPr sz="1800" b="0">
                <a:solidFill>
                  <a:srgbClr val="647282"/>
                </a:solidFill>
                <a:latin typeface="Arial"/>
              </a:defRPr>
            </a:pPr>
            <a:r>
              <a:t>Complete trace + answer on 960 fresh rule prompts, across three cold starts.</a:t>
            </a:r>
          </a:p>
        </p:txBody>
      </p:sp>
      <p:sp>
        <p:nvSpPr>
          <p:cNvPr id="6" name="TextBox 5"/>
          <p:cNvSpPr txBox="1"/>
          <p:nvPr/>
        </p:nvSpPr>
        <p:spPr>
          <a:xfrm>
            <a:off x="11091672" y="6428232"/>
            <a:ext cx="548640" cy="274320"/>
          </a:xfrm>
          <a:prstGeom prst="rect">
            <a:avLst/>
          </a:prstGeom>
          <a:noFill/>
        </p:spPr>
        <p:txBody>
          <a:bodyPr wrap="square" lIns="9144" rIns="9144" tIns="0" bIns="0">
            <a:spAutoFit/>
          </a:bodyPr>
          <a:lstStyle/>
          <a:p>
            <a:pPr algn="r">
              <a:spcAft>
                <a:spcPts val="500"/>
              </a:spcAft>
              <a:defRPr sz="1100" b="0">
                <a:solidFill>
                  <a:srgbClr val="647282"/>
                </a:solidFill>
                <a:latin typeface="Arial"/>
              </a:defRPr>
            </a:pPr>
            <a:r>
              <a:t>10</a:t>
            </a:r>
          </a:p>
        </p:txBody>
      </p:sp>
      <p:sp>
        <p:nvSpPr>
          <p:cNvPr id="7" name="TextBox 6"/>
          <p:cNvSpPr txBox="1"/>
          <p:nvPr/>
        </p:nvSpPr>
        <p:spPr>
          <a:xfrm>
            <a:off x="749808" y="2606040"/>
            <a:ext cx="4800600" cy="502920"/>
          </a:xfrm>
          <a:prstGeom prst="rect">
            <a:avLst/>
          </a:prstGeom>
          <a:noFill/>
        </p:spPr>
        <p:txBody>
          <a:bodyPr wrap="square" lIns="9144" rIns="9144" tIns="0" bIns="0">
            <a:spAutoFit/>
          </a:bodyPr>
          <a:lstStyle/>
          <a:p>
            <a:pPr algn="l">
              <a:spcAft>
                <a:spcPts val="500"/>
              </a:spcAft>
              <a:defRPr sz="2100" b="0">
                <a:solidFill>
                  <a:srgbClr val="172C45"/>
                </a:solidFill>
                <a:latin typeface="Arial"/>
              </a:defRPr>
            </a:pPr>
            <a:r>
              <a:t>Fixed query + energy</a:t>
            </a:r>
          </a:p>
        </p:txBody>
      </p:sp>
      <p:sp>
        <p:nvSpPr>
          <p:cNvPr id="8" name="Rounded Rectangle 7"/>
          <p:cNvSpPr/>
          <p:nvPr/>
        </p:nvSpPr>
        <p:spPr>
          <a:xfrm>
            <a:off x="5742432" y="2660904"/>
            <a:ext cx="4343400" cy="365760"/>
          </a:xfrm>
          <a:prstGeom prst="roundRect">
            <a:avLst>
              <a:gd name="adj" fmla="val 8000"/>
            </a:avLst>
          </a:prstGeom>
          <a:solidFill>
            <a:srgbClr val="E6EBEB"/>
          </a:solidFill>
          <a:ln>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742432" y="2660904"/>
            <a:ext cx="1189910" cy="365760"/>
          </a:xfrm>
          <a:prstGeom prst="roundRect">
            <a:avLst>
              <a:gd name="adj" fmla="val 8000"/>
            </a:avLst>
          </a:prstGeom>
          <a:solidFill>
            <a:srgbClr val="647282"/>
          </a:solidFill>
          <a:ln>
            <a:solidFill>
              <a:srgbClr val="6472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87000" y="2587752"/>
            <a:ext cx="1234440" cy="502920"/>
          </a:xfrm>
          <a:prstGeom prst="rect">
            <a:avLst/>
          </a:prstGeom>
          <a:noFill/>
        </p:spPr>
        <p:txBody>
          <a:bodyPr wrap="square" lIns="9144" rIns="9144" tIns="0" bIns="0">
            <a:spAutoFit/>
          </a:bodyPr>
          <a:lstStyle/>
          <a:p>
            <a:pPr algn="l">
              <a:spcAft>
                <a:spcPts val="500"/>
              </a:spcAft>
              <a:defRPr sz="2500" b="1">
                <a:solidFill>
                  <a:srgbClr val="647282"/>
                </a:solidFill>
                <a:latin typeface="Arial"/>
              </a:defRPr>
            </a:pPr>
            <a:r>
              <a:t>27.4%</a:t>
            </a:r>
          </a:p>
        </p:txBody>
      </p:sp>
      <p:sp>
        <p:nvSpPr>
          <p:cNvPr id="11" name="TextBox 10"/>
          <p:cNvSpPr txBox="1"/>
          <p:nvPr/>
        </p:nvSpPr>
        <p:spPr>
          <a:xfrm>
            <a:off x="749808" y="3657600"/>
            <a:ext cx="4800600" cy="502920"/>
          </a:xfrm>
          <a:prstGeom prst="rect">
            <a:avLst/>
          </a:prstGeom>
          <a:noFill/>
        </p:spPr>
        <p:txBody>
          <a:bodyPr wrap="square" lIns="9144" rIns="9144" tIns="0" bIns="0">
            <a:spAutoFit/>
          </a:bodyPr>
          <a:lstStyle/>
          <a:p>
            <a:pPr algn="l">
              <a:spcAft>
                <a:spcPts val="500"/>
              </a:spcAft>
              <a:defRPr sz="2100" b="0">
                <a:solidFill>
                  <a:srgbClr val="172C45"/>
                </a:solidFill>
                <a:latin typeface="Arial"/>
              </a:defRPr>
            </a:pPr>
            <a:r>
              <a:t>Repeated reads + energy</a:t>
            </a:r>
          </a:p>
        </p:txBody>
      </p:sp>
      <p:sp>
        <p:nvSpPr>
          <p:cNvPr id="12" name="Rounded Rectangle 11"/>
          <p:cNvSpPr/>
          <p:nvPr/>
        </p:nvSpPr>
        <p:spPr>
          <a:xfrm>
            <a:off x="5742432" y="3712463"/>
            <a:ext cx="4343400" cy="365760"/>
          </a:xfrm>
          <a:prstGeom prst="roundRect">
            <a:avLst>
              <a:gd name="adj" fmla="val 8000"/>
            </a:avLst>
          </a:prstGeom>
          <a:solidFill>
            <a:srgbClr val="E6EBEB"/>
          </a:solidFill>
          <a:ln>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742432" y="3712463"/>
            <a:ext cx="4343400" cy="365760"/>
          </a:xfrm>
          <a:prstGeom prst="roundRect">
            <a:avLst>
              <a:gd name="adj" fmla="val 8000"/>
            </a:avLst>
          </a:prstGeom>
          <a:solidFill>
            <a:srgbClr val="087E80"/>
          </a:solidFill>
          <a:ln>
            <a:solidFill>
              <a:srgbClr val="087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87000" y="3639312"/>
            <a:ext cx="1234440" cy="502920"/>
          </a:xfrm>
          <a:prstGeom prst="rect">
            <a:avLst/>
          </a:prstGeom>
          <a:noFill/>
        </p:spPr>
        <p:txBody>
          <a:bodyPr wrap="square" lIns="9144" rIns="9144" tIns="0" bIns="0">
            <a:spAutoFit/>
          </a:bodyPr>
          <a:lstStyle/>
          <a:p>
            <a:pPr algn="l">
              <a:spcAft>
                <a:spcPts val="500"/>
              </a:spcAft>
              <a:defRPr sz="2500" b="1">
                <a:solidFill>
                  <a:srgbClr val="087E80"/>
                </a:solidFill>
                <a:latin typeface="Arial"/>
              </a:defRPr>
            </a:pPr>
            <a:r>
              <a:t>100.0%</a:t>
            </a:r>
          </a:p>
        </p:txBody>
      </p:sp>
      <p:sp>
        <p:nvSpPr>
          <p:cNvPr id="15" name="TextBox 14"/>
          <p:cNvSpPr txBox="1"/>
          <p:nvPr/>
        </p:nvSpPr>
        <p:spPr>
          <a:xfrm>
            <a:off x="749808" y="4709160"/>
            <a:ext cx="4800600" cy="502920"/>
          </a:xfrm>
          <a:prstGeom prst="rect">
            <a:avLst/>
          </a:prstGeom>
          <a:noFill/>
        </p:spPr>
        <p:txBody>
          <a:bodyPr wrap="square" lIns="9144" rIns="9144" tIns="0" bIns="0">
            <a:spAutoFit/>
          </a:bodyPr>
          <a:lstStyle/>
          <a:p>
            <a:pPr algn="l">
              <a:spcAft>
                <a:spcPts val="500"/>
              </a:spcAft>
              <a:defRPr sz="2100" b="0">
                <a:solidFill>
                  <a:srgbClr val="172C45"/>
                </a:solidFill>
                <a:latin typeface="Arial"/>
              </a:defRPr>
            </a:pPr>
            <a:r>
              <a:t>Repeated reads, zero energy rounds</a:t>
            </a:r>
          </a:p>
        </p:txBody>
      </p:sp>
      <p:sp>
        <p:nvSpPr>
          <p:cNvPr id="16" name="Rounded Rectangle 15"/>
          <p:cNvSpPr/>
          <p:nvPr/>
        </p:nvSpPr>
        <p:spPr>
          <a:xfrm>
            <a:off x="5742432" y="4764024"/>
            <a:ext cx="4343400" cy="365760"/>
          </a:xfrm>
          <a:prstGeom prst="roundRect">
            <a:avLst>
              <a:gd name="adj" fmla="val 8000"/>
            </a:avLst>
          </a:prstGeom>
          <a:solidFill>
            <a:srgbClr val="E6EBEB"/>
          </a:solidFill>
          <a:ln>
            <a:solidFill>
              <a:srgbClr val="E6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742432" y="4764024"/>
            <a:ext cx="4343400" cy="365760"/>
          </a:xfrm>
          <a:prstGeom prst="roundRect">
            <a:avLst>
              <a:gd name="adj" fmla="val 8000"/>
            </a:avLst>
          </a:prstGeom>
          <a:solidFill>
            <a:srgbClr val="172C45"/>
          </a:solidFill>
          <a:ln>
            <a:solidFill>
              <a:srgbClr val="172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87000" y="4690872"/>
            <a:ext cx="1234440" cy="502920"/>
          </a:xfrm>
          <a:prstGeom prst="rect">
            <a:avLst/>
          </a:prstGeom>
          <a:noFill/>
        </p:spPr>
        <p:txBody>
          <a:bodyPr wrap="square" lIns="9144" rIns="9144" tIns="0" bIns="0">
            <a:spAutoFit/>
          </a:bodyPr>
          <a:lstStyle/>
          <a:p>
            <a:pPr algn="l">
              <a:spcAft>
                <a:spcPts val="500"/>
              </a:spcAft>
              <a:defRPr sz="2500" b="1">
                <a:solidFill>
                  <a:srgbClr val="172C45"/>
                </a:solidFill>
                <a:latin typeface="Arial"/>
              </a:defRPr>
            </a:pPr>
            <a:r>
              <a:t>100.0%</a:t>
            </a:r>
          </a:p>
        </p:txBody>
      </p:sp>
      <p:sp>
        <p:nvSpPr>
          <p:cNvPr id="19" name="TextBox 18"/>
          <p:cNvSpPr txBox="1"/>
          <p:nvPr/>
        </p:nvSpPr>
        <p:spPr>
          <a:xfrm>
            <a:off x="795528" y="5833872"/>
            <a:ext cx="10789920" cy="457200"/>
          </a:xfrm>
          <a:prstGeom prst="rect">
            <a:avLst/>
          </a:prstGeom>
          <a:noFill/>
        </p:spPr>
        <p:txBody>
          <a:bodyPr wrap="square" lIns="9144" rIns="9144" tIns="0" bIns="0">
            <a:spAutoFit/>
          </a:bodyPr>
          <a:lstStyle/>
          <a:p>
            <a:pPr algn="l">
              <a:spcAft>
                <a:spcPts val="500"/>
              </a:spcAft>
              <a:defRPr sz="1900" b="1">
                <a:solidFill>
                  <a:srgbClr val="087E80"/>
                </a:solidFill>
                <a:latin typeface="Arial"/>
              </a:defRPr>
            </a:pPr>
            <a:r>
              <a:t>Both repeated-read arms also solve 480/480 prompts with eight distractor edges.</a:t>
            </a:r>
          </a:p>
        </p:txBody>
      </p:sp>
      <p:sp>
        <p:nvSpPr>
          <p:cNvPr id="20" name="TextBox 19"/>
          <p:cNvSpPr txBox="1"/>
          <p:nvPr/>
        </p:nvSpPr>
        <p:spPr>
          <a:xfrm>
            <a:off x="502920" y="6473952"/>
            <a:ext cx="10561320" cy="219456"/>
          </a:xfrm>
          <a:prstGeom prst="rect">
            <a:avLst/>
          </a:prstGeom>
          <a:noFill/>
        </p:spPr>
        <p:txBody>
          <a:bodyPr wrap="square" lIns="9144" rIns="9144" tIns="0" bIns="0">
            <a:spAutoFit/>
          </a:bodyPr>
          <a:lstStyle/>
          <a:p>
            <a:pPr algn="l">
              <a:spcAft>
                <a:spcPts val="500"/>
              </a:spcAft>
              <a:defRPr sz="1000" b="0">
                <a:solidFill>
                  <a:srgbClr val="647282"/>
                </a:solidFill>
                <a:latin typeface="Arial"/>
              </a:defRPr>
            </a:pPr>
            <a:r>
              <a:t>68,502 allocated parameters; 6,000 training identities; 800 updates/fit. Same batches and labels; zero-round arm has 60,950 active parameters.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Rectangle 1"/>
          <p:cNvSpPr/>
          <p:nvPr/>
        </p:nvSpPr>
        <p:spPr>
          <a:xfrm>
            <a:off x="502920" y="402336"/>
            <a:ext cx="347472" cy="64008"/>
          </a:xfrm>
          <a:prstGeom prst="rect">
            <a:avLst/>
          </a:prstGeom>
          <a:solidFill>
            <a:srgbClr val="087E80"/>
          </a:solidFill>
          <a:ln>
            <a:solidFill>
              <a:srgbClr val="087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50976" y="310896"/>
            <a:ext cx="10058400" cy="274320"/>
          </a:xfrm>
          <a:prstGeom prst="rect">
            <a:avLst/>
          </a:prstGeom>
          <a:noFill/>
        </p:spPr>
        <p:txBody>
          <a:bodyPr wrap="square" lIns="9144" rIns="9144" tIns="0" bIns="0">
            <a:spAutoFit/>
          </a:bodyPr>
          <a:lstStyle/>
          <a:p>
            <a:pPr algn="l">
              <a:spcAft>
                <a:spcPts val="500"/>
              </a:spcAft>
              <a:defRPr sz="1100" b="1">
                <a:solidFill>
                  <a:srgbClr val="087E80"/>
                </a:solidFill>
                <a:latin typeface="Arial"/>
              </a:defRPr>
            </a:pPr>
            <a:r>
              <a:t>SCOPE</a:t>
            </a:r>
          </a:p>
        </p:txBody>
      </p:sp>
      <p:sp>
        <p:nvSpPr>
          <p:cNvPr id="4" name="TextBox 3"/>
          <p:cNvSpPr txBox="1"/>
          <p:nvPr/>
        </p:nvSpPr>
        <p:spPr>
          <a:xfrm>
            <a:off x="502920" y="841248"/>
            <a:ext cx="11155680" cy="841248"/>
          </a:xfrm>
          <a:prstGeom prst="rect">
            <a:avLst/>
          </a:prstGeom>
          <a:noFill/>
        </p:spPr>
        <p:txBody>
          <a:bodyPr wrap="square" lIns="9144" rIns="9144" tIns="0" bIns="0">
            <a:spAutoFit/>
          </a:bodyPr>
          <a:lstStyle/>
          <a:p>
            <a:pPr algn="l">
              <a:spcAft>
                <a:spcPts val="500"/>
              </a:spcAft>
              <a:defRPr sz="3200" b="1">
                <a:solidFill>
                  <a:srgbClr val="172C45"/>
                </a:solidFill>
                <a:latin typeface="Arial"/>
              </a:defRPr>
            </a:pPr>
            <a:r>
              <a:t>A useful result with a clear boundary</a:t>
            </a:r>
          </a:p>
        </p:txBody>
      </p:sp>
      <p:sp>
        <p:nvSpPr>
          <p:cNvPr id="5" name="TextBox 4"/>
          <p:cNvSpPr txBox="1"/>
          <p:nvPr/>
        </p:nvSpPr>
        <p:spPr>
          <a:xfrm>
            <a:off x="11091672" y="6428232"/>
            <a:ext cx="548640" cy="274320"/>
          </a:xfrm>
          <a:prstGeom prst="rect">
            <a:avLst/>
          </a:prstGeom>
          <a:noFill/>
        </p:spPr>
        <p:txBody>
          <a:bodyPr wrap="square" lIns="9144" rIns="9144" tIns="0" bIns="0">
            <a:spAutoFit/>
          </a:bodyPr>
          <a:lstStyle/>
          <a:p>
            <a:pPr algn="r">
              <a:spcAft>
                <a:spcPts val="500"/>
              </a:spcAft>
              <a:defRPr sz="1100" b="0">
                <a:solidFill>
                  <a:srgbClr val="647282"/>
                </a:solidFill>
                <a:latin typeface="Arial"/>
              </a:defRPr>
            </a:pPr>
            <a:r>
              <a:t>11</a:t>
            </a:r>
          </a:p>
        </p:txBody>
      </p:sp>
      <p:sp>
        <p:nvSpPr>
          <p:cNvPr id="6" name="Rounded Rectangle 5"/>
          <p:cNvSpPr/>
          <p:nvPr/>
        </p:nvSpPr>
        <p:spPr>
          <a:xfrm>
            <a:off x="685800" y="2331720"/>
            <a:ext cx="5212080" cy="3063240"/>
          </a:xfrm>
          <a:prstGeom prst="roundRect">
            <a:avLst>
              <a:gd name="adj" fmla="val 8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2532888"/>
            <a:ext cx="4791456" cy="365760"/>
          </a:xfrm>
          <a:prstGeom prst="rect">
            <a:avLst/>
          </a:prstGeom>
          <a:noFill/>
        </p:spPr>
        <p:txBody>
          <a:bodyPr wrap="square" lIns="9144" rIns="9144" tIns="0" bIns="0">
            <a:spAutoFit/>
          </a:bodyPr>
          <a:lstStyle/>
          <a:p>
            <a:pPr algn="l">
              <a:spcAft>
                <a:spcPts val="500"/>
              </a:spcAft>
              <a:defRPr sz="1300" b="1">
                <a:solidFill>
                  <a:srgbClr val="087E80"/>
                </a:solidFill>
                <a:latin typeface="Arial"/>
              </a:defRPr>
            </a:pPr>
            <a:r>
              <a:t>DEMONSTRATED</a:t>
            </a:r>
          </a:p>
        </p:txBody>
      </p:sp>
      <p:sp>
        <p:nvSpPr>
          <p:cNvPr id="8" name="TextBox 7"/>
          <p:cNvSpPr txBox="1"/>
          <p:nvPr/>
        </p:nvSpPr>
        <p:spPr>
          <a:xfrm>
            <a:off x="896112" y="3063239"/>
            <a:ext cx="4791456" cy="731520"/>
          </a:xfrm>
          <a:prstGeom prst="rect">
            <a:avLst/>
          </a:prstGeom>
          <a:noFill/>
        </p:spPr>
        <p:txBody>
          <a:bodyPr wrap="square" lIns="9144" rIns="9144" tIns="0" bIns="0">
            <a:spAutoFit/>
          </a:bodyPr>
          <a:lstStyle/>
          <a:p>
            <a:pPr algn="l">
              <a:spcAft>
                <a:spcPts val="500"/>
              </a:spcAft>
              <a:defRPr sz="2600" b="1">
                <a:solidFill>
                  <a:srgbClr val="172C45"/>
                </a:solidFill>
                <a:latin typeface="Arial"/>
              </a:defRPr>
            </a:pPr>
            <a:r>
              <a:t>Bounded rule composition</a:t>
            </a:r>
          </a:p>
        </p:txBody>
      </p:sp>
      <p:sp>
        <p:nvSpPr>
          <p:cNvPr id="9" name="TextBox 8"/>
          <p:cNvSpPr txBox="1"/>
          <p:nvPr/>
        </p:nvSpPr>
        <p:spPr>
          <a:xfrm>
            <a:off x="896112" y="3904487"/>
            <a:ext cx="4791456" cy="1371600"/>
          </a:xfrm>
          <a:prstGeom prst="rect">
            <a:avLst/>
          </a:prstGeom>
          <a:noFill/>
        </p:spPr>
        <p:txBody>
          <a:bodyPr wrap="square" lIns="9144" rIns="9144" tIns="0" bIns="0">
            <a:spAutoFit/>
          </a:bodyPr>
          <a:lstStyle/>
          <a:p>
            <a:pPr algn="l">
              <a:spcAft>
                <a:spcPts val="500"/>
              </a:spcAft>
              <a:defRPr sz="1800" b="0">
                <a:solidFill>
                  <a:srgbClr val="647282"/>
                </a:solidFill>
                <a:latin typeface="Arial"/>
              </a:defRPr>
            </a:pPr>
            <a:r>
              <a:t>One to three hops.</a:t>
            </a:r>
          </a:p>
          <a:p>
            <a:pPr algn="l">
              <a:spcAft>
                <a:spcPts val="500"/>
              </a:spcAft>
              <a:defRPr sz="1800" b="0">
                <a:solidFill>
                  <a:srgbClr val="647282"/>
                </a:solidFill>
                <a:latin typeface="Arial"/>
              </a:defRPr>
            </a:pPr>
            <a:r>
              <a:t>Known letter vocabulary.</a:t>
            </a:r>
          </a:p>
          <a:p>
            <a:pPr algn="l">
              <a:spcAft>
                <a:spcPts val="500"/>
              </a:spcAft>
              <a:defRPr sz="1800" b="0">
                <a:solidFill>
                  <a:srgbClr val="647282"/>
                </a:solidFill>
                <a:latin typeface="Arial"/>
              </a:defRPr>
            </a:pPr>
            <a:r>
              <a:t>Shuffled facts and more distractors.</a:t>
            </a:r>
          </a:p>
        </p:txBody>
      </p:sp>
      <p:sp>
        <p:nvSpPr>
          <p:cNvPr id="10" name="Rounded Rectangle 9"/>
          <p:cNvSpPr/>
          <p:nvPr/>
        </p:nvSpPr>
        <p:spPr>
          <a:xfrm>
            <a:off x="6263640" y="2331720"/>
            <a:ext cx="5212080" cy="3063240"/>
          </a:xfrm>
          <a:prstGeom prst="roundRect">
            <a:avLst>
              <a:gd name="adj" fmla="val 8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2532888"/>
            <a:ext cx="4791456" cy="365760"/>
          </a:xfrm>
          <a:prstGeom prst="rect">
            <a:avLst/>
          </a:prstGeom>
          <a:noFill/>
        </p:spPr>
        <p:txBody>
          <a:bodyPr wrap="square" lIns="9144" rIns="9144" tIns="0" bIns="0">
            <a:spAutoFit/>
          </a:bodyPr>
          <a:lstStyle/>
          <a:p>
            <a:pPr algn="l">
              <a:spcAft>
                <a:spcPts val="500"/>
              </a:spcAft>
              <a:defRPr sz="1300" b="1">
                <a:solidFill>
                  <a:srgbClr val="D86A32"/>
                </a:solidFill>
                <a:latin typeface="Arial"/>
              </a:defRPr>
            </a:pPr>
            <a:r>
              <a:t>STILL OPEN</a:t>
            </a:r>
          </a:p>
        </p:txBody>
      </p:sp>
      <p:sp>
        <p:nvSpPr>
          <p:cNvPr id="12" name="TextBox 11"/>
          <p:cNvSpPr txBox="1"/>
          <p:nvPr/>
        </p:nvSpPr>
        <p:spPr>
          <a:xfrm>
            <a:off x="6473952" y="3063239"/>
            <a:ext cx="4791456" cy="731520"/>
          </a:xfrm>
          <a:prstGeom prst="rect">
            <a:avLst/>
          </a:prstGeom>
          <a:noFill/>
        </p:spPr>
        <p:txBody>
          <a:bodyPr wrap="square" lIns="9144" rIns="9144" tIns="0" bIns="0">
            <a:spAutoFit/>
          </a:bodyPr>
          <a:lstStyle/>
          <a:p>
            <a:pPr algn="l">
              <a:spcAft>
                <a:spcPts val="500"/>
              </a:spcAft>
              <a:defRPr sz="2600" b="1">
                <a:solidFill>
                  <a:srgbClr val="172C45"/>
                </a:solidFill>
                <a:latin typeface="Arial"/>
              </a:defRPr>
            </a:pPr>
            <a:r>
              <a:t>Broader reasoning</a:t>
            </a:r>
          </a:p>
        </p:txBody>
      </p:sp>
      <p:sp>
        <p:nvSpPr>
          <p:cNvPr id="13" name="TextBox 12"/>
          <p:cNvSpPr txBox="1"/>
          <p:nvPr/>
        </p:nvSpPr>
        <p:spPr>
          <a:xfrm>
            <a:off x="6473952" y="3904487"/>
            <a:ext cx="4791456" cy="1371600"/>
          </a:xfrm>
          <a:prstGeom prst="rect">
            <a:avLst/>
          </a:prstGeom>
          <a:noFill/>
        </p:spPr>
        <p:txBody>
          <a:bodyPr wrap="square" lIns="9144" rIns="9144" tIns="0" bIns="0">
            <a:spAutoFit/>
          </a:bodyPr>
          <a:lstStyle/>
          <a:p>
            <a:pPr algn="l">
              <a:spcAft>
                <a:spcPts val="500"/>
              </a:spcAft>
              <a:defRPr sz="1800" b="0">
                <a:solidFill>
                  <a:srgbClr val="647282"/>
                </a:solidFill>
                <a:latin typeface="Arial"/>
              </a:defRPr>
            </a:pPr>
            <a:r>
              <a:t>Natural language and arithmetic.</a:t>
            </a:r>
          </a:p>
          <a:p>
            <a:pPr algn="l">
              <a:spcAft>
                <a:spcPts val="500"/>
              </a:spcAft>
              <a:defRPr sz="1800" b="0">
                <a:solidFill>
                  <a:srgbClr val="647282"/>
                </a:solidFill>
                <a:latin typeface="Arial"/>
              </a:defRPr>
            </a:pPr>
            <a:r>
              <a:t>Longer or branching programs.</a:t>
            </a:r>
          </a:p>
          <a:p>
            <a:pPr algn="l">
              <a:spcAft>
                <a:spcPts val="500"/>
              </a:spcAft>
              <a:defRPr sz="1800" b="0">
                <a:solidFill>
                  <a:srgbClr val="647282"/>
                </a:solidFill>
                <a:latin typeface="Arial"/>
              </a:defRPr>
            </a:pPr>
            <a:r>
              <a:t>A causal benefit from wave refinement.</a:t>
            </a:r>
          </a:p>
        </p:txBody>
      </p:sp>
      <p:sp>
        <p:nvSpPr>
          <p:cNvPr id="14" name="TextBox 13"/>
          <p:cNvSpPr txBox="1"/>
          <p:nvPr/>
        </p:nvSpPr>
        <p:spPr>
          <a:xfrm>
            <a:off x="795528" y="5715000"/>
            <a:ext cx="10789920" cy="502920"/>
          </a:xfrm>
          <a:prstGeom prst="rect">
            <a:avLst/>
          </a:prstGeom>
          <a:noFill/>
        </p:spPr>
        <p:txBody>
          <a:bodyPr wrap="square" lIns="9144" rIns="9144" tIns="0" bIns="0">
            <a:spAutoFit/>
          </a:bodyPr>
          <a:lstStyle/>
          <a:p>
            <a:pPr algn="l">
              <a:spcAft>
                <a:spcPts val="500"/>
              </a:spcAft>
              <a:defRPr sz="2000" b="1">
                <a:solidFill>
                  <a:srgbClr val="D86A32"/>
                </a:solidFill>
                <a:latin typeface="Arial"/>
              </a:defRPr>
            </a:pPr>
            <a:r>
              <a:t>Wording is still fragile: 43.1% on the two withheld validation phrasings.</a:t>
            </a:r>
          </a:p>
        </p:txBody>
      </p:sp>
      <p:sp>
        <p:nvSpPr>
          <p:cNvPr id="15" name="TextBox 14"/>
          <p:cNvSpPr txBox="1"/>
          <p:nvPr/>
        </p:nvSpPr>
        <p:spPr>
          <a:xfrm>
            <a:off x="502920" y="6473952"/>
            <a:ext cx="10561320" cy="219456"/>
          </a:xfrm>
          <a:prstGeom prst="rect">
            <a:avLst/>
          </a:prstGeom>
          <a:noFill/>
        </p:spPr>
        <p:txBody>
          <a:bodyPr wrap="square" lIns="9144" rIns="9144" tIns="0" bIns="0">
            <a:spAutoFit/>
          </a:bodyPr>
          <a:lstStyle/>
          <a:p>
            <a:pPr algn="l">
              <a:spcAft>
                <a:spcPts val="500"/>
              </a:spcAft>
              <a:defRPr sz="1000" b="0">
                <a:solidFill>
                  <a:srgbClr val="647282"/>
                </a:solidFill>
                <a:latin typeface="Arial"/>
              </a:defRPr>
            </a:pPr>
            <a:r>
              <a:t>The 100% test score is limited to its specified templates. Validation contains two different withheld templates and remains weaker.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Rectangle 1"/>
          <p:cNvSpPr/>
          <p:nvPr/>
        </p:nvSpPr>
        <p:spPr>
          <a:xfrm>
            <a:off x="502920" y="402336"/>
            <a:ext cx="347472" cy="64008"/>
          </a:xfrm>
          <a:prstGeom prst="rect">
            <a:avLst/>
          </a:prstGeom>
          <a:solidFill>
            <a:srgbClr val="087E80"/>
          </a:solidFill>
          <a:ln>
            <a:solidFill>
              <a:srgbClr val="087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50976" y="310896"/>
            <a:ext cx="10058400" cy="274320"/>
          </a:xfrm>
          <a:prstGeom prst="rect">
            <a:avLst/>
          </a:prstGeom>
          <a:noFill/>
        </p:spPr>
        <p:txBody>
          <a:bodyPr wrap="square" lIns="9144" rIns="9144" tIns="0" bIns="0">
            <a:spAutoFit/>
          </a:bodyPr>
          <a:lstStyle/>
          <a:p>
            <a:pPr algn="l">
              <a:spcAft>
                <a:spcPts val="500"/>
              </a:spcAft>
              <a:defRPr sz="1100" b="1">
                <a:solidFill>
                  <a:srgbClr val="087E80"/>
                </a:solidFill>
                <a:latin typeface="Arial"/>
              </a:defRPr>
            </a:pPr>
            <a:r>
              <a:t>TAKEAWAY</a:t>
            </a:r>
          </a:p>
        </p:txBody>
      </p:sp>
      <p:sp>
        <p:nvSpPr>
          <p:cNvPr id="4" name="TextBox 3"/>
          <p:cNvSpPr txBox="1"/>
          <p:nvPr/>
        </p:nvSpPr>
        <p:spPr>
          <a:xfrm>
            <a:off x="502920" y="841248"/>
            <a:ext cx="11155680" cy="841248"/>
          </a:xfrm>
          <a:prstGeom prst="rect">
            <a:avLst/>
          </a:prstGeom>
          <a:noFill/>
        </p:spPr>
        <p:txBody>
          <a:bodyPr wrap="square" lIns="9144" rIns="9144" tIns="0" bIns="0">
            <a:spAutoFit/>
          </a:bodyPr>
          <a:lstStyle/>
          <a:p>
            <a:pPr algn="l">
              <a:spcAft>
                <a:spcPts val="500"/>
              </a:spcAft>
              <a:defRPr sz="3200" b="1">
                <a:solidFill>
                  <a:srgbClr val="172C45"/>
                </a:solidFill>
                <a:latin typeface="Arial"/>
              </a:defRPr>
            </a:pPr>
            <a:r>
              <a:t>Make refinement earn its computational cost</a:t>
            </a:r>
          </a:p>
        </p:txBody>
      </p:sp>
      <p:sp>
        <p:nvSpPr>
          <p:cNvPr id="5" name="TextBox 4"/>
          <p:cNvSpPr txBox="1"/>
          <p:nvPr/>
        </p:nvSpPr>
        <p:spPr>
          <a:xfrm>
            <a:off x="11091672" y="6428232"/>
            <a:ext cx="548640" cy="274320"/>
          </a:xfrm>
          <a:prstGeom prst="rect">
            <a:avLst/>
          </a:prstGeom>
          <a:noFill/>
        </p:spPr>
        <p:txBody>
          <a:bodyPr wrap="square" lIns="9144" rIns="9144" tIns="0" bIns="0">
            <a:spAutoFit/>
          </a:bodyPr>
          <a:lstStyle/>
          <a:p>
            <a:pPr algn="r">
              <a:spcAft>
                <a:spcPts val="500"/>
              </a:spcAft>
              <a:defRPr sz="1100" b="0">
                <a:solidFill>
                  <a:srgbClr val="647282"/>
                </a:solidFill>
                <a:latin typeface="Arial"/>
              </a:defRPr>
            </a:pPr>
            <a:r>
              <a:t>12</a:t>
            </a:r>
          </a:p>
        </p:txBody>
      </p:sp>
      <p:sp>
        <p:nvSpPr>
          <p:cNvPr id="6" name="Oval 5"/>
          <p:cNvSpPr/>
          <p:nvPr/>
        </p:nvSpPr>
        <p:spPr>
          <a:xfrm>
            <a:off x="822960" y="2395728"/>
            <a:ext cx="621792" cy="621792"/>
          </a:xfrm>
          <a:prstGeom prst="ellipse">
            <a:avLst/>
          </a:prstGeom>
          <a:solidFill>
            <a:srgbClr val="08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520086"/>
            <a:ext cx="621792" cy="435254"/>
          </a:xfrm>
          <a:prstGeom prst="rect">
            <a:avLst/>
          </a:prstGeom>
          <a:noFill/>
        </p:spPr>
        <p:txBody>
          <a:bodyPr wrap="square" lIns="9144" rIns="9144" tIns="0" bIns="0">
            <a:spAutoFit/>
          </a:bodyPr>
          <a:lstStyle/>
          <a:p>
            <a:pPr algn="ctr">
              <a:spcAft>
                <a:spcPts val="500"/>
              </a:spcAft>
              <a:defRPr sz="2040" b="1">
                <a:solidFill>
                  <a:srgbClr val="FFFFFF"/>
                </a:solidFill>
                <a:latin typeface="Arial"/>
              </a:defRPr>
            </a:pPr>
            <a:r>
              <a:t>1</a:t>
            </a:r>
          </a:p>
        </p:txBody>
      </p:sp>
      <p:sp>
        <p:nvSpPr>
          <p:cNvPr id="8" name="TextBox 7"/>
          <p:cNvSpPr txBox="1"/>
          <p:nvPr/>
        </p:nvSpPr>
        <p:spPr>
          <a:xfrm>
            <a:off x="1737360" y="2423160"/>
            <a:ext cx="4023360" cy="438912"/>
          </a:xfrm>
          <a:prstGeom prst="rect">
            <a:avLst/>
          </a:prstGeom>
          <a:noFill/>
        </p:spPr>
        <p:txBody>
          <a:bodyPr wrap="square" lIns="9144" rIns="9144" tIns="0" bIns="0">
            <a:spAutoFit/>
          </a:bodyPr>
          <a:lstStyle/>
          <a:p>
            <a:pPr algn="l">
              <a:spcAft>
                <a:spcPts val="500"/>
              </a:spcAft>
              <a:defRPr sz="2500" b="1">
                <a:solidFill>
                  <a:srgbClr val="172C45"/>
                </a:solidFill>
                <a:latin typeface="Arial"/>
              </a:defRPr>
            </a:pPr>
            <a:r>
              <a:t>Teach correction</a:t>
            </a:r>
          </a:p>
        </p:txBody>
      </p:sp>
      <p:sp>
        <p:nvSpPr>
          <p:cNvPr id="9" name="TextBox 8"/>
          <p:cNvSpPr txBox="1"/>
          <p:nvPr/>
        </p:nvSpPr>
        <p:spPr>
          <a:xfrm>
            <a:off x="5715000" y="2441448"/>
            <a:ext cx="5486400" cy="457200"/>
          </a:xfrm>
          <a:prstGeom prst="rect">
            <a:avLst/>
          </a:prstGeom>
          <a:noFill/>
        </p:spPr>
        <p:txBody>
          <a:bodyPr wrap="square" lIns="9144" rIns="9144" tIns="0" bIns="0">
            <a:spAutoFit/>
          </a:bodyPr>
          <a:lstStyle/>
          <a:p>
            <a:pPr algn="l">
              <a:spcAft>
                <a:spcPts val="500"/>
              </a:spcAft>
              <a:defRPr sz="2100" b="0">
                <a:solidFill>
                  <a:srgbClr val="647282"/>
                </a:solidFill>
                <a:latin typeface="Arial"/>
              </a:defRPr>
            </a:pPr>
            <a:r>
              <a:t>Reward actual answer repairs</a:t>
            </a:r>
          </a:p>
        </p:txBody>
      </p:sp>
      <p:sp>
        <p:nvSpPr>
          <p:cNvPr id="10" name="Oval 9"/>
          <p:cNvSpPr/>
          <p:nvPr/>
        </p:nvSpPr>
        <p:spPr>
          <a:xfrm>
            <a:off x="822960" y="3355848"/>
            <a:ext cx="621792" cy="621792"/>
          </a:xfrm>
          <a:prstGeom prst="ellipse">
            <a:avLst/>
          </a:prstGeom>
          <a:solidFill>
            <a:srgbClr val="08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480206"/>
            <a:ext cx="621792" cy="435254"/>
          </a:xfrm>
          <a:prstGeom prst="rect">
            <a:avLst/>
          </a:prstGeom>
          <a:noFill/>
        </p:spPr>
        <p:txBody>
          <a:bodyPr wrap="square" lIns="9144" rIns="9144" tIns="0" bIns="0">
            <a:spAutoFit/>
          </a:bodyPr>
          <a:lstStyle/>
          <a:p>
            <a:pPr algn="ctr">
              <a:spcAft>
                <a:spcPts val="500"/>
              </a:spcAft>
              <a:defRPr sz="2040" b="1">
                <a:solidFill>
                  <a:srgbClr val="FFFFFF"/>
                </a:solidFill>
                <a:latin typeface="Arial"/>
              </a:defRPr>
            </a:pPr>
            <a:r>
              <a:t>2</a:t>
            </a:r>
          </a:p>
        </p:txBody>
      </p:sp>
      <p:sp>
        <p:nvSpPr>
          <p:cNvPr id="12" name="TextBox 11"/>
          <p:cNvSpPr txBox="1"/>
          <p:nvPr/>
        </p:nvSpPr>
        <p:spPr>
          <a:xfrm>
            <a:off x="1737360" y="3383279"/>
            <a:ext cx="4023360" cy="438912"/>
          </a:xfrm>
          <a:prstGeom prst="rect">
            <a:avLst/>
          </a:prstGeom>
          <a:noFill/>
        </p:spPr>
        <p:txBody>
          <a:bodyPr wrap="square" lIns="9144" rIns="9144" tIns="0" bIns="0">
            <a:spAutoFit/>
          </a:bodyPr>
          <a:lstStyle/>
          <a:p>
            <a:pPr algn="l">
              <a:spcAft>
                <a:spcPts val="500"/>
              </a:spcAft>
              <a:defRPr sz="2500" b="1">
                <a:solidFill>
                  <a:srgbClr val="172C45"/>
                </a:solidFill>
                <a:latin typeface="Arial"/>
              </a:defRPr>
            </a:pPr>
            <a:r>
              <a:t>Integrate rereading</a:t>
            </a:r>
          </a:p>
        </p:txBody>
      </p:sp>
      <p:sp>
        <p:nvSpPr>
          <p:cNvPr id="13" name="TextBox 12"/>
          <p:cNvSpPr txBox="1"/>
          <p:nvPr/>
        </p:nvSpPr>
        <p:spPr>
          <a:xfrm>
            <a:off x="5715000" y="3401568"/>
            <a:ext cx="5486400" cy="457200"/>
          </a:xfrm>
          <a:prstGeom prst="rect">
            <a:avLst/>
          </a:prstGeom>
          <a:noFill/>
        </p:spPr>
        <p:txBody>
          <a:bodyPr wrap="square" lIns="9144" rIns="9144" tIns="0" bIns="0">
            <a:spAutoFit/>
          </a:bodyPr>
          <a:lstStyle/>
          <a:p>
            <a:pPr algn="l">
              <a:spcAft>
                <a:spcPts val="500"/>
              </a:spcAft>
              <a:defRPr sz="2100" b="0">
                <a:solidFill>
                  <a:srgbClr val="647282"/>
                </a:solidFill>
                <a:latin typeface="Arial"/>
              </a:defRPr>
            </a:pPr>
            <a:r>
              <a:t>Bring the loop into the language model</a:t>
            </a:r>
          </a:p>
        </p:txBody>
      </p:sp>
      <p:sp>
        <p:nvSpPr>
          <p:cNvPr id="14" name="Oval 13"/>
          <p:cNvSpPr/>
          <p:nvPr/>
        </p:nvSpPr>
        <p:spPr>
          <a:xfrm>
            <a:off x="822960" y="4315968"/>
            <a:ext cx="621792" cy="621792"/>
          </a:xfrm>
          <a:prstGeom prst="ellipse">
            <a:avLst/>
          </a:prstGeom>
          <a:solidFill>
            <a:srgbClr val="08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440326"/>
            <a:ext cx="621792" cy="435254"/>
          </a:xfrm>
          <a:prstGeom prst="rect">
            <a:avLst/>
          </a:prstGeom>
          <a:noFill/>
        </p:spPr>
        <p:txBody>
          <a:bodyPr wrap="square" lIns="9144" rIns="9144" tIns="0" bIns="0">
            <a:spAutoFit/>
          </a:bodyPr>
          <a:lstStyle/>
          <a:p>
            <a:pPr algn="ctr">
              <a:spcAft>
                <a:spcPts val="500"/>
              </a:spcAft>
              <a:defRPr sz="2040" b="1">
                <a:solidFill>
                  <a:srgbClr val="FFFFFF"/>
                </a:solidFill>
                <a:latin typeface="Arial"/>
              </a:defRPr>
            </a:pPr>
            <a:r>
              <a:t>3</a:t>
            </a:r>
          </a:p>
        </p:txBody>
      </p:sp>
      <p:sp>
        <p:nvSpPr>
          <p:cNvPr id="16" name="TextBox 15"/>
          <p:cNvSpPr txBox="1"/>
          <p:nvPr/>
        </p:nvSpPr>
        <p:spPr>
          <a:xfrm>
            <a:off x="1737360" y="4343400"/>
            <a:ext cx="4023360" cy="438912"/>
          </a:xfrm>
          <a:prstGeom prst="rect">
            <a:avLst/>
          </a:prstGeom>
          <a:noFill/>
        </p:spPr>
        <p:txBody>
          <a:bodyPr wrap="square" lIns="9144" rIns="9144" tIns="0" bIns="0">
            <a:spAutoFit/>
          </a:bodyPr>
          <a:lstStyle/>
          <a:p>
            <a:pPr algn="l">
              <a:spcAft>
                <a:spcPts val="500"/>
              </a:spcAft>
              <a:defRPr sz="2500" b="1">
                <a:solidFill>
                  <a:srgbClr val="172C45"/>
                </a:solidFill>
                <a:latin typeface="Arial"/>
              </a:defRPr>
            </a:pPr>
            <a:r>
              <a:t>Compare fairly</a:t>
            </a:r>
          </a:p>
        </p:txBody>
      </p:sp>
      <p:sp>
        <p:nvSpPr>
          <p:cNvPr id="17" name="TextBox 16"/>
          <p:cNvSpPr txBox="1"/>
          <p:nvPr/>
        </p:nvSpPr>
        <p:spPr>
          <a:xfrm>
            <a:off x="5715000" y="4361688"/>
            <a:ext cx="5486400" cy="457200"/>
          </a:xfrm>
          <a:prstGeom prst="rect">
            <a:avLst/>
          </a:prstGeom>
          <a:noFill/>
        </p:spPr>
        <p:txBody>
          <a:bodyPr wrap="square" lIns="9144" rIns="9144" tIns="0" bIns="0">
            <a:spAutoFit/>
          </a:bodyPr>
          <a:lstStyle/>
          <a:p>
            <a:pPr algn="l">
              <a:spcAft>
                <a:spcPts val="500"/>
              </a:spcAft>
              <a:defRPr sz="2100" b="0">
                <a:solidFill>
                  <a:srgbClr val="647282"/>
                </a:solidFill>
                <a:latin typeface="Arial"/>
              </a:defRPr>
            </a:pPr>
            <a:r>
              <a:t>Measure quality at matched compute</a:t>
            </a:r>
          </a:p>
        </p:txBody>
      </p:sp>
      <p:sp>
        <p:nvSpPr>
          <p:cNvPr id="18" name="Rounded Rectangle 17"/>
          <p:cNvSpPr/>
          <p:nvPr/>
        </p:nvSpPr>
        <p:spPr>
          <a:xfrm>
            <a:off x="822960" y="5532120"/>
            <a:ext cx="10561320" cy="640080"/>
          </a:xfrm>
          <a:prstGeom prst="roundRect">
            <a:avLst>
              <a:gd name="adj" fmla="val 8000"/>
            </a:avLst>
          </a:prstGeom>
          <a:solidFill>
            <a:srgbClr val="172C45"/>
          </a:solidFill>
          <a:ln>
            <a:solidFill>
              <a:srgbClr val="172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5715000"/>
            <a:ext cx="10195560" cy="320040"/>
          </a:xfrm>
          <a:prstGeom prst="rect">
            <a:avLst/>
          </a:prstGeom>
          <a:noFill/>
        </p:spPr>
        <p:txBody>
          <a:bodyPr wrap="square" lIns="9144" rIns="9144" tIns="0" bIns="0">
            <a:spAutoFit/>
          </a:bodyPr>
          <a:lstStyle/>
          <a:p>
            <a:pPr algn="ctr">
              <a:spcAft>
                <a:spcPts val="500"/>
              </a:spcAft>
              <a:defRPr sz="2100" b="1">
                <a:solidFill>
                  <a:srgbClr val="FFFFFF"/>
                </a:solidFill>
                <a:latin typeface="Arial"/>
              </a:defRPr>
            </a:pPr>
            <a:r>
              <a:t>Memory and repeated reads help. Lower energy alone is insufficient.</a:t>
            </a:r>
          </a:p>
        </p:txBody>
      </p:sp>
      <p:sp>
        <p:nvSpPr>
          <p:cNvPr id="20" name="TextBox 19"/>
          <p:cNvSpPr txBox="1"/>
          <p:nvPr/>
        </p:nvSpPr>
        <p:spPr>
          <a:xfrm>
            <a:off x="502920" y="6473952"/>
            <a:ext cx="10561320" cy="219456"/>
          </a:xfrm>
          <a:prstGeom prst="rect">
            <a:avLst/>
          </a:prstGeom>
          <a:noFill/>
        </p:spPr>
        <p:txBody>
          <a:bodyPr wrap="square" lIns="9144" rIns="9144" tIns="0" bIns="0">
            <a:spAutoFit/>
          </a:bodyPr>
          <a:lstStyle/>
          <a:p>
            <a:pPr algn="l">
              <a:spcAft>
                <a:spcPts val="500"/>
              </a:spcAft>
              <a:defRPr sz="1000" b="0">
                <a:solidFill>
                  <a:srgbClr val="647282"/>
                </a:solidFill>
                <a:latin typeface="Arial"/>
              </a:defRPr>
            </a:pPr>
            <a:r>
              <a:t>Research next steps; these are not completed general-language results. Questions welcome.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Rectangle 1"/>
          <p:cNvSpPr/>
          <p:nvPr/>
        </p:nvSpPr>
        <p:spPr>
          <a:xfrm>
            <a:off x="502920" y="402336"/>
            <a:ext cx="347472" cy="64008"/>
          </a:xfrm>
          <a:prstGeom prst="rect">
            <a:avLst/>
          </a:prstGeom>
          <a:solidFill>
            <a:srgbClr val="087E80"/>
          </a:solidFill>
          <a:ln>
            <a:solidFill>
              <a:srgbClr val="087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50976" y="310896"/>
            <a:ext cx="10058400" cy="274320"/>
          </a:xfrm>
          <a:prstGeom prst="rect">
            <a:avLst/>
          </a:prstGeom>
          <a:noFill/>
        </p:spPr>
        <p:txBody>
          <a:bodyPr wrap="square" lIns="9144" rIns="9144" tIns="0" bIns="0">
            <a:spAutoFit/>
          </a:bodyPr>
          <a:lstStyle/>
          <a:p>
            <a:pPr algn="l">
              <a:spcAft>
                <a:spcPts val="500"/>
              </a:spcAft>
              <a:defRPr sz="1100" b="1">
                <a:solidFill>
                  <a:srgbClr val="087E80"/>
                </a:solidFill>
                <a:latin typeface="Arial"/>
              </a:defRPr>
            </a:pPr>
            <a:r>
              <a:t>APPENDIX A · MATH</a:t>
            </a:r>
          </a:p>
        </p:txBody>
      </p:sp>
      <p:sp>
        <p:nvSpPr>
          <p:cNvPr id="4" name="TextBox 3"/>
          <p:cNvSpPr txBox="1"/>
          <p:nvPr/>
        </p:nvSpPr>
        <p:spPr>
          <a:xfrm>
            <a:off x="502920" y="841248"/>
            <a:ext cx="11155680" cy="841248"/>
          </a:xfrm>
          <a:prstGeom prst="rect">
            <a:avLst/>
          </a:prstGeom>
          <a:noFill/>
        </p:spPr>
        <p:txBody>
          <a:bodyPr wrap="square" lIns="9144" rIns="9144" tIns="0" bIns="0">
            <a:spAutoFit/>
          </a:bodyPr>
          <a:lstStyle/>
          <a:p>
            <a:pPr algn="l">
              <a:spcAft>
                <a:spcPts val="500"/>
              </a:spcAft>
              <a:defRPr sz="3200" b="1">
                <a:solidFill>
                  <a:srgbClr val="172C45"/>
                </a:solidFill>
                <a:latin typeface="Arial"/>
              </a:defRPr>
            </a:pPr>
            <a:r>
              <a:t>The within-read descent contract</a:t>
            </a:r>
          </a:p>
        </p:txBody>
      </p:sp>
      <p:sp>
        <p:nvSpPr>
          <p:cNvPr id="5" name="TextBox 4"/>
          <p:cNvSpPr txBox="1"/>
          <p:nvPr/>
        </p:nvSpPr>
        <p:spPr>
          <a:xfrm>
            <a:off x="521207" y="1783080"/>
            <a:ext cx="11064240" cy="502920"/>
          </a:xfrm>
          <a:prstGeom prst="rect">
            <a:avLst/>
          </a:prstGeom>
          <a:noFill/>
        </p:spPr>
        <p:txBody>
          <a:bodyPr wrap="square" lIns="9144" rIns="9144" tIns="0" bIns="0">
            <a:spAutoFit/>
          </a:bodyPr>
          <a:lstStyle/>
          <a:p>
            <a:pPr algn="l">
              <a:spcAft>
                <a:spcPts val="500"/>
              </a:spcAft>
              <a:defRPr sz="1800" b="0">
                <a:solidFill>
                  <a:srgbClr val="647282"/>
                </a:solidFill>
                <a:latin typeface="Arial"/>
              </a:defRPr>
            </a:pPr>
            <a:r>
              <a:t>For one read, the context-dependent coefficients stay fixed.</a:t>
            </a:r>
          </a:p>
        </p:txBody>
      </p:sp>
      <p:sp>
        <p:nvSpPr>
          <p:cNvPr id="6" name="TextBox 5"/>
          <p:cNvSpPr txBox="1"/>
          <p:nvPr/>
        </p:nvSpPr>
        <p:spPr>
          <a:xfrm>
            <a:off x="11091672" y="6428232"/>
            <a:ext cx="548640" cy="274320"/>
          </a:xfrm>
          <a:prstGeom prst="rect">
            <a:avLst/>
          </a:prstGeom>
          <a:noFill/>
        </p:spPr>
        <p:txBody>
          <a:bodyPr wrap="square" lIns="9144" rIns="9144" tIns="0" bIns="0">
            <a:spAutoFit/>
          </a:bodyPr>
          <a:lstStyle/>
          <a:p>
            <a:pPr algn="r">
              <a:spcAft>
                <a:spcPts val="500"/>
              </a:spcAft>
              <a:defRPr sz="1100" b="0">
                <a:solidFill>
                  <a:srgbClr val="647282"/>
                </a:solidFill>
                <a:latin typeface="Arial"/>
              </a:defRPr>
            </a:pPr>
            <a:r>
              <a:t>13</a:t>
            </a:r>
          </a:p>
        </p:txBody>
      </p:sp>
      <p:sp>
        <p:nvSpPr>
          <p:cNvPr id="7" name="TextBox 6"/>
          <p:cNvSpPr txBox="1"/>
          <p:nvPr/>
        </p:nvSpPr>
        <p:spPr>
          <a:xfrm>
            <a:off x="868680" y="2651760"/>
            <a:ext cx="10515600" cy="685800"/>
          </a:xfrm>
          <a:prstGeom prst="rect">
            <a:avLst/>
          </a:prstGeom>
          <a:noFill/>
        </p:spPr>
        <p:txBody>
          <a:bodyPr wrap="square" lIns="9144" rIns="9144" tIns="0" bIns="0">
            <a:spAutoFit/>
          </a:bodyPr>
          <a:lstStyle/>
          <a:p>
            <a:pPr algn="ctr">
              <a:spcAft>
                <a:spcPts val="500"/>
              </a:spcAft>
              <a:defRPr sz="3100" b="1">
                <a:solidFill>
                  <a:srgbClr val="172C45"/>
                </a:solidFill>
                <a:latin typeface="Arial"/>
              </a:defRPr>
            </a:pPr>
            <a:r>
              <a:t>E(δ) = ½ δᵀ P δ + Σ a_k cos(ω_kᵀδ + φ_k)</a:t>
            </a:r>
          </a:p>
        </p:txBody>
      </p:sp>
      <p:sp>
        <p:nvSpPr>
          <p:cNvPr id="8" name="TextBox 7"/>
          <p:cNvSpPr txBox="1"/>
          <p:nvPr/>
        </p:nvSpPr>
        <p:spPr>
          <a:xfrm>
            <a:off x="914400" y="3657600"/>
            <a:ext cx="10332720" cy="457200"/>
          </a:xfrm>
          <a:prstGeom prst="rect">
            <a:avLst/>
          </a:prstGeom>
          <a:noFill/>
        </p:spPr>
        <p:txBody>
          <a:bodyPr wrap="square" lIns="9144" rIns="9144" tIns="0" bIns="0">
            <a:spAutoFit/>
          </a:bodyPr>
          <a:lstStyle/>
          <a:p>
            <a:pPr algn="ctr">
              <a:spcAft>
                <a:spcPts val="500"/>
              </a:spcAft>
              <a:defRPr sz="2300" b="0">
                <a:solidFill>
                  <a:srgbClr val="087E80"/>
                </a:solidFill>
                <a:latin typeface="Arial"/>
              </a:defRPr>
            </a:pPr>
            <a:r>
              <a:t>δ = candidate − anchor       P is positive diagonal</a:t>
            </a:r>
          </a:p>
        </p:txBody>
      </p:sp>
      <p:sp>
        <p:nvSpPr>
          <p:cNvPr id="9" name="TextBox 8"/>
          <p:cNvSpPr txBox="1"/>
          <p:nvPr/>
        </p:nvSpPr>
        <p:spPr>
          <a:xfrm>
            <a:off x="896112" y="4617720"/>
            <a:ext cx="10424160" cy="594360"/>
          </a:xfrm>
          <a:prstGeom prst="rect">
            <a:avLst/>
          </a:prstGeom>
          <a:noFill/>
        </p:spPr>
        <p:txBody>
          <a:bodyPr wrap="square" lIns="9144" rIns="9144" tIns="0" bIns="0">
            <a:spAutoFit/>
          </a:bodyPr>
          <a:lstStyle/>
          <a:p>
            <a:pPr algn="ctr">
              <a:spcAft>
                <a:spcPts val="500"/>
              </a:spcAft>
              <a:defRPr sz="2700" b="1">
                <a:solidFill>
                  <a:srgbClr val="172C45"/>
                </a:solidFill>
                <a:latin typeface="Arial"/>
              </a:defRPr>
            </a:pPr>
            <a:r>
              <a:t>δ′ = δ − η ∇E(δ)       accept only if E(δ′) &lt; E(δ)</a:t>
            </a:r>
          </a:p>
        </p:txBody>
      </p:sp>
      <p:sp>
        <p:nvSpPr>
          <p:cNvPr id="10" name="TextBox 9"/>
          <p:cNvSpPr txBox="1"/>
          <p:nvPr/>
        </p:nvSpPr>
        <p:spPr>
          <a:xfrm>
            <a:off x="896112" y="5669280"/>
            <a:ext cx="10378440" cy="594360"/>
          </a:xfrm>
          <a:prstGeom prst="rect">
            <a:avLst/>
          </a:prstGeom>
          <a:noFill/>
        </p:spPr>
        <p:txBody>
          <a:bodyPr wrap="square" lIns="9144" rIns="9144" tIns="0" bIns="0">
            <a:spAutoFit/>
          </a:bodyPr>
          <a:lstStyle/>
          <a:p>
            <a:pPr algn="l">
              <a:spcAft>
                <a:spcPts val="500"/>
              </a:spcAft>
              <a:defRPr sz="2000" b="1">
                <a:solidFill>
                  <a:srgbClr val="D86A32"/>
                </a:solidFill>
                <a:latin typeface="Arial"/>
              </a:defRPr>
            </a:pPr>
            <a:r>
              <a:t>A new memory read changes the anchor and amplitudes. Do not compare energies across reads.</a:t>
            </a:r>
          </a:p>
        </p:txBody>
      </p:sp>
      <p:sp>
        <p:nvSpPr>
          <p:cNvPr id="11" name="TextBox 10"/>
          <p:cNvSpPr txBox="1"/>
          <p:nvPr/>
        </p:nvSpPr>
        <p:spPr>
          <a:xfrm>
            <a:off x="502920" y="6473952"/>
            <a:ext cx="10561320" cy="219456"/>
          </a:xfrm>
          <a:prstGeom prst="rect">
            <a:avLst/>
          </a:prstGeom>
          <a:noFill/>
        </p:spPr>
        <p:txBody>
          <a:bodyPr wrap="square" lIns="9144" rIns="9144" tIns="0" bIns="0">
            <a:spAutoFit/>
          </a:bodyPr>
          <a:lstStyle/>
          <a:p>
            <a:pPr algn="l">
              <a:spcAft>
                <a:spcPts val="500"/>
              </a:spcAft>
              <a:defRPr sz="1000" b="0">
                <a:solidFill>
                  <a:srgbClr val="647282"/>
                </a:solidFill>
                <a:latin typeface="Arial"/>
              </a:defRPr>
            </a:pPr>
            <a:r>
              <a:t>Formula for the new structured head. The earlier language-model core also has quadratic compatibility terms.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Rectangle 1"/>
          <p:cNvSpPr/>
          <p:nvPr/>
        </p:nvSpPr>
        <p:spPr>
          <a:xfrm>
            <a:off x="502920" y="402336"/>
            <a:ext cx="347472" cy="64008"/>
          </a:xfrm>
          <a:prstGeom prst="rect">
            <a:avLst/>
          </a:prstGeom>
          <a:solidFill>
            <a:srgbClr val="087E80"/>
          </a:solidFill>
          <a:ln>
            <a:solidFill>
              <a:srgbClr val="087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50976" y="310896"/>
            <a:ext cx="10058400" cy="274320"/>
          </a:xfrm>
          <a:prstGeom prst="rect">
            <a:avLst/>
          </a:prstGeom>
          <a:noFill/>
        </p:spPr>
        <p:txBody>
          <a:bodyPr wrap="square" lIns="9144" rIns="9144" tIns="0" bIns="0">
            <a:spAutoFit/>
          </a:bodyPr>
          <a:lstStyle/>
          <a:p>
            <a:pPr algn="l">
              <a:spcAft>
                <a:spcPts val="500"/>
              </a:spcAft>
              <a:defRPr sz="1100" b="1">
                <a:solidFill>
                  <a:srgbClr val="087E80"/>
                </a:solidFill>
                <a:latin typeface="Arial"/>
              </a:defRPr>
            </a:pPr>
            <a:r>
              <a:t>APPENDIX B · COST AND ABLATION</a:t>
            </a:r>
          </a:p>
        </p:txBody>
      </p:sp>
      <p:sp>
        <p:nvSpPr>
          <p:cNvPr id="4" name="TextBox 3"/>
          <p:cNvSpPr txBox="1"/>
          <p:nvPr/>
        </p:nvSpPr>
        <p:spPr>
          <a:xfrm>
            <a:off x="502920" y="841248"/>
            <a:ext cx="11155680" cy="841248"/>
          </a:xfrm>
          <a:prstGeom prst="rect">
            <a:avLst/>
          </a:prstGeom>
          <a:noFill/>
        </p:spPr>
        <p:txBody>
          <a:bodyPr wrap="square" lIns="9144" rIns="9144" tIns="0" bIns="0">
            <a:spAutoFit/>
          </a:bodyPr>
          <a:lstStyle/>
          <a:p>
            <a:pPr algn="l">
              <a:spcAft>
                <a:spcPts val="500"/>
              </a:spcAft>
              <a:defRPr sz="3200" b="1">
                <a:solidFill>
                  <a:srgbClr val="172C45"/>
                </a:solidFill>
                <a:latin typeface="Arial"/>
              </a:defRPr>
            </a:pPr>
            <a:r>
              <a:t>The plain read loop is sufficient on this test</a:t>
            </a:r>
          </a:p>
        </p:txBody>
      </p:sp>
      <p:sp>
        <p:nvSpPr>
          <p:cNvPr id="5" name="TextBox 4"/>
          <p:cNvSpPr txBox="1"/>
          <p:nvPr/>
        </p:nvSpPr>
        <p:spPr>
          <a:xfrm>
            <a:off x="521207" y="1783080"/>
            <a:ext cx="11064240" cy="502920"/>
          </a:xfrm>
          <a:prstGeom prst="rect">
            <a:avLst/>
          </a:prstGeom>
          <a:noFill/>
        </p:spPr>
        <p:txBody>
          <a:bodyPr wrap="square" lIns="9144" rIns="9144" tIns="0" bIns="0">
            <a:spAutoFit/>
          </a:bodyPr>
          <a:lstStyle/>
          <a:p>
            <a:pPr algn="l">
              <a:spcAft>
                <a:spcPts val="500"/>
              </a:spcAft>
              <a:defRPr sz="1800" b="0">
                <a:solidFill>
                  <a:srgbClr val="647282"/>
                </a:solidFill>
                <a:latin typeface="Arial"/>
              </a:defRPr>
            </a:pPr>
            <a:r>
              <a:t>All arms: three seeds, identical 800-update batches and supervision.</a:t>
            </a:r>
          </a:p>
        </p:txBody>
      </p:sp>
      <p:sp>
        <p:nvSpPr>
          <p:cNvPr id="6" name="TextBox 5"/>
          <p:cNvSpPr txBox="1"/>
          <p:nvPr/>
        </p:nvSpPr>
        <p:spPr>
          <a:xfrm>
            <a:off x="11091672" y="6428232"/>
            <a:ext cx="548640" cy="274320"/>
          </a:xfrm>
          <a:prstGeom prst="rect">
            <a:avLst/>
          </a:prstGeom>
          <a:noFill/>
        </p:spPr>
        <p:txBody>
          <a:bodyPr wrap="square" lIns="9144" rIns="9144" tIns="0" bIns="0">
            <a:spAutoFit/>
          </a:bodyPr>
          <a:lstStyle/>
          <a:p>
            <a:pPr algn="r">
              <a:spcAft>
                <a:spcPts val="500"/>
              </a:spcAft>
              <a:defRPr sz="1100" b="0">
                <a:solidFill>
                  <a:srgbClr val="647282"/>
                </a:solidFill>
                <a:latin typeface="Arial"/>
              </a:defRPr>
            </a:pPr>
            <a:r>
              <a:t>14</a:t>
            </a:r>
          </a:p>
        </p:txBody>
      </p:sp>
      <p:sp>
        <p:nvSpPr>
          <p:cNvPr id="7" name="TextBox 6"/>
          <p:cNvSpPr txBox="1"/>
          <p:nvPr/>
        </p:nvSpPr>
        <p:spPr>
          <a:xfrm>
            <a:off x="822960" y="2514600"/>
            <a:ext cx="5074920" cy="411480"/>
          </a:xfrm>
          <a:prstGeom prst="rect">
            <a:avLst/>
          </a:prstGeom>
          <a:noFill/>
        </p:spPr>
        <p:txBody>
          <a:bodyPr wrap="square" lIns="9144" rIns="9144" tIns="0" bIns="0">
            <a:spAutoFit/>
          </a:bodyPr>
          <a:lstStyle/>
          <a:p>
            <a:pPr algn="l">
              <a:spcAft>
                <a:spcPts val="500"/>
              </a:spcAft>
              <a:defRPr sz="1800" b="1">
                <a:solidFill>
                  <a:srgbClr val="087E80"/>
                </a:solidFill>
                <a:latin typeface="Arial"/>
              </a:defRPr>
            </a:pPr>
            <a:r>
              <a:t>Arm</a:t>
            </a:r>
          </a:p>
        </p:txBody>
      </p:sp>
      <p:sp>
        <p:nvSpPr>
          <p:cNvPr id="8" name="TextBox 7"/>
          <p:cNvSpPr txBox="1"/>
          <p:nvPr/>
        </p:nvSpPr>
        <p:spPr>
          <a:xfrm>
            <a:off x="5486400" y="2514600"/>
            <a:ext cx="2743200" cy="411480"/>
          </a:xfrm>
          <a:prstGeom prst="rect">
            <a:avLst/>
          </a:prstGeom>
          <a:noFill/>
        </p:spPr>
        <p:txBody>
          <a:bodyPr wrap="square" lIns="9144" rIns="9144" tIns="0" bIns="0">
            <a:spAutoFit/>
          </a:bodyPr>
          <a:lstStyle/>
          <a:p>
            <a:pPr algn="l">
              <a:spcAft>
                <a:spcPts val="500"/>
              </a:spcAft>
              <a:defRPr sz="1800" b="1">
                <a:solidFill>
                  <a:srgbClr val="087E80"/>
                </a:solidFill>
                <a:latin typeface="Arial"/>
              </a:defRPr>
            </a:pPr>
            <a:r>
              <a:t>Active parameters</a:t>
            </a:r>
          </a:p>
        </p:txBody>
      </p:sp>
      <p:sp>
        <p:nvSpPr>
          <p:cNvPr id="9" name="TextBox 8"/>
          <p:cNvSpPr txBox="1"/>
          <p:nvPr/>
        </p:nvSpPr>
        <p:spPr>
          <a:xfrm>
            <a:off x="8366760" y="2514600"/>
            <a:ext cx="3017520" cy="411480"/>
          </a:xfrm>
          <a:prstGeom prst="rect">
            <a:avLst/>
          </a:prstGeom>
          <a:noFill/>
        </p:spPr>
        <p:txBody>
          <a:bodyPr wrap="square" lIns="9144" rIns="9144" tIns="0" bIns="0">
            <a:spAutoFit/>
          </a:bodyPr>
          <a:lstStyle/>
          <a:p>
            <a:pPr algn="l">
              <a:spcAft>
                <a:spcPts val="500"/>
              </a:spcAft>
              <a:defRPr sz="1800" b="1">
                <a:solidFill>
                  <a:srgbClr val="087E80"/>
                </a:solidFill>
                <a:latin typeface="Arial"/>
              </a:defRPr>
            </a:pPr>
            <a:r>
              <a:t>Training CPU / fit</a:t>
            </a:r>
          </a:p>
        </p:txBody>
      </p:sp>
      <p:sp>
        <p:nvSpPr>
          <p:cNvPr id="10" name="TextBox 9"/>
          <p:cNvSpPr txBox="1"/>
          <p:nvPr/>
        </p:nvSpPr>
        <p:spPr>
          <a:xfrm>
            <a:off x="822960" y="3246120"/>
            <a:ext cx="4754880" cy="502920"/>
          </a:xfrm>
          <a:prstGeom prst="rect">
            <a:avLst/>
          </a:prstGeom>
          <a:noFill/>
        </p:spPr>
        <p:txBody>
          <a:bodyPr wrap="square" lIns="9144" rIns="9144" tIns="0" bIns="0">
            <a:spAutoFit/>
          </a:bodyPr>
          <a:lstStyle/>
          <a:p>
            <a:pPr algn="l">
              <a:spcAft>
                <a:spcPts val="500"/>
              </a:spcAft>
              <a:defRPr sz="2100" b="0">
                <a:solidFill>
                  <a:srgbClr val="172C45"/>
                </a:solidFill>
                <a:latin typeface="Arial"/>
              </a:defRPr>
            </a:pPr>
            <a:r>
              <a:t>Fixed query + energy</a:t>
            </a:r>
          </a:p>
        </p:txBody>
      </p:sp>
      <p:sp>
        <p:nvSpPr>
          <p:cNvPr id="11" name="TextBox 10"/>
          <p:cNvSpPr txBox="1"/>
          <p:nvPr/>
        </p:nvSpPr>
        <p:spPr>
          <a:xfrm>
            <a:off x="5486400" y="3246120"/>
            <a:ext cx="2560320" cy="457200"/>
          </a:xfrm>
          <a:prstGeom prst="rect">
            <a:avLst/>
          </a:prstGeom>
          <a:noFill/>
        </p:spPr>
        <p:txBody>
          <a:bodyPr wrap="square" lIns="9144" rIns="9144" tIns="0" bIns="0">
            <a:spAutoFit/>
          </a:bodyPr>
          <a:lstStyle/>
          <a:p>
            <a:pPr algn="l">
              <a:spcAft>
                <a:spcPts val="500"/>
              </a:spcAft>
              <a:defRPr sz="2200" b="1">
                <a:solidFill>
                  <a:srgbClr val="172C45"/>
                </a:solidFill>
                <a:latin typeface="Arial"/>
              </a:defRPr>
            </a:pPr>
            <a:r>
              <a:t>68,502</a:t>
            </a:r>
          </a:p>
        </p:txBody>
      </p:sp>
      <p:sp>
        <p:nvSpPr>
          <p:cNvPr id="12" name="TextBox 11"/>
          <p:cNvSpPr txBox="1"/>
          <p:nvPr/>
        </p:nvSpPr>
        <p:spPr>
          <a:xfrm>
            <a:off x="8366760" y="3246120"/>
            <a:ext cx="2834640" cy="457200"/>
          </a:xfrm>
          <a:prstGeom prst="rect">
            <a:avLst/>
          </a:prstGeom>
          <a:noFill/>
        </p:spPr>
        <p:txBody>
          <a:bodyPr wrap="square" lIns="9144" rIns="9144" tIns="0" bIns="0">
            <a:spAutoFit/>
          </a:bodyPr>
          <a:lstStyle/>
          <a:p>
            <a:pPr algn="l">
              <a:spcAft>
                <a:spcPts val="500"/>
              </a:spcAft>
              <a:defRPr sz="2200" b="1">
                <a:solidFill>
                  <a:srgbClr val="172C45"/>
                </a:solidFill>
                <a:latin typeface="Arial"/>
              </a:defRPr>
            </a:pPr>
            <a:r>
              <a:t>38.3 s</a:t>
            </a:r>
          </a:p>
        </p:txBody>
      </p:sp>
      <p:sp>
        <p:nvSpPr>
          <p:cNvPr id="13" name="TextBox 12"/>
          <p:cNvSpPr txBox="1"/>
          <p:nvPr/>
        </p:nvSpPr>
        <p:spPr>
          <a:xfrm>
            <a:off x="822960" y="4069080"/>
            <a:ext cx="4754880" cy="502920"/>
          </a:xfrm>
          <a:prstGeom prst="rect">
            <a:avLst/>
          </a:prstGeom>
          <a:noFill/>
        </p:spPr>
        <p:txBody>
          <a:bodyPr wrap="square" lIns="9144" rIns="9144" tIns="0" bIns="0">
            <a:spAutoFit/>
          </a:bodyPr>
          <a:lstStyle/>
          <a:p>
            <a:pPr algn="l">
              <a:spcAft>
                <a:spcPts val="500"/>
              </a:spcAft>
              <a:defRPr sz="2100" b="0">
                <a:solidFill>
                  <a:srgbClr val="172C45"/>
                </a:solidFill>
                <a:latin typeface="Arial"/>
              </a:defRPr>
            </a:pPr>
            <a:r>
              <a:t>Repeated reads + energy</a:t>
            </a:r>
          </a:p>
        </p:txBody>
      </p:sp>
      <p:sp>
        <p:nvSpPr>
          <p:cNvPr id="14" name="TextBox 13"/>
          <p:cNvSpPr txBox="1"/>
          <p:nvPr/>
        </p:nvSpPr>
        <p:spPr>
          <a:xfrm>
            <a:off x="5486400" y="4069080"/>
            <a:ext cx="2560320" cy="457200"/>
          </a:xfrm>
          <a:prstGeom prst="rect">
            <a:avLst/>
          </a:prstGeom>
          <a:noFill/>
        </p:spPr>
        <p:txBody>
          <a:bodyPr wrap="square" lIns="9144" rIns="9144" tIns="0" bIns="0">
            <a:spAutoFit/>
          </a:bodyPr>
          <a:lstStyle/>
          <a:p>
            <a:pPr algn="l">
              <a:spcAft>
                <a:spcPts val="500"/>
              </a:spcAft>
              <a:defRPr sz="2200" b="1">
                <a:solidFill>
                  <a:srgbClr val="172C45"/>
                </a:solidFill>
                <a:latin typeface="Arial"/>
              </a:defRPr>
            </a:pPr>
            <a:r>
              <a:t>68,502</a:t>
            </a:r>
          </a:p>
        </p:txBody>
      </p:sp>
      <p:sp>
        <p:nvSpPr>
          <p:cNvPr id="15" name="TextBox 14"/>
          <p:cNvSpPr txBox="1"/>
          <p:nvPr/>
        </p:nvSpPr>
        <p:spPr>
          <a:xfrm>
            <a:off x="8366760" y="4069080"/>
            <a:ext cx="2834640" cy="457200"/>
          </a:xfrm>
          <a:prstGeom prst="rect">
            <a:avLst/>
          </a:prstGeom>
          <a:noFill/>
        </p:spPr>
        <p:txBody>
          <a:bodyPr wrap="square" lIns="9144" rIns="9144" tIns="0" bIns="0">
            <a:spAutoFit/>
          </a:bodyPr>
          <a:lstStyle/>
          <a:p>
            <a:pPr algn="l">
              <a:spcAft>
                <a:spcPts val="500"/>
              </a:spcAft>
              <a:defRPr sz="2200" b="1">
                <a:solidFill>
                  <a:srgbClr val="172C45"/>
                </a:solidFill>
                <a:latin typeface="Arial"/>
              </a:defRPr>
            </a:pPr>
            <a:r>
              <a:t>31.5 s</a:t>
            </a:r>
          </a:p>
        </p:txBody>
      </p:sp>
      <p:sp>
        <p:nvSpPr>
          <p:cNvPr id="16" name="TextBox 15"/>
          <p:cNvSpPr txBox="1"/>
          <p:nvPr/>
        </p:nvSpPr>
        <p:spPr>
          <a:xfrm>
            <a:off x="822960" y="4892040"/>
            <a:ext cx="4754880" cy="502920"/>
          </a:xfrm>
          <a:prstGeom prst="rect">
            <a:avLst/>
          </a:prstGeom>
          <a:noFill/>
        </p:spPr>
        <p:txBody>
          <a:bodyPr wrap="square" lIns="9144" rIns="9144" tIns="0" bIns="0">
            <a:spAutoFit/>
          </a:bodyPr>
          <a:lstStyle/>
          <a:p>
            <a:pPr algn="l">
              <a:spcAft>
                <a:spcPts val="500"/>
              </a:spcAft>
              <a:defRPr sz="2100" b="0">
                <a:solidFill>
                  <a:srgbClr val="172C45"/>
                </a:solidFill>
                <a:latin typeface="Arial"/>
              </a:defRPr>
            </a:pPr>
            <a:r>
              <a:t>Repeated reads, zero energy rounds</a:t>
            </a:r>
          </a:p>
        </p:txBody>
      </p:sp>
      <p:sp>
        <p:nvSpPr>
          <p:cNvPr id="17" name="TextBox 16"/>
          <p:cNvSpPr txBox="1"/>
          <p:nvPr/>
        </p:nvSpPr>
        <p:spPr>
          <a:xfrm>
            <a:off x="5486400" y="4892040"/>
            <a:ext cx="2560320" cy="457200"/>
          </a:xfrm>
          <a:prstGeom prst="rect">
            <a:avLst/>
          </a:prstGeom>
          <a:noFill/>
        </p:spPr>
        <p:txBody>
          <a:bodyPr wrap="square" lIns="9144" rIns="9144" tIns="0" bIns="0">
            <a:spAutoFit/>
          </a:bodyPr>
          <a:lstStyle/>
          <a:p>
            <a:pPr algn="l">
              <a:spcAft>
                <a:spcPts val="500"/>
              </a:spcAft>
              <a:defRPr sz="2200" b="1">
                <a:solidFill>
                  <a:srgbClr val="172C45"/>
                </a:solidFill>
                <a:latin typeface="Arial"/>
              </a:defRPr>
            </a:pPr>
            <a:r>
              <a:t>60,950</a:t>
            </a:r>
          </a:p>
        </p:txBody>
      </p:sp>
      <p:sp>
        <p:nvSpPr>
          <p:cNvPr id="18" name="TextBox 17"/>
          <p:cNvSpPr txBox="1"/>
          <p:nvPr/>
        </p:nvSpPr>
        <p:spPr>
          <a:xfrm>
            <a:off x="8366760" y="4892040"/>
            <a:ext cx="2834640" cy="457200"/>
          </a:xfrm>
          <a:prstGeom prst="rect">
            <a:avLst/>
          </a:prstGeom>
          <a:noFill/>
        </p:spPr>
        <p:txBody>
          <a:bodyPr wrap="square" lIns="9144" rIns="9144" tIns="0" bIns="0">
            <a:spAutoFit/>
          </a:bodyPr>
          <a:lstStyle/>
          <a:p>
            <a:pPr algn="l">
              <a:spcAft>
                <a:spcPts val="500"/>
              </a:spcAft>
              <a:defRPr sz="2200" b="1">
                <a:solidFill>
                  <a:srgbClr val="172C45"/>
                </a:solidFill>
                <a:latin typeface="Arial"/>
              </a:defRPr>
            </a:pPr>
            <a:r>
              <a:t>22.5 s</a:t>
            </a:r>
          </a:p>
        </p:txBody>
      </p:sp>
      <p:sp>
        <p:nvSpPr>
          <p:cNvPr id="19" name="TextBox 18"/>
          <p:cNvSpPr txBox="1"/>
          <p:nvPr/>
        </p:nvSpPr>
        <p:spPr>
          <a:xfrm>
            <a:off x="868680" y="5760720"/>
            <a:ext cx="10424160" cy="457200"/>
          </a:xfrm>
          <a:prstGeom prst="rect">
            <a:avLst/>
          </a:prstGeom>
          <a:noFill/>
        </p:spPr>
        <p:txBody>
          <a:bodyPr wrap="square" lIns="9144" rIns="9144" tIns="0" bIns="0">
            <a:spAutoFit/>
          </a:bodyPr>
          <a:lstStyle/>
          <a:p>
            <a:pPr algn="l">
              <a:spcAft>
                <a:spcPts val="500"/>
              </a:spcAft>
              <a:defRPr sz="2100" b="1">
                <a:solidFill>
                  <a:srgbClr val="D86A32"/>
                </a:solidFill>
                <a:latin typeface="Arial"/>
              </a:defRPr>
            </a:pPr>
            <a:r>
              <a:t>Frozen intervention: disable energy → 100%; freeze queries → 33.3%.</a:t>
            </a:r>
          </a:p>
        </p:txBody>
      </p:sp>
      <p:sp>
        <p:nvSpPr>
          <p:cNvPr id="20" name="TextBox 19"/>
          <p:cNvSpPr txBox="1"/>
          <p:nvPr/>
        </p:nvSpPr>
        <p:spPr>
          <a:xfrm>
            <a:off x="502920" y="6473952"/>
            <a:ext cx="10561320" cy="219456"/>
          </a:xfrm>
          <a:prstGeom prst="rect">
            <a:avLst/>
          </a:prstGeom>
          <a:noFill/>
        </p:spPr>
        <p:txBody>
          <a:bodyPr wrap="square" lIns="9144" rIns="9144" tIns="0" bIns="0">
            <a:spAutoFit/>
          </a:bodyPr>
          <a:lstStyle/>
          <a:p>
            <a:pPr algn="l">
              <a:spcAft>
                <a:spcPts val="500"/>
              </a:spcAft>
              <a:defRPr sz="1000" b="0">
                <a:solidFill>
                  <a:srgbClr val="647282"/>
                </a:solidFill>
                <a:latin typeface="Arial"/>
              </a:defRPr>
            </a:pPr>
            <a:r>
              <a:t>Single-thread process time on a shared CPU host, not a GPU/FLOP comparison. Setup, validation and I/O excluded from fit timing.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Rectangle 1"/>
          <p:cNvSpPr/>
          <p:nvPr/>
        </p:nvSpPr>
        <p:spPr>
          <a:xfrm>
            <a:off x="502920" y="402336"/>
            <a:ext cx="347472" cy="64008"/>
          </a:xfrm>
          <a:prstGeom prst="rect">
            <a:avLst/>
          </a:prstGeom>
          <a:solidFill>
            <a:srgbClr val="087E80"/>
          </a:solidFill>
          <a:ln>
            <a:solidFill>
              <a:srgbClr val="087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50976" y="310896"/>
            <a:ext cx="10058400" cy="274320"/>
          </a:xfrm>
          <a:prstGeom prst="rect">
            <a:avLst/>
          </a:prstGeom>
          <a:noFill/>
        </p:spPr>
        <p:txBody>
          <a:bodyPr wrap="square" lIns="9144" rIns="9144" tIns="0" bIns="0">
            <a:spAutoFit/>
          </a:bodyPr>
          <a:lstStyle/>
          <a:p>
            <a:pPr algn="l">
              <a:spcAft>
                <a:spcPts val="500"/>
              </a:spcAft>
              <a:defRPr sz="1100" b="1">
                <a:solidFill>
                  <a:srgbClr val="087E80"/>
                </a:solidFill>
                <a:latin typeface="Arial"/>
              </a:defRPr>
            </a:pPr>
            <a:r>
              <a:t>APPENDIX C · REFERENCES</a:t>
            </a:r>
          </a:p>
        </p:txBody>
      </p:sp>
      <p:sp>
        <p:nvSpPr>
          <p:cNvPr id="4" name="TextBox 3"/>
          <p:cNvSpPr txBox="1"/>
          <p:nvPr/>
        </p:nvSpPr>
        <p:spPr>
          <a:xfrm>
            <a:off x="502920" y="841248"/>
            <a:ext cx="11155680" cy="841248"/>
          </a:xfrm>
          <a:prstGeom prst="rect">
            <a:avLst/>
          </a:prstGeom>
          <a:noFill/>
        </p:spPr>
        <p:txBody>
          <a:bodyPr wrap="square" lIns="9144" rIns="9144" tIns="0" bIns="0">
            <a:spAutoFit/>
          </a:bodyPr>
          <a:lstStyle/>
          <a:p>
            <a:pPr algn="l">
              <a:spcAft>
                <a:spcPts val="500"/>
              </a:spcAft>
              <a:defRPr sz="3200" b="1">
                <a:solidFill>
                  <a:srgbClr val="172C45"/>
                </a:solidFill>
                <a:latin typeface="Arial"/>
              </a:defRPr>
            </a:pPr>
            <a:r>
              <a:t>Ideas are credited; project results are local</a:t>
            </a:r>
          </a:p>
        </p:txBody>
      </p:sp>
      <p:sp>
        <p:nvSpPr>
          <p:cNvPr id="5" name="TextBox 4"/>
          <p:cNvSpPr txBox="1"/>
          <p:nvPr/>
        </p:nvSpPr>
        <p:spPr>
          <a:xfrm>
            <a:off x="11091672" y="6428232"/>
            <a:ext cx="548640" cy="274320"/>
          </a:xfrm>
          <a:prstGeom prst="rect">
            <a:avLst/>
          </a:prstGeom>
          <a:noFill/>
        </p:spPr>
        <p:txBody>
          <a:bodyPr wrap="square" lIns="9144" rIns="9144" tIns="0" bIns="0">
            <a:spAutoFit/>
          </a:bodyPr>
          <a:lstStyle/>
          <a:p>
            <a:pPr algn="r">
              <a:spcAft>
                <a:spcPts val="500"/>
              </a:spcAft>
              <a:defRPr sz="1100" b="0">
                <a:solidFill>
                  <a:srgbClr val="647282"/>
                </a:solidFill>
                <a:latin typeface="Arial"/>
              </a:defRPr>
            </a:pPr>
            <a:r>
              <a:t>15</a:t>
            </a:r>
          </a:p>
        </p:txBody>
      </p:sp>
      <p:sp>
        <p:nvSpPr>
          <p:cNvPr id="6" name="TextBox 5"/>
          <p:cNvSpPr txBox="1"/>
          <p:nvPr/>
        </p:nvSpPr>
        <p:spPr>
          <a:xfrm>
            <a:off x="777240" y="2395728"/>
            <a:ext cx="10652760" cy="502920"/>
          </a:xfrm>
          <a:prstGeom prst="rect">
            <a:avLst/>
          </a:prstGeom>
          <a:noFill/>
        </p:spPr>
        <p:txBody>
          <a:bodyPr wrap="square" lIns="9144" rIns="9144" tIns="0" bIns="0">
            <a:spAutoFit/>
          </a:bodyPr>
          <a:lstStyle/>
          <a:p>
            <a:pPr algn="l">
              <a:spcAft>
                <a:spcPts val="500"/>
              </a:spcAft>
              <a:defRPr sz="2100" b="0">
                <a:solidFill>
                  <a:srgbClr val="172C45"/>
                </a:solidFill>
                <a:latin typeface="Arial"/>
              </a:defRPr>
            </a:pPr>
            <a:r>
              <a:rPr>
                <a:hlinkClick r:id="rId2"/>
              </a:rPr>
              <a:t>Vaswani et al. · Attention Is All You Need · 2017</a:t>
            </a:r>
          </a:p>
        </p:txBody>
      </p:sp>
      <p:sp>
        <p:nvSpPr>
          <p:cNvPr id="7" name="TextBox 6"/>
          <p:cNvSpPr txBox="1"/>
          <p:nvPr/>
        </p:nvSpPr>
        <p:spPr>
          <a:xfrm>
            <a:off x="777240" y="3054096"/>
            <a:ext cx="10652760" cy="502920"/>
          </a:xfrm>
          <a:prstGeom prst="rect">
            <a:avLst/>
          </a:prstGeom>
          <a:noFill/>
        </p:spPr>
        <p:txBody>
          <a:bodyPr wrap="square" lIns="9144" rIns="9144" tIns="0" bIns="0">
            <a:spAutoFit/>
          </a:bodyPr>
          <a:lstStyle/>
          <a:p>
            <a:pPr algn="l">
              <a:spcAft>
                <a:spcPts val="500"/>
              </a:spcAft>
              <a:defRPr sz="2100" b="0">
                <a:solidFill>
                  <a:srgbClr val="172C45"/>
                </a:solidFill>
                <a:latin typeface="Arial"/>
              </a:defRPr>
            </a:pPr>
            <a:r>
              <a:rPr>
                <a:hlinkClick r:id="rId3"/>
              </a:rPr>
              <a:t>Hoover et al. · Energy Transformer · 2023</a:t>
            </a:r>
          </a:p>
        </p:txBody>
      </p:sp>
      <p:sp>
        <p:nvSpPr>
          <p:cNvPr id="8" name="TextBox 7"/>
          <p:cNvSpPr txBox="1"/>
          <p:nvPr/>
        </p:nvSpPr>
        <p:spPr>
          <a:xfrm>
            <a:off x="777240" y="3712464"/>
            <a:ext cx="10652760" cy="502920"/>
          </a:xfrm>
          <a:prstGeom prst="rect">
            <a:avLst/>
          </a:prstGeom>
          <a:noFill/>
        </p:spPr>
        <p:txBody>
          <a:bodyPr wrap="square" lIns="9144" rIns="9144" tIns="0" bIns="0">
            <a:spAutoFit/>
          </a:bodyPr>
          <a:lstStyle/>
          <a:p>
            <a:pPr algn="l">
              <a:spcAft>
                <a:spcPts val="500"/>
              </a:spcAft>
              <a:defRPr sz="2100" b="0">
                <a:solidFill>
                  <a:srgbClr val="172C45"/>
                </a:solidFill>
                <a:latin typeface="Arial"/>
              </a:defRPr>
            </a:pPr>
            <a:r>
              <a:rPr>
                <a:hlinkClick r:id="rId4"/>
              </a:rPr>
              <a:t>Yang et al. · Parallelizing Linear Transformers with the Delta Rule · 2024</a:t>
            </a:r>
          </a:p>
        </p:txBody>
      </p:sp>
      <p:sp>
        <p:nvSpPr>
          <p:cNvPr id="9" name="TextBox 8"/>
          <p:cNvSpPr txBox="1"/>
          <p:nvPr/>
        </p:nvSpPr>
        <p:spPr>
          <a:xfrm>
            <a:off x="777240" y="4617720"/>
            <a:ext cx="10058400" cy="411480"/>
          </a:xfrm>
          <a:prstGeom prst="rect">
            <a:avLst/>
          </a:prstGeom>
          <a:noFill/>
        </p:spPr>
        <p:txBody>
          <a:bodyPr wrap="square" lIns="9144" rIns="9144" tIns="0" bIns="0">
            <a:spAutoFit/>
          </a:bodyPr>
          <a:lstStyle/>
          <a:p>
            <a:pPr algn="l">
              <a:spcAft>
                <a:spcPts val="500"/>
              </a:spcAft>
              <a:defRPr sz="2000" b="1">
                <a:solidFill>
                  <a:srgbClr val="087E80"/>
                </a:solidFill>
                <a:latin typeface="Arial"/>
              </a:defRPr>
            </a:pPr>
            <a:r>
              <a:t>Project evidence</a:t>
            </a:r>
          </a:p>
        </p:txBody>
      </p:sp>
      <p:sp>
        <p:nvSpPr>
          <p:cNvPr id="10" name="TextBox 9"/>
          <p:cNvSpPr txBox="1"/>
          <p:nvPr/>
        </p:nvSpPr>
        <p:spPr>
          <a:xfrm>
            <a:off x="777240" y="5193792"/>
            <a:ext cx="10698480" cy="868680"/>
          </a:xfrm>
          <a:prstGeom prst="rect">
            <a:avLst/>
          </a:prstGeom>
          <a:noFill/>
        </p:spPr>
        <p:txBody>
          <a:bodyPr wrap="square" lIns="9144" rIns="9144" tIns="0" bIns="0">
            <a:spAutoFit/>
          </a:bodyPr>
          <a:lstStyle/>
          <a:p>
            <a:pPr algn="l">
              <a:spcAft>
                <a:spcPts val="500"/>
              </a:spcAft>
              <a:defRPr sz="2100" b="0">
                <a:solidFill>
                  <a:srgbClr val="172C45"/>
                </a:solidFill>
                <a:latin typeface="Arial"/>
              </a:defRPr>
            </a:pPr>
            <a:r>
              <a:t>Architecture, memory and numerical audits · October 22</a:t>
            </a:r>
          </a:p>
          <a:p>
            <a:pPr algn="l">
              <a:spcAft>
                <a:spcPts val="500"/>
              </a:spcAft>
              <a:defRPr sz="2100" b="0">
                <a:solidFill>
                  <a:srgbClr val="172C45"/>
                </a:solidFill>
                <a:latin typeface="Arial"/>
              </a:defRPr>
            </a:pPr>
            <a:r>
              <a:t>Learned rereading, controls and raw outputs · October 26</a:t>
            </a:r>
          </a:p>
        </p:txBody>
      </p:sp>
      <p:sp>
        <p:nvSpPr>
          <p:cNvPr id="11" name="TextBox 10"/>
          <p:cNvSpPr txBox="1"/>
          <p:nvPr/>
        </p:nvSpPr>
        <p:spPr>
          <a:xfrm>
            <a:off x="502920" y="6473952"/>
            <a:ext cx="10561320" cy="219456"/>
          </a:xfrm>
          <a:prstGeom prst="rect">
            <a:avLst/>
          </a:prstGeom>
          <a:noFill/>
        </p:spPr>
        <p:txBody>
          <a:bodyPr wrap="square" lIns="9144" rIns="9144" tIns="0" bIns="0">
            <a:spAutoFit/>
          </a:bodyPr>
          <a:lstStyle/>
          <a:p>
            <a:pPr algn="l">
              <a:spcAft>
                <a:spcPts val="500"/>
              </a:spcAft>
              <a:defRPr sz="1000" b="0">
                <a:solidFill>
                  <a:srgbClr val="647282"/>
                </a:solidFill>
                <a:latin typeface="Arial"/>
              </a:defRPr>
            </a:pPr>
            <a:r>
              <a:t>Local source reports: reports/rewt_architecture_20261022/FINDINGS.md and reports/rewt_reasoning_20261026/FINDINGS.md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REWT: Learning an Energy Landscape for State Refinement</dc:title>
  <dc:subject>CSCI 635, ten-minute technical class presentation, October 28, 2026</dc:subject>
  <dc:creator>Kenju Tomita</dc:creator>
  <cp:keywords>REWT, energy-based models, recurrent memory, learned reasoning, controlled experiments</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